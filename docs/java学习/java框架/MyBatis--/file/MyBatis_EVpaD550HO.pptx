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47"/>
  </p:notesMasterIdLst>
  <p:handoutMasterIdLst>
    <p:handoutMasterId r:id="rId48"/>
  </p:handoutMasterIdLst>
  <p:sldIdLst>
    <p:sldId id="462" r:id="rId8"/>
    <p:sldId id="1077" r:id="rId9"/>
    <p:sldId id="972" r:id="rId10"/>
    <p:sldId id="1004" r:id="rId11"/>
    <p:sldId id="1062" r:id="rId12"/>
    <p:sldId id="596" r:id="rId13"/>
    <p:sldId id="597" r:id="rId14"/>
    <p:sldId id="603" r:id="rId15"/>
    <p:sldId id="1079" r:id="rId16"/>
    <p:sldId id="1009" r:id="rId17"/>
    <p:sldId id="1065" r:id="rId18"/>
    <p:sldId id="1067" r:id="rId19"/>
    <p:sldId id="1080" r:id="rId20"/>
    <p:sldId id="611" r:id="rId21"/>
    <p:sldId id="612" r:id="rId22"/>
    <p:sldId id="614" r:id="rId23"/>
    <p:sldId id="1068" r:id="rId24"/>
    <p:sldId id="616" r:id="rId25"/>
    <p:sldId id="617" r:id="rId26"/>
    <p:sldId id="1069" r:id="rId27"/>
    <p:sldId id="619" r:id="rId28"/>
    <p:sldId id="620" r:id="rId29"/>
    <p:sldId id="621" r:id="rId30"/>
    <p:sldId id="623" r:id="rId31"/>
    <p:sldId id="624" r:id="rId32"/>
    <p:sldId id="628" r:id="rId33"/>
    <p:sldId id="629" r:id="rId34"/>
    <p:sldId id="1070" r:id="rId35"/>
    <p:sldId id="1082" r:id="rId36"/>
    <p:sldId id="632" r:id="rId37"/>
    <p:sldId id="633" r:id="rId38"/>
    <p:sldId id="634" r:id="rId39"/>
    <p:sldId id="635" r:id="rId40"/>
    <p:sldId id="637" r:id="rId41"/>
    <p:sldId id="638" r:id="rId42"/>
    <p:sldId id="1073" r:id="rId43"/>
    <p:sldId id="1083" r:id="rId44"/>
    <p:sldId id="631" r:id="rId45"/>
    <p:sldId id="264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919191"/>
    <a:srgbClr val="B60206"/>
    <a:srgbClr val="49504F"/>
    <a:srgbClr val="B70006"/>
    <a:srgbClr val="FFFFE4"/>
    <a:srgbClr val="333333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5244" autoAdjust="0"/>
  </p:normalViewPr>
  <p:slideViewPr>
    <p:cSldViewPr snapToGrid="0">
      <p:cViewPr varScale="1">
        <p:scale>
          <a:sx n="86" d="100"/>
          <a:sy n="86" d="100"/>
        </p:scale>
        <p:origin x="715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2021/11/3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29DDECA-DD8A-4413-8EFA-D59DFB18A071}" type="slidenum">
              <a:rPr lang="zh-CN" altLang="en-US" smtClean="0">
                <a:solidFill>
                  <a:srgbClr val="000000"/>
                </a:solidFill>
              </a:rPr>
              <a:pPr/>
              <a:t>10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29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mybatis.org/mybatis-3/zh/index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0" y="2849562"/>
            <a:ext cx="10541000" cy="1158875"/>
          </a:xfrm>
        </p:spPr>
        <p:txBody>
          <a:bodyPr/>
          <a:lstStyle/>
          <a:p>
            <a:r>
              <a:rPr kumimoji="1" lang="en-US" altLang="zh-CN" sz="6000"/>
              <a:t>MyBatis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5282" y="359764"/>
            <a:ext cx="5973761" cy="4256405"/>
          </a:xfrm>
        </p:spPr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MyBatis</a:t>
            </a:r>
            <a:r>
              <a:rPr lang="zh-CN" altLang="en-US" dirty="0">
                <a:solidFill>
                  <a:srgbClr val="C00000"/>
                </a:solidFill>
              </a:rPr>
              <a:t>介绍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快速入门 </a:t>
            </a:r>
            <a:r>
              <a:rPr lang="en-US" altLang="zh-CN" dirty="0">
                <a:solidFill>
                  <a:schemeClr val="tx1"/>
                </a:solidFill>
              </a:rPr>
              <a:t>Mapper </a:t>
            </a:r>
            <a:r>
              <a:rPr lang="zh-CN" altLang="en-US" dirty="0">
                <a:solidFill>
                  <a:schemeClr val="tx1"/>
                </a:solidFill>
              </a:rPr>
              <a:t>代理开发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核心配置文件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编写会话工具类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 err="1"/>
              <a:t>My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kumimoji="1" lang="en-US" altLang="zh-CN" dirty="0" err="1"/>
              <a:t>atis</a:t>
            </a:r>
            <a:r>
              <a:rPr kumimoji="1" lang="zh-CN" altLang="en-US" dirty="0"/>
              <a:t>映射文件配置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1413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占位符 1">
            <a:extLst>
              <a:ext uri="{FF2B5EF4-FFF2-40B4-BE49-F238E27FC236}">
                <a16:creationId xmlns:a16="http://schemas.microsoft.com/office/drawing/2014/main" id="{3327B80F-5666-4B37-8934-EA330FE74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-25399"/>
            <a:ext cx="314787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eaLnBrk="0" hangingPunct="0">
              <a:defRPr/>
            </a:pPr>
            <a:r>
              <a:rPr lang="en-US" altLang="zh-CN" sz="2400" b="1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MyBatis</a:t>
            </a:r>
            <a:r>
              <a:rPr lang="zh-CN" altLang="en-US" sz="2800" b="1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TW" altLang="zh-CN" sz="2800" b="1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4EF1BC7A-F89C-42F7-939B-710606C6C2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MyBatis</a:t>
            </a:r>
            <a:r>
              <a:rPr lang="zh-CN" altLang="en-US"/>
              <a:t>？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037BEF0B-E4A2-42A5-8ABA-4A252519AD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420421"/>
            <a:ext cx="8841494" cy="1751702"/>
          </a:xfrm>
        </p:spPr>
        <p:txBody>
          <a:bodyPr/>
          <a:lstStyle/>
          <a:p>
            <a:r>
              <a:rPr lang="en-US" altLang="zh-CN"/>
              <a:t>MyBatis </a:t>
            </a:r>
            <a:r>
              <a:rPr lang="zh-CN" altLang="en-US"/>
              <a:t>是一款优秀的</a:t>
            </a:r>
            <a:r>
              <a:rPr lang="zh-CN" altLang="en-US">
                <a:solidFill>
                  <a:schemeClr val="accent1"/>
                </a:solidFill>
              </a:rPr>
              <a:t>持久层</a:t>
            </a:r>
            <a:r>
              <a:rPr lang="zh-CN" altLang="en-US">
                <a:solidFill>
                  <a:srgbClr val="C00000"/>
                </a:solidFill>
              </a:rPr>
              <a:t>框架</a:t>
            </a:r>
            <a:r>
              <a:rPr lang="zh-CN" altLang="en-US"/>
              <a:t>，用于简化 </a:t>
            </a:r>
            <a:r>
              <a:rPr lang="en-US" altLang="zh-CN"/>
              <a:t>JDBC </a:t>
            </a:r>
            <a:r>
              <a:rPr lang="zh-CN" altLang="en-US"/>
              <a:t>开发</a:t>
            </a:r>
            <a:endParaRPr lang="en-US" altLang="zh-CN"/>
          </a:p>
          <a:p>
            <a:r>
              <a:rPr lang="en-US" altLang="zh-CN"/>
              <a:t>MyBatis </a:t>
            </a:r>
            <a:r>
              <a:rPr lang="zh-CN" altLang="en-US"/>
              <a:t>本是 </a:t>
            </a:r>
            <a:r>
              <a:rPr lang="en-US" altLang="zh-CN"/>
              <a:t>Apache </a:t>
            </a:r>
            <a:r>
              <a:rPr lang="zh-CN" altLang="en-US"/>
              <a:t>的一个开源项目</a:t>
            </a:r>
            <a:r>
              <a:rPr lang="en-US" altLang="zh-CN"/>
              <a:t>iBatis, 2010</a:t>
            </a:r>
            <a:r>
              <a:rPr lang="zh-CN" altLang="en-US"/>
              <a:t>年这个项目由</a:t>
            </a:r>
            <a:r>
              <a:rPr lang="en-US" altLang="zh-CN"/>
              <a:t>apache software foundation </a:t>
            </a:r>
            <a:r>
              <a:rPr lang="zh-CN" altLang="en-US"/>
              <a:t>迁移到了</a:t>
            </a:r>
            <a:r>
              <a:rPr lang="en-US" altLang="zh-CN"/>
              <a:t>google code</a:t>
            </a:r>
            <a:r>
              <a:rPr lang="zh-CN" altLang="en-US"/>
              <a:t>，并且改名为</a:t>
            </a:r>
            <a:r>
              <a:rPr lang="en-US" altLang="zh-CN"/>
              <a:t>MyBatis </a:t>
            </a:r>
            <a:r>
              <a:rPr lang="zh-CN" altLang="en-US"/>
              <a:t>。</a:t>
            </a:r>
            <a:r>
              <a:rPr lang="en-US" altLang="zh-CN"/>
              <a:t>2013</a:t>
            </a:r>
            <a:r>
              <a:rPr lang="zh-CN" altLang="en-US"/>
              <a:t>年</a:t>
            </a:r>
            <a:r>
              <a:rPr lang="en-US" altLang="zh-CN"/>
              <a:t>11</a:t>
            </a:r>
            <a:r>
              <a:rPr lang="zh-CN" altLang="en-US"/>
              <a:t>月迁移到</a:t>
            </a:r>
            <a:r>
              <a:rPr lang="en-US" altLang="zh-CN"/>
              <a:t>Github</a:t>
            </a:r>
          </a:p>
          <a:p>
            <a:r>
              <a:rPr lang="zh-CN" altLang="en-US"/>
              <a:t>官网：</a:t>
            </a:r>
            <a:r>
              <a:rPr lang="en-US" altLang="zh-CN">
                <a:hlinkClick r:id="rId2"/>
              </a:rPr>
              <a:t>https://mybatis.org/mybatis-3/zh/index.html</a:t>
            </a:r>
            <a:r>
              <a:rPr lang="en-US" altLang="zh-CN"/>
              <a:t> </a:t>
            </a:r>
          </a:p>
        </p:txBody>
      </p:sp>
      <p:sp>
        <p:nvSpPr>
          <p:cNvPr id="43" name="文本占位符 15">
            <a:extLst>
              <a:ext uri="{FF2B5EF4-FFF2-40B4-BE49-F238E27FC236}">
                <a16:creationId xmlns:a16="http://schemas.microsoft.com/office/drawing/2014/main" id="{58BB20F6-B7AF-4C1D-A15B-D59AD8C41D42}"/>
              </a:ext>
            </a:extLst>
          </p:cNvPr>
          <p:cNvSpPr txBox="1">
            <a:spLocks/>
          </p:cNvSpPr>
          <p:nvPr/>
        </p:nvSpPr>
        <p:spPr>
          <a:xfrm>
            <a:off x="710878" y="3536110"/>
            <a:ext cx="418959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持久层</a:t>
            </a:r>
          </a:p>
        </p:txBody>
      </p:sp>
      <p:sp>
        <p:nvSpPr>
          <p:cNvPr id="44" name="文本占位符 16">
            <a:extLst>
              <a:ext uri="{FF2B5EF4-FFF2-40B4-BE49-F238E27FC236}">
                <a16:creationId xmlns:a16="http://schemas.microsoft.com/office/drawing/2014/main" id="{F9BB1FBA-4DDB-43C6-A0A7-E6BFA59349D7}"/>
              </a:ext>
            </a:extLst>
          </p:cNvPr>
          <p:cNvSpPr txBox="1">
            <a:spLocks/>
          </p:cNvSpPr>
          <p:nvPr/>
        </p:nvSpPr>
        <p:spPr>
          <a:xfrm>
            <a:off x="721971" y="4082062"/>
            <a:ext cx="6815171" cy="114250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负责将数据到保存到数据库的那一层代码</a:t>
            </a:r>
            <a:endParaRPr lang="en-US" altLang="zh-CN"/>
          </a:p>
          <a:p>
            <a:r>
              <a:rPr lang="en-US" altLang="zh-CN"/>
              <a:t>JavaEE</a:t>
            </a:r>
            <a:r>
              <a:rPr lang="zh-CN" altLang="en-US"/>
              <a:t>三层架构：表现层、业务层、</a:t>
            </a:r>
            <a:r>
              <a:rPr lang="zh-CN" altLang="en-US">
                <a:solidFill>
                  <a:srgbClr val="C00000"/>
                </a:solidFill>
              </a:rPr>
              <a:t>持久层</a:t>
            </a:r>
          </a:p>
        </p:txBody>
      </p:sp>
      <p:sp>
        <p:nvSpPr>
          <p:cNvPr id="45" name="文本占位符 15">
            <a:extLst>
              <a:ext uri="{FF2B5EF4-FFF2-40B4-BE49-F238E27FC236}">
                <a16:creationId xmlns:a16="http://schemas.microsoft.com/office/drawing/2014/main" id="{80805620-B320-4C31-99CC-852ABDDDEA10}"/>
              </a:ext>
            </a:extLst>
          </p:cNvPr>
          <p:cNvSpPr txBox="1">
            <a:spLocks/>
          </p:cNvSpPr>
          <p:nvPr/>
        </p:nvSpPr>
        <p:spPr>
          <a:xfrm>
            <a:off x="710879" y="4938381"/>
            <a:ext cx="5814207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框架</a:t>
            </a:r>
          </a:p>
        </p:txBody>
      </p:sp>
      <p:sp>
        <p:nvSpPr>
          <p:cNvPr id="46" name="文本占位符 16">
            <a:extLst>
              <a:ext uri="{FF2B5EF4-FFF2-40B4-BE49-F238E27FC236}">
                <a16:creationId xmlns:a16="http://schemas.microsoft.com/office/drawing/2014/main" id="{C474A90C-1E38-4707-A9A8-26039833C1D8}"/>
              </a:ext>
            </a:extLst>
          </p:cNvPr>
          <p:cNvSpPr txBox="1">
            <a:spLocks/>
          </p:cNvSpPr>
          <p:nvPr/>
        </p:nvSpPr>
        <p:spPr>
          <a:xfrm>
            <a:off x="721972" y="5455571"/>
            <a:ext cx="7196910" cy="114250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框架就是一个半成品软件，</a:t>
            </a:r>
            <a:r>
              <a:rPr lang="zh-CN" altLang="en-US" b="0" i="0">
                <a:solidFill>
                  <a:srgbClr val="333333"/>
                </a:solidFill>
                <a:effectLst/>
                <a:latin typeface="PingFang SC"/>
              </a:rPr>
              <a:t>是一套可重用的、通用的、软件基础代码模型</a:t>
            </a:r>
            <a:endParaRPr lang="en-US" altLang="zh-CN"/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PingFang SC"/>
              </a:rPr>
              <a:t>在框架的基础之上构建软件编写更加高效、规范、通用、可扩展</a:t>
            </a:r>
            <a:endParaRPr lang="en-US" altLang="zh-CN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19157E8-B2F1-412F-9439-343033643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765" y="2990866"/>
            <a:ext cx="1215888" cy="24371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5472414-07C2-4AC5-BD89-7FCCCB8BB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389" y="2955301"/>
            <a:ext cx="1264690" cy="25184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6631496C-CA5B-4847-B260-D1788716C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815" y="2855153"/>
            <a:ext cx="1335998" cy="26335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336213DF-F24F-4479-BAB7-36A9B85A8C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114" y="796429"/>
            <a:ext cx="5629275" cy="42862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DB8E0BB-4376-442B-9CDB-5E737E8CBE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5675" y="603180"/>
            <a:ext cx="9182100" cy="539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1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占位符 1">
            <a:extLst>
              <a:ext uri="{FF2B5EF4-FFF2-40B4-BE49-F238E27FC236}">
                <a16:creationId xmlns:a16="http://schemas.microsoft.com/office/drawing/2014/main" id="{3327B80F-5666-4B37-8934-EA330FE74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-25399"/>
            <a:ext cx="314787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eaLnBrk="0" hangingPunct="0">
              <a:defRPr/>
            </a:pPr>
            <a:r>
              <a:rPr lang="en-US" altLang="zh-CN" sz="2400" b="1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MyBatis</a:t>
            </a:r>
            <a:r>
              <a:rPr lang="zh-CN" altLang="en-US" sz="2800" b="1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TW" altLang="zh-CN" sz="2800" b="1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A5C852-D9CE-417F-970E-9BB100F79F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46133"/>
            <a:ext cx="2644880" cy="4219575"/>
          </a:xfrm>
        </p:spPr>
        <p:txBody>
          <a:bodyPr/>
          <a:lstStyle/>
          <a:p>
            <a:r>
              <a:rPr lang="zh-CN" altLang="en-US"/>
              <a:t>硬编码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/>
              <a:t>注册驱动，获取连接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/>
              <a:t>SQL </a:t>
            </a:r>
            <a:r>
              <a:rPr lang="zh-CN" altLang="en-US"/>
              <a:t>语句</a:t>
            </a:r>
            <a:endParaRPr lang="en-US" altLang="zh-CN"/>
          </a:p>
          <a:p>
            <a:r>
              <a:rPr lang="zh-CN" altLang="en-US"/>
              <a:t>操作繁琐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/>
              <a:t>手动设置参数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/>
              <a:t>手动封装结果集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D8997B-D038-4A37-929E-7D8CA7BA85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881" y="940081"/>
            <a:ext cx="2467325" cy="517190"/>
          </a:xfrm>
        </p:spPr>
        <p:txBody>
          <a:bodyPr/>
          <a:lstStyle/>
          <a:p>
            <a:r>
              <a:rPr lang="en-US" altLang="zh-CN"/>
              <a:t>JDBC </a:t>
            </a:r>
            <a:r>
              <a:rPr lang="zh-CN" altLang="en-US"/>
              <a:t>缺点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3704BEC8-5CA2-495A-8F9B-5215640BC3AC}"/>
              </a:ext>
            </a:extLst>
          </p:cNvPr>
          <p:cNvSpPr txBox="1"/>
          <p:nvPr/>
        </p:nvSpPr>
        <p:spPr>
          <a:xfrm>
            <a:off x="4989604" y="792865"/>
            <a:ext cx="4601241" cy="574772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//1. 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注册驱动</a:t>
            </a:r>
            <a:b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Class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</a:t>
            </a:r>
            <a:r>
              <a:rPr lang="zh-CN" altLang="zh-CN" sz="1050" i="1">
                <a:solidFill>
                  <a:srgbClr val="080808"/>
                </a:solidFill>
                <a:latin typeface="Arial Unicode MS"/>
                <a:ea typeface="JetBrains Mono"/>
              </a:rPr>
              <a:t>forName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“com.mysql.jdbc.Driver”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//2. 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</a:t>
            </a: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Connection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  <a:b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String url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“jdbc:mysql:///db1?useSSL=false”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String uname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“root”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String pwd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“1234”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Connection conn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DriverManager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</a:t>
            </a:r>
            <a:r>
              <a:rPr lang="zh-CN" altLang="zh-CN" sz="1050" i="1">
                <a:solidFill>
                  <a:srgbClr val="080808"/>
                </a:solidFill>
                <a:latin typeface="Arial Unicode MS"/>
                <a:ea typeface="JetBrains Mono"/>
              </a:rPr>
              <a:t>getConnection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url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uname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pwd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接收输入的查询条件</a:t>
            </a:r>
            <a:b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String gender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“</a:t>
            </a:r>
            <a:r>
              <a:rPr lang="zh-CN" altLang="zh-CN" sz="1050">
                <a:solidFill>
                  <a:srgbClr val="067D1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男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”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sql</a:t>
            </a:r>
            <a:b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String sql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“select </a:t>
            </a:r>
            <a:r>
              <a:rPr lang="zh-CN" altLang="zh-CN" sz="1050" i="1">
                <a:solidFill>
                  <a:srgbClr val="067D17"/>
                </a:solidFill>
                <a:latin typeface="Arial Unicode MS"/>
                <a:ea typeface="JetBrains Mono"/>
              </a:rPr>
              <a:t>*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 from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tb_user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 where </a:t>
            </a:r>
            <a:r>
              <a:rPr lang="zh-CN" altLang="zh-CN" sz="1050">
                <a:solidFill>
                  <a:srgbClr val="871094"/>
                </a:solidFill>
                <a:latin typeface="Arial Unicode MS"/>
                <a:ea typeface="JetBrains Mono"/>
              </a:rPr>
              <a:t>gender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 = ?”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</a:t>
            </a: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pstmt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  <a:b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PreparedStatement pstmt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conn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.prepareStatement(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sql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设置？的值</a:t>
            </a:r>
            <a:b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pstmt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.setString(</a:t>
            </a:r>
            <a:r>
              <a:rPr lang="zh-CN" altLang="zh-CN" sz="1050">
                <a:solidFill>
                  <a:srgbClr val="1750EB"/>
                </a:solidFill>
                <a:latin typeface="Arial Unicode MS"/>
                <a:ea typeface="JetBrains Mono"/>
              </a:rPr>
              <a:t>1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,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gender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</a:t>
            </a: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sql</a:t>
            </a:r>
            <a:b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ResultSet rs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pstmt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.executeQuery();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遍历</a:t>
            </a: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Result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，获取数据</a:t>
            </a:r>
            <a:b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User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user = </a:t>
            </a:r>
            <a:r>
              <a:rPr lang="zh-CN" altLang="zh-CN" sz="1050">
                <a:solidFill>
                  <a:srgbClr val="0033B3"/>
                </a:solidFill>
                <a:latin typeface="Arial Unicode MS"/>
                <a:ea typeface="JetBrains Mono"/>
              </a:rPr>
              <a:t>null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ArrayList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User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&gt;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users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033B3"/>
                </a:solidFill>
                <a:latin typeface="Arial Unicode MS"/>
                <a:ea typeface="JetBrains Mono"/>
              </a:rPr>
              <a:t>new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ArrayList&lt;&gt;();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033B3"/>
                </a:solidFill>
                <a:latin typeface="Arial Unicode MS"/>
                <a:ea typeface="JetBrains Mono"/>
              </a:rPr>
              <a:t>while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rs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.next()){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获取数据</a:t>
            </a:r>
            <a:b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1050">
                <a:solidFill>
                  <a:srgbClr val="0033B3"/>
                </a:solidFill>
                <a:latin typeface="Arial Unicode MS"/>
                <a:ea typeface="JetBrains Mono"/>
              </a:rPr>
              <a:t>int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id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rs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.getInt(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“id”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String username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rs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.getString(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“username”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String password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rs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.getString(</a:t>
            </a:r>
            <a:r>
              <a:rPr lang="zh-CN" altLang="zh-CN" sz="1050">
                <a:solidFill>
                  <a:srgbClr val="067D17"/>
                </a:solidFill>
                <a:latin typeface="Arial Unicode MS"/>
                <a:ea typeface="JetBrains Mono"/>
              </a:rPr>
              <a:t>“password”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en-US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创建对象，设置</a:t>
            </a:r>
            <a:r>
              <a:rPr lang="zh-CN" altLang="en-US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属性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b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user = </a:t>
            </a:r>
            <a:r>
              <a:rPr lang="zh-CN" altLang="zh-CN" sz="1050">
                <a:solidFill>
                  <a:srgbClr val="0033B3"/>
                </a:solidFill>
                <a:latin typeface="Arial Unicode MS"/>
                <a:ea typeface="JetBrains Mono"/>
              </a:rPr>
              <a:t>new 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User();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    user.setId(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    user.setUsername(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username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    user.setPassword(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password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    user.setGender(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gender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1050" i="1">
                <a:solidFill>
                  <a:srgbClr val="8C8C8C"/>
                </a:solidFill>
                <a:latin typeface="Arial Unicode MS"/>
                <a:ea typeface="JetBrains Mono"/>
              </a:rPr>
              <a:t>//</a:t>
            </a: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装入集合</a:t>
            </a:r>
            <a:b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zh-CN" sz="1050">
                <a:solidFill>
                  <a:srgbClr val="000000"/>
                </a:solidFill>
                <a:latin typeface="Arial Unicode MS"/>
                <a:ea typeface="JetBrains Mono"/>
              </a:rPr>
              <a:t>users</a:t>
            </a: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.add(user);</a:t>
            </a:r>
            <a:b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1050">
                <a:solidFill>
                  <a:srgbClr val="080808"/>
                </a:solidFill>
                <a:latin typeface="Arial Unicode MS"/>
                <a:ea typeface="JetBrains Mono"/>
              </a:rPr>
              <a:t>}</a:t>
            </a:r>
            <a:endParaRPr lang="zh-CN" altLang="zh-CN" sz="1400"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A08D462-86B4-4F91-81F5-D49ECC060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A4766B6-6D96-4AD0-A8FE-92C7324C16A9}"/>
              </a:ext>
            </a:extLst>
          </p:cNvPr>
          <p:cNvSpPr/>
          <p:nvPr/>
        </p:nvSpPr>
        <p:spPr>
          <a:xfrm>
            <a:off x="4741029" y="730721"/>
            <a:ext cx="5086552" cy="1222366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5A6D35D-1BD2-4ED6-9433-8553741DBBCA}"/>
              </a:ext>
            </a:extLst>
          </p:cNvPr>
          <p:cNvSpPr/>
          <p:nvPr/>
        </p:nvSpPr>
        <p:spPr>
          <a:xfrm>
            <a:off x="4741029" y="2128299"/>
            <a:ext cx="5086552" cy="508369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3E1AE68-2085-444B-88BE-E1DEFE626651}"/>
              </a:ext>
            </a:extLst>
          </p:cNvPr>
          <p:cNvSpPr/>
          <p:nvPr/>
        </p:nvSpPr>
        <p:spPr>
          <a:xfrm>
            <a:off x="4741029" y="2698812"/>
            <a:ext cx="5086552" cy="700409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3C02629-810A-4DA3-BD36-6D13AF035731}"/>
              </a:ext>
            </a:extLst>
          </p:cNvPr>
          <p:cNvSpPr/>
          <p:nvPr/>
        </p:nvSpPr>
        <p:spPr>
          <a:xfrm>
            <a:off x="4741029" y="3712963"/>
            <a:ext cx="5086552" cy="2749981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FBC9374-0483-4A96-8B29-77C9332A7D20}"/>
              </a:ext>
            </a:extLst>
          </p:cNvPr>
          <p:cNvCxnSpPr>
            <a:stCxn id="9" idx="1"/>
          </p:cNvCxnSpPr>
          <p:nvPr/>
        </p:nvCxnSpPr>
        <p:spPr>
          <a:xfrm flipH="1">
            <a:off x="3249227" y="1341904"/>
            <a:ext cx="1491802" cy="904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938E88C-6B74-4C42-B6AB-15637FF75BCB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2412137" y="2382484"/>
            <a:ext cx="2328892" cy="212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732A9BD-8095-4CD9-B066-72BFFE6EB1F2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2681056" y="3049017"/>
            <a:ext cx="2059973" cy="379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EF61819-E9F2-41AF-A30E-1E88BD6C5FA6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2885243" y="3779205"/>
            <a:ext cx="1855786" cy="1308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90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8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占位符 1">
            <a:extLst>
              <a:ext uri="{FF2B5EF4-FFF2-40B4-BE49-F238E27FC236}">
                <a16:creationId xmlns:a16="http://schemas.microsoft.com/office/drawing/2014/main" id="{3327B80F-5666-4B37-8934-EA330FE74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-25399"/>
            <a:ext cx="314787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eaLnBrk="0" hangingPunct="0">
              <a:defRPr/>
            </a:pPr>
            <a:r>
              <a:rPr lang="en-US" altLang="zh-CN" sz="2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MyBatis</a:t>
            </a:r>
            <a:r>
              <a:rPr lang="zh-CN" altLang="en-US" sz="28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TW" altLang="zh-CN" sz="28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A5C852-D9CE-417F-970E-9BB100F79F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79" y="1646133"/>
            <a:ext cx="2644880" cy="2629821"/>
          </a:xfrm>
        </p:spPr>
        <p:txBody>
          <a:bodyPr/>
          <a:lstStyle/>
          <a:p>
            <a:r>
              <a:rPr lang="zh-CN" altLang="en-US"/>
              <a:t>硬编码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/>
              <a:t>注册驱动，获取连接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/>
              <a:t>SQL </a:t>
            </a:r>
            <a:r>
              <a:rPr lang="zh-CN" altLang="en-US"/>
              <a:t>语句</a:t>
            </a:r>
            <a:endParaRPr lang="en-US" altLang="zh-CN"/>
          </a:p>
          <a:p>
            <a:r>
              <a:rPr lang="zh-CN" altLang="en-US"/>
              <a:t>操作繁琐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/>
              <a:t>手动设置参数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/>
              <a:t>手动封装结果集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D8997B-D038-4A37-929E-7D8CA7BA85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881" y="940081"/>
            <a:ext cx="2467325" cy="517190"/>
          </a:xfrm>
        </p:spPr>
        <p:txBody>
          <a:bodyPr/>
          <a:lstStyle/>
          <a:p>
            <a:r>
              <a:rPr lang="en-US" altLang="zh-CN"/>
              <a:t>MyBatis </a:t>
            </a:r>
            <a:r>
              <a:rPr lang="zh-CN" altLang="en-US"/>
              <a:t>简化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3704BEC8-5CA2-495A-8F9B-5215640BC3AC}"/>
              </a:ext>
            </a:extLst>
          </p:cNvPr>
          <p:cNvSpPr txBox="1"/>
          <p:nvPr/>
        </p:nvSpPr>
        <p:spPr>
          <a:xfrm>
            <a:off x="3483079" y="1054101"/>
            <a:ext cx="3548020" cy="44012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//1. 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注册驱动</a:t>
            </a:r>
            <a:b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Class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</a:t>
            </a:r>
            <a:r>
              <a:rPr lang="zh-CN" altLang="zh-CN" sz="800" i="1">
                <a:solidFill>
                  <a:srgbClr val="080808"/>
                </a:solidFill>
                <a:latin typeface="Arial Unicode MS"/>
                <a:ea typeface="JetBrains Mono"/>
              </a:rPr>
              <a:t>forName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“com.mysql.jdbc.Driver”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//2. 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</a:t>
            </a: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Connection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  <a:b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String url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“jdbc:mysql:///db1?useSSL=false”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String uname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“root”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String pwd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“1234”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Connection conn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DriverManager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</a:t>
            </a:r>
            <a:r>
              <a:rPr lang="zh-CN" altLang="zh-CN" sz="800" i="1">
                <a:solidFill>
                  <a:srgbClr val="080808"/>
                </a:solidFill>
                <a:latin typeface="Arial Unicode MS"/>
                <a:ea typeface="JetBrains Mono"/>
              </a:rPr>
              <a:t>getConnection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url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uname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,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pwd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接收输入的查询条件</a:t>
            </a:r>
            <a:b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String gender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“</a:t>
            </a:r>
            <a:r>
              <a:rPr lang="zh-CN" altLang="zh-CN" sz="800">
                <a:solidFill>
                  <a:srgbClr val="067D1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男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”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sql</a:t>
            </a:r>
            <a:b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String sql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“select </a:t>
            </a:r>
            <a:r>
              <a:rPr lang="zh-CN" altLang="zh-CN" sz="800" i="1">
                <a:solidFill>
                  <a:srgbClr val="067D17"/>
                </a:solidFill>
                <a:latin typeface="Arial Unicode MS"/>
                <a:ea typeface="JetBrains Mono"/>
              </a:rPr>
              <a:t>*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 from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tb_user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 where </a:t>
            </a:r>
            <a:r>
              <a:rPr lang="zh-CN" altLang="zh-CN" sz="800">
                <a:solidFill>
                  <a:srgbClr val="871094"/>
                </a:solidFill>
                <a:latin typeface="Arial Unicode MS"/>
                <a:ea typeface="JetBrains Mono"/>
              </a:rPr>
              <a:t>gender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 = ?”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</a:t>
            </a: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pstmt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  <a:b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PreparedStatement pstmt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conn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.prepareStatement(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sql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设置？的值</a:t>
            </a:r>
            <a:b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pstmt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.setString(</a:t>
            </a:r>
            <a:r>
              <a:rPr lang="zh-CN" altLang="zh-CN" sz="800">
                <a:solidFill>
                  <a:srgbClr val="1750EB"/>
                </a:solidFill>
                <a:latin typeface="Arial Unicode MS"/>
                <a:ea typeface="JetBrains Mono"/>
              </a:rPr>
              <a:t>1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,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gender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</a:t>
            </a: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sql</a:t>
            </a:r>
            <a:b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ResultSet rs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pstmt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.executeQuery();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 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遍历</a:t>
            </a: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Result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，获取数据</a:t>
            </a:r>
            <a:b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User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user = </a:t>
            </a:r>
            <a:r>
              <a:rPr lang="zh-CN" altLang="zh-CN" sz="800">
                <a:solidFill>
                  <a:srgbClr val="0033B3"/>
                </a:solidFill>
                <a:latin typeface="Arial Unicode MS"/>
                <a:ea typeface="JetBrains Mono"/>
              </a:rPr>
              <a:t>null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ArrayList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&lt;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User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&gt;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users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033B3"/>
                </a:solidFill>
                <a:latin typeface="Arial Unicode MS"/>
                <a:ea typeface="JetBrains Mono"/>
              </a:rPr>
              <a:t>new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ArrayList&lt;&gt;();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033B3"/>
                </a:solidFill>
                <a:latin typeface="Arial Unicode MS"/>
                <a:ea typeface="JetBrains Mono"/>
              </a:rPr>
              <a:t>while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(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rs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.next()){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获取数据</a:t>
            </a:r>
            <a:b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800">
                <a:solidFill>
                  <a:srgbClr val="0033B3"/>
                </a:solidFill>
                <a:latin typeface="Arial Unicode MS"/>
                <a:ea typeface="JetBrains Mono"/>
              </a:rPr>
              <a:t>int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id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rs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.getInt(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“id”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String username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rs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.getString(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“username”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String password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rs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.getString(</a:t>
            </a:r>
            <a:r>
              <a:rPr lang="zh-CN" altLang="zh-CN" sz="800">
                <a:solidFill>
                  <a:srgbClr val="067D17"/>
                </a:solidFill>
                <a:latin typeface="Arial Unicode MS"/>
                <a:ea typeface="JetBrains Mono"/>
              </a:rPr>
              <a:t>“password”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创建对象，设置</a:t>
            </a:r>
            <a:r>
              <a:rPr lang="zh-CN" altLang="en-US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属性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b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user = </a:t>
            </a:r>
            <a:r>
              <a:rPr lang="zh-CN" altLang="zh-CN" sz="800">
                <a:solidFill>
                  <a:srgbClr val="0033B3"/>
                </a:solidFill>
                <a:latin typeface="Arial Unicode MS"/>
                <a:ea typeface="JetBrains Mono"/>
              </a:rPr>
              <a:t>new 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User();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    user.setId(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id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    user.setUsername(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username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    user.setPassword(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password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    user.setGender(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gender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lang="zh-CN" altLang="zh-CN" sz="800" i="1">
                <a:solidFill>
                  <a:srgbClr val="8C8C8C"/>
                </a:solidFill>
                <a:latin typeface="Arial Unicode MS"/>
                <a:ea typeface="JetBrains Mono"/>
              </a:rPr>
              <a:t>//</a:t>
            </a: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装入集合</a:t>
            </a:r>
            <a:b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800" i="1">
                <a:solidFill>
                  <a:srgbClr val="8C8C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zh-CN" sz="800">
                <a:solidFill>
                  <a:srgbClr val="000000"/>
                </a:solidFill>
                <a:latin typeface="Arial Unicode MS"/>
                <a:ea typeface="JetBrains Mono"/>
              </a:rPr>
              <a:t>users</a:t>
            </a: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.add(user);</a:t>
            </a:r>
            <a:b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</a:br>
            <a:r>
              <a:rPr lang="zh-CN" altLang="zh-CN" sz="800">
                <a:solidFill>
                  <a:srgbClr val="080808"/>
                </a:solidFill>
                <a:latin typeface="Arial Unicode MS"/>
                <a:ea typeface="JetBrains Mono"/>
              </a:rPr>
              <a:t>}</a:t>
            </a:r>
            <a:endParaRPr lang="zh-CN" altLang="zh-CN" sz="1050"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A08D462-86B4-4F91-81F5-D49ECC060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A4766B6-6D96-4AD0-A8FE-92C7324C16A9}"/>
              </a:ext>
            </a:extLst>
          </p:cNvPr>
          <p:cNvSpPr/>
          <p:nvPr/>
        </p:nvSpPr>
        <p:spPr>
          <a:xfrm>
            <a:off x="3489278" y="1204070"/>
            <a:ext cx="3541821" cy="754765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5A6D35D-1BD2-4ED6-9433-8553741DBBCA}"/>
              </a:ext>
            </a:extLst>
          </p:cNvPr>
          <p:cNvSpPr/>
          <p:nvPr/>
        </p:nvSpPr>
        <p:spPr>
          <a:xfrm>
            <a:off x="3483079" y="2041379"/>
            <a:ext cx="3541821" cy="433326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3E1AE68-2085-444B-88BE-E1DEFE626651}"/>
              </a:ext>
            </a:extLst>
          </p:cNvPr>
          <p:cNvSpPr/>
          <p:nvPr/>
        </p:nvSpPr>
        <p:spPr>
          <a:xfrm>
            <a:off x="3483079" y="2695530"/>
            <a:ext cx="3541821" cy="379984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3C02629-810A-4DA3-BD36-6D13AF035731}"/>
              </a:ext>
            </a:extLst>
          </p:cNvPr>
          <p:cNvSpPr/>
          <p:nvPr/>
        </p:nvSpPr>
        <p:spPr>
          <a:xfrm>
            <a:off x="3483078" y="3204000"/>
            <a:ext cx="3541821" cy="2143909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FBC9374-0483-4A96-8B29-77C9332A7D20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885244" y="1581453"/>
            <a:ext cx="604034" cy="543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938E88C-6B74-4C42-B6AB-15637FF75BCB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2432483" y="2258042"/>
            <a:ext cx="1050596" cy="379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732A9BD-8095-4CD9-B066-72BFFE6EB1F2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2752079" y="2885522"/>
            <a:ext cx="731000" cy="526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EF61819-E9F2-41AF-A30E-1E88BD6C5FA6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2885244" y="3895971"/>
            <a:ext cx="597834" cy="37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AD1DC066-4E21-44FB-A4A2-2FA7C7BBE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934" y="986105"/>
            <a:ext cx="4157338" cy="11906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A690287D-0E7A-4722-9950-2275373F5478}"/>
              </a:ext>
            </a:extLst>
          </p:cNvPr>
          <p:cNvSpPr txBox="1"/>
          <p:nvPr/>
        </p:nvSpPr>
        <p:spPr>
          <a:xfrm>
            <a:off x="7530378" y="4754730"/>
            <a:ext cx="3548020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C00000"/>
                </a:solidFill>
                <a:latin typeface="阿里巴巴普惠体" panose="00020600040101010101"/>
                <a:ea typeface="Alibaba PuHuiTi B"/>
              </a:rPr>
              <a:t>MyBatis </a:t>
            </a:r>
            <a:r>
              <a:rPr lang="zh-CN" altLang="en-US" sz="1400">
                <a:solidFill>
                  <a:srgbClr val="C00000"/>
                </a:solidFill>
                <a:latin typeface="阿里巴巴普惠体" panose="00020600040101010101"/>
                <a:ea typeface="Alibaba PuHuiTi B"/>
              </a:rPr>
              <a:t>免除了几乎所有的 </a:t>
            </a:r>
            <a:r>
              <a:rPr lang="en-US" altLang="zh-CN" sz="1400">
                <a:solidFill>
                  <a:srgbClr val="C00000"/>
                </a:solidFill>
                <a:latin typeface="阿里巴巴普惠体" panose="00020600040101010101"/>
                <a:ea typeface="Alibaba PuHuiTi B"/>
              </a:rPr>
              <a:t>JDBC </a:t>
            </a:r>
            <a:r>
              <a:rPr lang="zh-CN" altLang="en-US" sz="1400">
                <a:solidFill>
                  <a:srgbClr val="C00000"/>
                </a:solidFill>
                <a:latin typeface="阿里巴巴普惠体" panose="00020600040101010101"/>
                <a:ea typeface="Alibaba PuHuiTi B"/>
              </a:rPr>
              <a:t>代码</a:t>
            </a:r>
            <a:endParaRPr lang="en-US" altLang="zh-CN" sz="1400">
              <a:solidFill>
                <a:srgbClr val="C00000"/>
              </a:solidFill>
              <a:latin typeface="阿里巴巴普惠体" panose="00020600040101010101"/>
              <a:ea typeface="Alibaba PuHuiTi B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/>
                <a:ea typeface="Alibaba PuHuiTi B"/>
              </a:rPr>
              <a:t>以及设置参数和获取结果集的工作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2908E32-3C6E-45E1-986A-21BF34136A12}"/>
              </a:ext>
            </a:extLst>
          </p:cNvPr>
          <p:cNvCxnSpPr>
            <a:cxnSpLocks/>
            <a:stCxn id="9" idx="3"/>
            <a:endCxn id="31" idx="1"/>
          </p:cNvCxnSpPr>
          <p:nvPr/>
        </p:nvCxnSpPr>
        <p:spPr>
          <a:xfrm flipV="1">
            <a:off x="7031099" y="1581452"/>
            <a:ext cx="5978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E360C5F-777F-4F9F-86EF-F7D03E0FAFF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024899" y="2258043"/>
            <a:ext cx="604034" cy="422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72C085B-B38A-4952-A8A0-8E52A0C3168A}"/>
              </a:ext>
            </a:extLst>
          </p:cNvPr>
          <p:cNvCxnSpPr>
            <a:cxnSpLocks/>
            <a:stCxn id="30" idx="3"/>
            <a:endCxn id="10" idx="1"/>
          </p:cNvCxnSpPr>
          <p:nvPr/>
        </p:nvCxnSpPr>
        <p:spPr>
          <a:xfrm flipV="1">
            <a:off x="7024899" y="4275954"/>
            <a:ext cx="48791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9" name="图片 48">
            <a:extLst>
              <a:ext uri="{FF2B5EF4-FFF2-40B4-BE49-F238E27FC236}">
                <a16:creationId xmlns:a16="http://schemas.microsoft.com/office/drawing/2014/main" id="{303E40EB-4E20-402B-8647-653BBFAF2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602" y="4310753"/>
            <a:ext cx="5828368" cy="21817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EB1E532-F174-4FB2-803E-5E234DE95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933" y="2474705"/>
            <a:ext cx="4496959" cy="4108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E8129C1-4B10-4616-8084-F4653489C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2815" y="4152019"/>
            <a:ext cx="4613077" cy="2478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2D245952-8CFC-4466-ABC9-ACCD04BB2C66}"/>
              </a:ext>
            </a:extLst>
          </p:cNvPr>
          <p:cNvSpPr/>
          <p:nvPr/>
        </p:nvSpPr>
        <p:spPr>
          <a:xfrm>
            <a:off x="1857983" y="1799617"/>
            <a:ext cx="165370" cy="219964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0854F76-16B1-4C72-80ED-287BC4647764}"/>
              </a:ext>
            </a:extLst>
          </p:cNvPr>
          <p:cNvSpPr txBox="1"/>
          <p:nvPr/>
        </p:nvSpPr>
        <p:spPr>
          <a:xfrm>
            <a:off x="2024503" y="1710078"/>
            <a:ext cx="970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/>
                <a:ea typeface="Alibaba PuHuiTi B"/>
              </a:rPr>
              <a:t>配置文件</a:t>
            </a: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756E8552-945D-45A1-8083-BDB2E42D0E6D}"/>
              </a:ext>
            </a:extLst>
          </p:cNvPr>
          <p:cNvSpPr/>
          <p:nvPr/>
        </p:nvSpPr>
        <p:spPr>
          <a:xfrm>
            <a:off x="2050286" y="2928723"/>
            <a:ext cx="165370" cy="219964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AD41DCB-AD41-487B-BC26-55169492A33A}"/>
              </a:ext>
            </a:extLst>
          </p:cNvPr>
          <p:cNvSpPr txBox="1"/>
          <p:nvPr/>
        </p:nvSpPr>
        <p:spPr>
          <a:xfrm>
            <a:off x="2244550" y="2816831"/>
            <a:ext cx="9703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/>
                <a:ea typeface="Alibaba PuHuiTi B"/>
              </a:rPr>
              <a:t>自动完成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ACC8B17-CEE2-445A-94F8-5FD46E98D291}"/>
              </a:ext>
            </a:extLst>
          </p:cNvPr>
          <p:cNvCxnSpPr>
            <a:cxnSpLocks/>
            <a:stCxn id="29" idx="3"/>
            <a:endCxn id="10" idx="1"/>
          </p:cNvCxnSpPr>
          <p:nvPr/>
        </p:nvCxnSpPr>
        <p:spPr>
          <a:xfrm>
            <a:off x="7024900" y="2885522"/>
            <a:ext cx="487915" cy="1390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15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5" grpId="0" animBg="1"/>
      <p:bldP spid="9" grpId="0" animBg="1"/>
      <p:bldP spid="28" grpId="0" animBg="1"/>
      <p:bldP spid="29" grpId="0" animBg="1"/>
      <p:bldP spid="30" grpId="0" animBg="1"/>
      <p:bldP spid="36" grpId="0"/>
      <p:bldP spid="14" grpId="0" animBg="1"/>
      <p:bldP spid="38" grpId="0"/>
      <p:bldP spid="39" grpId="0" animBg="1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3237664" cy="517190"/>
          </a:xfrm>
        </p:spPr>
        <p:txBody>
          <a:bodyPr/>
          <a:lstStyle/>
          <a:p>
            <a:r>
              <a:rPr lang="en-US" altLang="zh-CN" sz="2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MyBatis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31705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mybatis</a:t>
            </a:r>
            <a:r>
              <a:rPr lang="zh-CN" altLang="en-US" dirty="0"/>
              <a:t>框架整体架构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58B95A-9F5A-4C3A-9E0C-A58F1ACB6D39}"/>
              </a:ext>
            </a:extLst>
          </p:cNvPr>
          <p:cNvSpPr/>
          <p:nvPr/>
        </p:nvSpPr>
        <p:spPr>
          <a:xfrm>
            <a:off x="3870960" y="502784"/>
            <a:ext cx="3667760" cy="13351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65EF383-0271-4EFD-A69A-024E4F0A5874}"/>
              </a:ext>
            </a:extLst>
          </p:cNvPr>
          <p:cNvSpPr/>
          <p:nvPr/>
        </p:nvSpPr>
        <p:spPr>
          <a:xfrm>
            <a:off x="4582160" y="650240"/>
            <a:ext cx="2560320" cy="51719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0AD39ED-B592-41D8-A705-5727E569F79F}"/>
              </a:ext>
            </a:extLst>
          </p:cNvPr>
          <p:cNvSpPr/>
          <p:nvPr/>
        </p:nvSpPr>
        <p:spPr>
          <a:xfrm>
            <a:off x="3948545" y="1320747"/>
            <a:ext cx="1466735" cy="51719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Mapper.xml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A83A414-9F4B-4573-AF06-16F55B8F3DA6}"/>
              </a:ext>
            </a:extLst>
          </p:cNvPr>
          <p:cNvSpPr/>
          <p:nvPr/>
        </p:nvSpPr>
        <p:spPr>
          <a:xfrm>
            <a:off x="5492865" y="1314886"/>
            <a:ext cx="1466735" cy="51719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Mapper.xml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A59CD8E-09F1-4A86-BC00-F1AFCFBFFB43}"/>
              </a:ext>
            </a:extLst>
          </p:cNvPr>
          <p:cNvSpPr/>
          <p:nvPr/>
        </p:nvSpPr>
        <p:spPr>
          <a:xfrm>
            <a:off x="7033491" y="1314886"/>
            <a:ext cx="505230" cy="51719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F3D1F3-7256-4129-ADF4-98B25A7058CD}"/>
              </a:ext>
            </a:extLst>
          </p:cNvPr>
          <p:cNvSpPr txBox="1"/>
          <p:nvPr/>
        </p:nvSpPr>
        <p:spPr>
          <a:xfrm>
            <a:off x="5230254" y="619704"/>
            <a:ext cx="995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err="1">
                <a:solidFill>
                  <a:srgbClr val="FF0000"/>
                </a:solidFill>
                <a:latin typeface="+mn-lt"/>
                <a:ea typeface="+mn-ea"/>
              </a:rPr>
              <a:t>MyBatis</a:t>
            </a:r>
            <a:r>
              <a:rPr lang="zh-CN" altLang="en-US" sz="1200" dirty="0">
                <a:solidFill>
                  <a:srgbClr val="FF0000"/>
                </a:solidFill>
                <a:latin typeface="+mn-lt"/>
                <a:ea typeface="+mn-ea"/>
              </a:rPr>
              <a:t>配置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747E73-5618-44E8-AE58-D2A5B8F1D414}"/>
              </a:ext>
            </a:extLst>
          </p:cNvPr>
          <p:cNvSpPr txBox="1"/>
          <p:nvPr/>
        </p:nvSpPr>
        <p:spPr>
          <a:xfrm>
            <a:off x="4958080" y="880017"/>
            <a:ext cx="1349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FF0000"/>
                </a:solidFill>
                <a:latin typeface="+mn-lt"/>
                <a:ea typeface="+mn-ea"/>
              </a:rPr>
              <a:t>MyBatisConfig.xml</a:t>
            </a:r>
            <a:endParaRPr lang="zh-CN" altLang="en-US" sz="120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5CE794D-4166-49F4-B2CD-9CDC96C14B21}"/>
              </a:ext>
            </a:extLst>
          </p:cNvPr>
          <p:cNvCxnSpPr/>
          <p:nvPr/>
        </p:nvCxnSpPr>
        <p:spPr>
          <a:xfrm>
            <a:off x="5492865" y="1910080"/>
            <a:ext cx="0" cy="28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11769C8B-9FA8-4D80-AA10-557920994FC3}"/>
              </a:ext>
            </a:extLst>
          </p:cNvPr>
          <p:cNvSpPr/>
          <p:nvPr/>
        </p:nvSpPr>
        <p:spPr>
          <a:xfrm>
            <a:off x="3870960" y="2194560"/>
            <a:ext cx="3667758" cy="5171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SqlSessionFactory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DC3698D-4C61-44A2-BB98-A8B71C714615}"/>
              </a:ext>
            </a:extLst>
          </p:cNvPr>
          <p:cNvCxnSpPr/>
          <p:nvPr/>
        </p:nvCxnSpPr>
        <p:spPr>
          <a:xfrm>
            <a:off x="5492865" y="2711750"/>
            <a:ext cx="0" cy="28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C0236C1-15BE-4BED-BA52-7C0DDEEA1A11}"/>
              </a:ext>
            </a:extLst>
          </p:cNvPr>
          <p:cNvSpPr/>
          <p:nvPr/>
        </p:nvSpPr>
        <p:spPr>
          <a:xfrm>
            <a:off x="3870960" y="2996230"/>
            <a:ext cx="3667758" cy="5171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SqlSession</a:t>
            </a:r>
            <a:endParaRPr lang="zh-CN" altLang="en-US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556A5F9-0874-4FCF-BCE4-E9B09F294A60}"/>
              </a:ext>
            </a:extLst>
          </p:cNvPr>
          <p:cNvCxnSpPr/>
          <p:nvPr/>
        </p:nvCxnSpPr>
        <p:spPr>
          <a:xfrm>
            <a:off x="5492865" y="3528660"/>
            <a:ext cx="0" cy="28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7019B77-1B89-40B5-9016-4E1D4806B256}"/>
              </a:ext>
            </a:extLst>
          </p:cNvPr>
          <p:cNvSpPr/>
          <p:nvPr/>
        </p:nvSpPr>
        <p:spPr>
          <a:xfrm>
            <a:off x="3870960" y="3813140"/>
            <a:ext cx="3667758" cy="51719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Executor</a:t>
            </a:r>
            <a:r>
              <a:rPr lang="zh-CN" altLang="en-US" dirty="0"/>
              <a:t>（执行器）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ADE1C45-CE8F-44C6-8DD2-4379C590E86A}"/>
              </a:ext>
            </a:extLst>
          </p:cNvPr>
          <p:cNvCxnSpPr/>
          <p:nvPr/>
        </p:nvCxnSpPr>
        <p:spPr>
          <a:xfrm>
            <a:off x="5492865" y="4345570"/>
            <a:ext cx="0" cy="28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173A5ECE-D388-4554-A9C3-553E759A0CAA}"/>
              </a:ext>
            </a:extLst>
          </p:cNvPr>
          <p:cNvSpPr/>
          <p:nvPr/>
        </p:nvSpPr>
        <p:spPr>
          <a:xfrm>
            <a:off x="3870960" y="4630050"/>
            <a:ext cx="3667758" cy="51719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Mapped  Statement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2DD55BC-75C8-4D35-97A8-92909B152986}"/>
              </a:ext>
            </a:extLst>
          </p:cNvPr>
          <p:cNvCxnSpPr/>
          <p:nvPr/>
        </p:nvCxnSpPr>
        <p:spPr>
          <a:xfrm>
            <a:off x="5492865" y="5453010"/>
            <a:ext cx="0" cy="28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圆柱体 15">
            <a:extLst>
              <a:ext uri="{FF2B5EF4-FFF2-40B4-BE49-F238E27FC236}">
                <a16:creationId xmlns:a16="http://schemas.microsoft.com/office/drawing/2014/main" id="{95284451-8CA0-4CCE-AD00-38F03F88F418}"/>
              </a:ext>
            </a:extLst>
          </p:cNvPr>
          <p:cNvSpPr/>
          <p:nvPr/>
        </p:nvSpPr>
        <p:spPr>
          <a:xfrm>
            <a:off x="4582160" y="5767000"/>
            <a:ext cx="1950713" cy="977300"/>
          </a:xfrm>
          <a:prstGeom prst="ca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数据库</a:t>
            </a:r>
          </a:p>
        </p:txBody>
      </p:sp>
      <p:sp>
        <p:nvSpPr>
          <p:cNvPr id="24" name="波形 23">
            <a:extLst>
              <a:ext uri="{FF2B5EF4-FFF2-40B4-BE49-F238E27FC236}">
                <a16:creationId xmlns:a16="http://schemas.microsoft.com/office/drawing/2014/main" id="{8E6E7D61-C02E-4A4B-BE4F-70FD1CA796CF}"/>
              </a:ext>
            </a:extLst>
          </p:cNvPr>
          <p:cNvSpPr/>
          <p:nvPr/>
        </p:nvSpPr>
        <p:spPr>
          <a:xfrm>
            <a:off x="8170024" y="334310"/>
            <a:ext cx="3891278" cy="1666240"/>
          </a:xfrm>
          <a:prstGeom prst="wav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1.</a:t>
            </a:r>
            <a:r>
              <a:rPr lang="zh-CN" altLang="en-US" sz="1200" dirty="0"/>
              <a:t>属于</a:t>
            </a:r>
            <a:r>
              <a:rPr lang="en-US" altLang="zh-CN" sz="1200" dirty="0" err="1"/>
              <a:t>mybatis</a:t>
            </a:r>
            <a:r>
              <a:rPr lang="zh-CN" altLang="en-US" sz="1200" dirty="0"/>
              <a:t>的核心配置文件，一个</a:t>
            </a:r>
            <a:r>
              <a:rPr lang="en-US" altLang="zh-CN" sz="1200" dirty="0" err="1"/>
              <a:t>mybatis</a:t>
            </a:r>
            <a:r>
              <a:rPr lang="zh-CN" altLang="en-US" sz="1200" dirty="0"/>
              <a:t>项目只能有一个核心配置文件。</a:t>
            </a:r>
            <a:r>
              <a:rPr lang="en-US" altLang="zh-CN" sz="1200" dirty="0"/>
              <a:t>2.</a:t>
            </a:r>
            <a:r>
              <a:rPr lang="zh-CN" altLang="en-US" sz="1200" dirty="0"/>
              <a:t>文件名随意。</a:t>
            </a:r>
            <a:r>
              <a:rPr lang="en-US" altLang="zh-CN" sz="1200" dirty="0"/>
              <a:t>3.</a:t>
            </a:r>
            <a:r>
              <a:rPr lang="zh-CN" altLang="en-US" sz="1200" dirty="0"/>
              <a:t>文件必须放到</a:t>
            </a:r>
            <a:r>
              <a:rPr lang="en-US" altLang="zh-CN" sz="1200" dirty="0"/>
              <a:t>resources</a:t>
            </a:r>
            <a:r>
              <a:rPr lang="zh-CN" altLang="en-US" sz="1200" dirty="0"/>
              <a:t>下面。</a:t>
            </a:r>
            <a:r>
              <a:rPr lang="en-US" altLang="zh-CN" sz="1200" dirty="0"/>
              <a:t>4.</a:t>
            </a:r>
            <a:r>
              <a:rPr lang="zh-CN" altLang="en-US" sz="1200" dirty="0"/>
              <a:t>在核心配置文件中主要有连接数据库的四大参数以及加载</a:t>
            </a:r>
            <a:r>
              <a:rPr lang="en-US" altLang="zh-CN" sz="1200" dirty="0" err="1"/>
              <a:t>mybatis</a:t>
            </a:r>
            <a:r>
              <a:rPr lang="zh-CN" altLang="en-US" sz="1200" dirty="0"/>
              <a:t>框架的映射文件</a:t>
            </a:r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9BCA70DB-06B8-45D2-8FEA-3D09F743F8C7}"/>
              </a:ext>
            </a:extLst>
          </p:cNvPr>
          <p:cNvSpPr/>
          <p:nvPr/>
        </p:nvSpPr>
        <p:spPr>
          <a:xfrm>
            <a:off x="7262549" y="647836"/>
            <a:ext cx="907473" cy="51719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波形 26">
            <a:extLst>
              <a:ext uri="{FF2B5EF4-FFF2-40B4-BE49-F238E27FC236}">
                <a16:creationId xmlns:a16="http://schemas.microsoft.com/office/drawing/2014/main" id="{6D73B967-6862-4C30-B21F-95A889CD4E02}"/>
              </a:ext>
            </a:extLst>
          </p:cNvPr>
          <p:cNvSpPr/>
          <p:nvPr/>
        </p:nvSpPr>
        <p:spPr>
          <a:xfrm>
            <a:off x="170227" y="1076960"/>
            <a:ext cx="2797231" cy="1666240"/>
          </a:xfrm>
          <a:prstGeom prst="wav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1.</a:t>
            </a:r>
            <a:r>
              <a:rPr lang="zh-CN" altLang="en-US" sz="1200" dirty="0"/>
              <a:t>表示</a:t>
            </a:r>
            <a:r>
              <a:rPr lang="en-US" altLang="zh-CN" sz="1200" dirty="0" err="1"/>
              <a:t>mybatis</a:t>
            </a:r>
            <a:r>
              <a:rPr lang="zh-CN" altLang="en-US" sz="1200" dirty="0"/>
              <a:t>的映射文件。</a:t>
            </a:r>
            <a:r>
              <a:rPr lang="en-US" altLang="zh-CN" sz="1200" dirty="0"/>
              <a:t>2.</a:t>
            </a:r>
            <a:r>
              <a:rPr lang="zh-CN" altLang="en-US" sz="1200" dirty="0"/>
              <a:t>一个</a:t>
            </a:r>
            <a:r>
              <a:rPr lang="en-US" altLang="zh-CN" sz="1200" dirty="0" err="1"/>
              <a:t>mybatis</a:t>
            </a:r>
            <a:r>
              <a:rPr lang="zh-CN" altLang="en-US" sz="1200" dirty="0"/>
              <a:t>项目中可以有多个映射文件。</a:t>
            </a:r>
            <a:r>
              <a:rPr lang="en-US" altLang="zh-CN" sz="1200" dirty="0"/>
              <a:t>3.</a:t>
            </a:r>
            <a:r>
              <a:rPr lang="zh-CN" altLang="en-US" sz="1200" dirty="0"/>
              <a:t>映射文件中书写的是</a:t>
            </a:r>
            <a:r>
              <a:rPr lang="en-US" altLang="zh-CN" sz="1200" dirty="0" err="1"/>
              <a:t>sql</a:t>
            </a:r>
            <a:r>
              <a:rPr lang="zh-CN" altLang="en-US" sz="1200" dirty="0"/>
              <a:t>语句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0940A45-94E0-45EC-B2C4-B60DB992323D}"/>
              </a:ext>
            </a:extLst>
          </p:cNvPr>
          <p:cNvCxnSpPr>
            <a:endCxn id="27" idx="3"/>
          </p:cNvCxnSpPr>
          <p:nvPr/>
        </p:nvCxnSpPr>
        <p:spPr>
          <a:xfrm flipH="1">
            <a:off x="2967458" y="1706880"/>
            <a:ext cx="1076222" cy="203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波形 30">
            <a:extLst>
              <a:ext uri="{FF2B5EF4-FFF2-40B4-BE49-F238E27FC236}">
                <a16:creationId xmlns:a16="http://schemas.microsoft.com/office/drawing/2014/main" id="{44DD423A-6F84-4B3F-B27E-4138D89CB371}"/>
              </a:ext>
            </a:extLst>
          </p:cNvPr>
          <p:cNvSpPr/>
          <p:nvPr/>
        </p:nvSpPr>
        <p:spPr>
          <a:xfrm>
            <a:off x="7977952" y="1706880"/>
            <a:ext cx="3891278" cy="1964020"/>
          </a:xfrm>
          <a:prstGeom prst="wav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1.</a:t>
            </a:r>
            <a:r>
              <a:rPr lang="zh-CN" altLang="en-US" sz="1200" dirty="0"/>
              <a:t>会话对象，使用工厂创造类</a:t>
            </a:r>
            <a:r>
              <a:rPr lang="en-US" altLang="zh-CN" sz="1200" dirty="0" err="1"/>
              <a:t>SqlSessionFactoryBuilder</a:t>
            </a:r>
            <a:r>
              <a:rPr lang="zh-CN" altLang="en-US" sz="1200" dirty="0"/>
              <a:t>创建工厂创造类对象</a:t>
            </a:r>
            <a:endParaRPr lang="en-US" altLang="zh-CN" sz="1200" dirty="0"/>
          </a:p>
          <a:p>
            <a:pPr algn="ctr"/>
            <a:r>
              <a:rPr lang="en-US" altLang="zh-CN" sz="1200" dirty="0"/>
              <a:t>2. </a:t>
            </a:r>
            <a:r>
              <a:rPr lang="en-US" altLang="zh-CN" sz="1200" dirty="0" err="1"/>
              <a:t>SqlSessionFactoryBuilder</a:t>
            </a:r>
            <a:r>
              <a:rPr lang="en-US" altLang="zh-CN" sz="1200" dirty="0"/>
              <a:t> builder = new </a:t>
            </a:r>
            <a:r>
              <a:rPr lang="en-US" altLang="zh-CN" sz="1200" dirty="0" err="1"/>
              <a:t>SqlSessionFactoryBuilder</a:t>
            </a:r>
            <a:r>
              <a:rPr lang="en-US" altLang="zh-CN" sz="1200" dirty="0"/>
              <a:t>();</a:t>
            </a:r>
          </a:p>
          <a:p>
            <a:pPr algn="ctr"/>
            <a:r>
              <a:rPr lang="en-US" altLang="zh-CN" sz="1200" dirty="0" err="1"/>
              <a:t>SqlSessionFactory</a:t>
            </a:r>
            <a:r>
              <a:rPr lang="en-US" altLang="zh-CN" sz="1200" dirty="0"/>
              <a:t> factory = </a:t>
            </a:r>
            <a:r>
              <a:rPr lang="en-US" altLang="zh-CN" sz="1200" dirty="0" err="1"/>
              <a:t>builder.build</a:t>
            </a:r>
            <a:r>
              <a:rPr lang="en-US" altLang="zh-CN" sz="1200" dirty="0"/>
              <a:t>(</a:t>
            </a:r>
            <a:r>
              <a:rPr lang="zh-CN" altLang="en-US" sz="1200" dirty="0"/>
              <a:t>字节流</a:t>
            </a:r>
            <a:r>
              <a:rPr lang="en-US" altLang="zh-CN" sz="1200" dirty="0"/>
              <a:t>);</a:t>
            </a:r>
          </a:p>
          <a:p>
            <a:pPr algn="ctr"/>
            <a:r>
              <a:rPr lang="en-US" altLang="zh-CN" sz="1200" dirty="0"/>
              <a:t>3.</a:t>
            </a:r>
            <a:r>
              <a:rPr lang="zh-CN" altLang="en-US" sz="1200" dirty="0"/>
              <a:t>获取会话对象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2B3DCEC2-AB38-49D9-AABE-72DC411AF95E}"/>
              </a:ext>
            </a:extLst>
          </p:cNvPr>
          <p:cNvSpPr/>
          <p:nvPr/>
        </p:nvSpPr>
        <p:spPr>
          <a:xfrm>
            <a:off x="6769571" y="2245845"/>
            <a:ext cx="1282502" cy="5171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波形 32">
            <a:extLst>
              <a:ext uri="{FF2B5EF4-FFF2-40B4-BE49-F238E27FC236}">
                <a16:creationId xmlns:a16="http://schemas.microsoft.com/office/drawing/2014/main" id="{D17215A8-DF20-4B54-8887-F113B12BDF79}"/>
              </a:ext>
            </a:extLst>
          </p:cNvPr>
          <p:cNvSpPr/>
          <p:nvPr/>
        </p:nvSpPr>
        <p:spPr>
          <a:xfrm>
            <a:off x="170227" y="2662550"/>
            <a:ext cx="2797231" cy="1666240"/>
          </a:xfrm>
          <a:prstGeom prst="wav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1.SqlSession</a:t>
            </a:r>
            <a:r>
              <a:rPr lang="zh-CN" altLang="en-US" sz="1200" dirty="0"/>
              <a:t>表示会话对象，底层封装的是</a:t>
            </a:r>
            <a:r>
              <a:rPr lang="en-US" altLang="zh-CN" sz="1200" dirty="0"/>
              <a:t>Connection</a:t>
            </a:r>
            <a:r>
              <a:rPr lang="zh-CN" altLang="en-US" sz="1200" dirty="0"/>
              <a:t>连接对象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DADBE6A-8F21-46F5-BC99-C5F5B971EE3E}"/>
              </a:ext>
            </a:extLst>
          </p:cNvPr>
          <p:cNvCxnSpPr/>
          <p:nvPr/>
        </p:nvCxnSpPr>
        <p:spPr>
          <a:xfrm flipH="1">
            <a:off x="2959536" y="3241088"/>
            <a:ext cx="1076222" cy="203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波形 34">
            <a:extLst>
              <a:ext uri="{FF2B5EF4-FFF2-40B4-BE49-F238E27FC236}">
                <a16:creationId xmlns:a16="http://schemas.microsoft.com/office/drawing/2014/main" id="{0EBF7569-FCD0-4344-AC2C-EFDCE337AA89}"/>
              </a:ext>
            </a:extLst>
          </p:cNvPr>
          <p:cNvSpPr/>
          <p:nvPr/>
        </p:nvSpPr>
        <p:spPr>
          <a:xfrm>
            <a:off x="8214194" y="3670900"/>
            <a:ext cx="3847107" cy="924122"/>
          </a:xfrm>
          <a:prstGeom prst="wav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1.</a:t>
            </a:r>
            <a:r>
              <a:rPr lang="zh-CN" altLang="en-US" sz="1200" dirty="0"/>
              <a:t>使用</a:t>
            </a:r>
            <a:r>
              <a:rPr lang="en-US" altLang="zh-CN" sz="1200" dirty="0" err="1"/>
              <a:t>SqlSession</a:t>
            </a:r>
            <a:r>
              <a:rPr lang="zh-CN" altLang="en-US" sz="1200" dirty="0"/>
              <a:t>会话对象调用执行器</a:t>
            </a:r>
            <a:r>
              <a:rPr lang="en-US" altLang="zh-CN" sz="1200" dirty="0"/>
              <a:t>Executor,</a:t>
            </a:r>
            <a:r>
              <a:rPr lang="zh-CN" altLang="en-US" sz="1200" dirty="0"/>
              <a:t>使用执行器执行</a:t>
            </a:r>
            <a:r>
              <a:rPr lang="en-US" altLang="zh-CN" sz="1200" dirty="0" err="1"/>
              <a:t>sql</a:t>
            </a:r>
            <a:r>
              <a:rPr lang="zh-CN" altLang="en-US" sz="1200" dirty="0"/>
              <a:t>语句</a:t>
            </a: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9BB99FFE-2C25-4DA7-B91E-689DB82C7E30}"/>
              </a:ext>
            </a:extLst>
          </p:cNvPr>
          <p:cNvSpPr/>
          <p:nvPr/>
        </p:nvSpPr>
        <p:spPr>
          <a:xfrm>
            <a:off x="7286106" y="3807090"/>
            <a:ext cx="907473" cy="51719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A992883-0B76-40DD-93D3-93409B022C26}"/>
              </a:ext>
            </a:extLst>
          </p:cNvPr>
          <p:cNvSpPr txBox="1"/>
          <p:nvPr/>
        </p:nvSpPr>
        <p:spPr>
          <a:xfrm>
            <a:off x="4021896" y="5229835"/>
            <a:ext cx="39476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FF0000"/>
                </a:solidFill>
              </a:rPr>
              <a:t>s</a:t>
            </a:r>
            <a:r>
              <a:rPr lang="en-US" altLang="zh-CN" sz="1200" dirty="0">
                <a:solidFill>
                  <a:srgbClr val="FF0000"/>
                </a:solidFill>
                <a:latin typeface="+mn-lt"/>
                <a:ea typeface="+mn-ea"/>
              </a:rPr>
              <a:t>elect      *      from user where username=? and password=?</a:t>
            </a:r>
            <a:endParaRPr lang="zh-CN" altLang="en-US" sz="120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4F28303-7D95-49D4-A7EF-653172E3AD11}"/>
              </a:ext>
            </a:extLst>
          </p:cNvPr>
          <p:cNvSpPr/>
          <p:nvPr/>
        </p:nvSpPr>
        <p:spPr>
          <a:xfrm>
            <a:off x="457200" y="4432900"/>
            <a:ext cx="2079101" cy="23114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ACD38EE-B51C-40EB-AA71-E115838BDAC6}"/>
              </a:ext>
            </a:extLst>
          </p:cNvPr>
          <p:cNvSpPr/>
          <p:nvPr/>
        </p:nvSpPr>
        <p:spPr>
          <a:xfrm>
            <a:off x="710881" y="5078060"/>
            <a:ext cx="1341439" cy="3749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HashMap</a:t>
            </a:r>
            <a:endParaRPr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7FEBA27-F385-4EDB-B8D0-EFEF41DCB4CE}"/>
              </a:ext>
            </a:extLst>
          </p:cNvPr>
          <p:cNvSpPr/>
          <p:nvPr/>
        </p:nvSpPr>
        <p:spPr>
          <a:xfrm>
            <a:off x="710881" y="5646650"/>
            <a:ext cx="1341439" cy="3749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String</a:t>
            </a:r>
            <a:r>
              <a:rPr lang="zh-CN" altLang="en-US" sz="1400" dirty="0"/>
              <a:t>、</a:t>
            </a:r>
            <a:r>
              <a:rPr lang="en-US" altLang="zh-CN" sz="1400" dirty="0"/>
              <a:t>Integer</a:t>
            </a:r>
            <a:endParaRPr lang="zh-CN" altLang="en-US" sz="1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EEEA3F8-C45A-4716-B898-16A103EF34F8}"/>
              </a:ext>
            </a:extLst>
          </p:cNvPr>
          <p:cNvSpPr/>
          <p:nvPr/>
        </p:nvSpPr>
        <p:spPr>
          <a:xfrm>
            <a:off x="710881" y="6135530"/>
            <a:ext cx="1341439" cy="3749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POJO</a:t>
            </a:r>
            <a:endParaRPr lang="zh-CN" altLang="en-US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5B4C73F-A5F4-4CBA-9A55-916E8B3CAC37}"/>
              </a:ext>
            </a:extLst>
          </p:cNvPr>
          <p:cNvSpPr/>
          <p:nvPr/>
        </p:nvSpPr>
        <p:spPr>
          <a:xfrm>
            <a:off x="8778240" y="4490950"/>
            <a:ext cx="2079101" cy="23114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CC3B96-18AA-42F0-84BF-DD3B82B7656B}"/>
              </a:ext>
            </a:extLst>
          </p:cNvPr>
          <p:cNvSpPr/>
          <p:nvPr/>
        </p:nvSpPr>
        <p:spPr>
          <a:xfrm>
            <a:off x="9031921" y="5136110"/>
            <a:ext cx="1341439" cy="3749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HashMap</a:t>
            </a:r>
            <a:endParaRPr lang="zh-CN" altLang="en-US" sz="14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D097BF4-F54E-434A-92A2-15A192B41315}"/>
              </a:ext>
            </a:extLst>
          </p:cNvPr>
          <p:cNvSpPr/>
          <p:nvPr/>
        </p:nvSpPr>
        <p:spPr>
          <a:xfrm>
            <a:off x="9031921" y="5704700"/>
            <a:ext cx="1341439" cy="3749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String</a:t>
            </a:r>
            <a:r>
              <a:rPr lang="zh-CN" altLang="en-US" sz="1400" dirty="0"/>
              <a:t>、</a:t>
            </a:r>
            <a:r>
              <a:rPr lang="en-US" altLang="zh-CN" sz="1400" dirty="0"/>
              <a:t>Integer</a:t>
            </a:r>
            <a:endParaRPr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D9B6D6E-7C75-452A-B888-F70EC884EDF6}"/>
              </a:ext>
            </a:extLst>
          </p:cNvPr>
          <p:cNvSpPr/>
          <p:nvPr/>
        </p:nvSpPr>
        <p:spPr>
          <a:xfrm>
            <a:off x="9031921" y="6193580"/>
            <a:ext cx="1341439" cy="3749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POJO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2DAE63A-900F-4F08-8C64-F812341764EB}"/>
              </a:ext>
            </a:extLst>
          </p:cNvPr>
          <p:cNvSpPr txBox="1"/>
          <p:nvPr/>
        </p:nvSpPr>
        <p:spPr>
          <a:xfrm>
            <a:off x="798660" y="4589892"/>
            <a:ext cx="1180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FF0000"/>
                </a:solidFill>
              </a:rPr>
              <a:t>SQL</a:t>
            </a:r>
            <a:r>
              <a:rPr lang="zh-CN" altLang="en-US" sz="1400" dirty="0">
                <a:solidFill>
                  <a:srgbClr val="FF0000"/>
                </a:solidFill>
              </a:rPr>
              <a:t>输入参数</a:t>
            </a:r>
            <a:endParaRPr lang="zh-CN" altLang="en-US" sz="140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DB45885-9206-4F08-9241-3E1F6D02205E}"/>
              </a:ext>
            </a:extLst>
          </p:cNvPr>
          <p:cNvSpPr txBox="1"/>
          <p:nvPr/>
        </p:nvSpPr>
        <p:spPr>
          <a:xfrm>
            <a:off x="9212852" y="460496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+mn-ea"/>
              </a:rPr>
              <a:t>输出结果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79F292E-A2A9-4F92-BA0E-DCA347AB200A}"/>
              </a:ext>
            </a:extLst>
          </p:cNvPr>
          <p:cNvSpPr/>
          <p:nvPr/>
        </p:nvSpPr>
        <p:spPr>
          <a:xfrm>
            <a:off x="4582160" y="5229835"/>
            <a:ext cx="274318" cy="276999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ACFC7DA-EE69-42AA-ACD0-EB9A7D010D8A}"/>
              </a:ext>
            </a:extLst>
          </p:cNvPr>
          <p:cNvCxnSpPr>
            <a:endCxn id="48" idx="1"/>
          </p:cNvCxnSpPr>
          <p:nvPr/>
        </p:nvCxnSpPr>
        <p:spPr>
          <a:xfrm flipV="1">
            <a:off x="4856478" y="4758851"/>
            <a:ext cx="4356374" cy="470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A26C9C7B-7BA7-42CF-93F2-7E18FA684BE5}"/>
              </a:ext>
            </a:extLst>
          </p:cNvPr>
          <p:cNvSpPr/>
          <p:nvPr/>
        </p:nvSpPr>
        <p:spPr>
          <a:xfrm>
            <a:off x="6014720" y="5229835"/>
            <a:ext cx="1856690" cy="313279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260888D-3454-446B-A9A1-7589B5F7B413}"/>
              </a:ext>
            </a:extLst>
          </p:cNvPr>
          <p:cNvCxnSpPr>
            <a:endCxn id="38" idx="3"/>
          </p:cNvCxnSpPr>
          <p:nvPr/>
        </p:nvCxnSpPr>
        <p:spPr>
          <a:xfrm flipH="1">
            <a:off x="2536301" y="5543114"/>
            <a:ext cx="3407299" cy="45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5" name="爆炸形: 14 pt  54">
            <a:extLst>
              <a:ext uri="{FF2B5EF4-FFF2-40B4-BE49-F238E27FC236}">
                <a16:creationId xmlns:a16="http://schemas.microsoft.com/office/drawing/2014/main" id="{0280BFF4-1687-4EEF-8C95-EC760A8D4905}"/>
              </a:ext>
            </a:extLst>
          </p:cNvPr>
          <p:cNvSpPr/>
          <p:nvPr/>
        </p:nvSpPr>
        <p:spPr>
          <a:xfrm>
            <a:off x="5287635" y="4226647"/>
            <a:ext cx="7027347" cy="2154408"/>
          </a:xfrm>
          <a:prstGeom prst="irregularSeal2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输入和输出参数类型分类</a:t>
            </a:r>
            <a:r>
              <a:rPr lang="en-US" altLang="zh-CN" sz="1400" dirty="0"/>
              <a:t>:</a:t>
            </a:r>
          </a:p>
          <a:p>
            <a:pPr algn="ctr"/>
            <a:r>
              <a:rPr lang="en-US" altLang="zh-CN" sz="1400" dirty="0"/>
              <a:t>1)</a:t>
            </a:r>
            <a:r>
              <a:rPr lang="zh-CN" altLang="en-US" sz="1400" dirty="0"/>
              <a:t>简单类型</a:t>
            </a:r>
            <a:r>
              <a:rPr lang="en-US" altLang="zh-CN" sz="1400" dirty="0"/>
              <a:t>:String  int   List   Date …..</a:t>
            </a:r>
          </a:p>
          <a:p>
            <a:pPr algn="ctr"/>
            <a:r>
              <a:rPr lang="en-US" altLang="zh-CN" sz="1400" dirty="0"/>
              <a:t>2)</a:t>
            </a:r>
            <a:r>
              <a:rPr lang="zh-CN" altLang="en-US" sz="1400" dirty="0"/>
              <a:t>复杂类型</a:t>
            </a:r>
            <a:r>
              <a:rPr lang="en-US" altLang="zh-CN" sz="1400" dirty="0"/>
              <a:t>:</a:t>
            </a:r>
            <a:r>
              <a:rPr lang="en-US" altLang="zh-CN" sz="1400" dirty="0" err="1"/>
              <a:t>pojo</a:t>
            </a:r>
            <a:r>
              <a:rPr lang="en-US" altLang="zh-CN" sz="1400" dirty="0"/>
              <a:t>(</a:t>
            </a:r>
            <a:r>
              <a:rPr lang="zh-CN" altLang="en-US" sz="1400" dirty="0"/>
              <a:t>标准类</a:t>
            </a:r>
            <a:r>
              <a:rPr lang="en-US" altLang="zh-CN" sz="1400" dirty="0"/>
              <a:t>)</a:t>
            </a:r>
            <a:r>
              <a:rPr lang="zh-CN" altLang="en-US" sz="1400" dirty="0"/>
              <a:t>、</a:t>
            </a:r>
            <a:r>
              <a:rPr lang="en-US" altLang="zh-CN" sz="1400" dirty="0"/>
              <a:t>Map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0" grpId="0" animBg="1"/>
      <p:bldP spid="11" grpId="0" animBg="1"/>
      <p:bldP spid="8" grpId="0"/>
      <p:bldP spid="12" grpId="0"/>
      <p:bldP spid="15" grpId="0" animBg="1"/>
      <p:bldP spid="18" grpId="0" animBg="1"/>
      <p:bldP spid="20" grpId="0" animBg="1"/>
      <p:bldP spid="22" grpId="0" animBg="1"/>
      <p:bldP spid="16" grpId="0" animBg="1"/>
      <p:bldP spid="24" grpId="0" animBg="1"/>
      <p:bldP spid="25" grpId="0" animBg="1"/>
      <p:bldP spid="27" grpId="0" animBg="1"/>
      <p:bldP spid="31" grpId="0" animBg="1"/>
      <p:bldP spid="30" grpId="0" animBg="1"/>
      <p:bldP spid="33" grpId="0" animBg="1"/>
      <p:bldP spid="35" grpId="0" animBg="1"/>
      <p:bldP spid="36" grpId="0" animBg="1"/>
      <p:bldP spid="32" grpId="0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 animBg="1"/>
      <p:bldP spid="52" grpId="0" animBg="1"/>
      <p:bldP spid="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3237664" cy="517190"/>
          </a:xfrm>
        </p:spPr>
        <p:txBody>
          <a:bodyPr/>
          <a:lstStyle/>
          <a:p>
            <a:r>
              <a:rPr lang="en-US" altLang="zh-CN" sz="2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MyBatis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69068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MyBatis</a:t>
            </a:r>
            <a:r>
              <a:rPr lang="zh-CN" altLang="en-US" dirty="0"/>
              <a:t>的</a:t>
            </a:r>
            <a:r>
              <a:rPr lang="en-US" altLang="zh-CN" dirty="0"/>
              <a:t>ORM(Object Relational Mapping </a:t>
            </a:r>
            <a:r>
              <a:rPr lang="zh-CN" altLang="en-US" dirty="0"/>
              <a:t>对象关系映射</a:t>
            </a:r>
            <a:r>
              <a:rPr lang="en-US" altLang="zh-CN" dirty="0"/>
              <a:t>)</a:t>
            </a:r>
            <a:r>
              <a:rPr lang="zh-CN" altLang="en-US" dirty="0"/>
              <a:t>方式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04" y="1184887"/>
            <a:ext cx="8506691" cy="471050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06104" y="5895394"/>
            <a:ext cx="35223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Mybatis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有两种映射方式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1.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通过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XML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映射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;</a:t>
            </a:r>
          </a:p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2.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通过注解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MyBatis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41C49C-9FA4-427B-AA62-99780DA9610A}"/>
              </a:ext>
            </a:extLst>
          </p:cNvPr>
          <p:cNvSpPr/>
          <p:nvPr/>
        </p:nvSpPr>
        <p:spPr>
          <a:xfrm>
            <a:off x="4411898" y="1881757"/>
            <a:ext cx="593630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mybatis</a:t>
            </a:r>
            <a:r>
              <a:rPr lang="zh-CN" altLang="en-US"/>
              <a:t>解决了三层</a:t>
            </a:r>
            <a:r>
              <a:rPr lang="en-US" altLang="zh-CN"/>
              <a:t>(web,service,dao)</a:t>
            </a:r>
            <a:r>
              <a:rPr lang="zh-CN" altLang="en-US"/>
              <a:t>中哪一层的问题？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A8251E-6720-48D5-BAAD-3C350BE18331}"/>
              </a:ext>
            </a:extLst>
          </p:cNvPr>
          <p:cNvSpPr/>
          <p:nvPr/>
        </p:nvSpPr>
        <p:spPr>
          <a:xfrm>
            <a:off x="4716698" y="2459714"/>
            <a:ext cx="538930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dao</a:t>
            </a: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807DAC-8032-42E3-B35D-AD1086C8D009}"/>
              </a:ext>
            </a:extLst>
          </p:cNvPr>
          <p:cNvSpPr/>
          <p:nvPr/>
        </p:nvSpPr>
        <p:spPr>
          <a:xfrm>
            <a:off x="4411898" y="3037671"/>
            <a:ext cx="449834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mybatis</a:t>
            </a:r>
            <a:r>
              <a:rPr lang="zh-CN" altLang="en-US"/>
              <a:t>框架是对什么技术进行的封装？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4834BD-5C51-4DCB-9D19-A99F51415760}"/>
              </a:ext>
            </a:extLst>
          </p:cNvPr>
          <p:cNvSpPr/>
          <p:nvPr/>
        </p:nvSpPr>
        <p:spPr>
          <a:xfrm>
            <a:off x="4716698" y="3614688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JDBC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5282" y="359764"/>
            <a:ext cx="5973761" cy="4256405"/>
          </a:xfrm>
        </p:spPr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zh-CN" altLang="en-US" dirty="0">
                <a:solidFill>
                  <a:schemeClr val="tx1"/>
                </a:solidFill>
              </a:rPr>
              <a:t>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rgbClr val="C00000"/>
                </a:solidFill>
              </a:rPr>
              <a:t>MyBatis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快速入门 </a:t>
            </a:r>
            <a:r>
              <a:rPr lang="en-US" altLang="zh-CN" dirty="0">
                <a:solidFill>
                  <a:srgbClr val="C00000"/>
                </a:solidFill>
              </a:rPr>
              <a:t>Mapper </a:t>
            </a:r>
            <a:r>
              <a:rPr lang="zh-CN" altLang="en-US" dirty="0">
                <a:solidFill>
                  <a:srgbClr val="C00000"/>
                </a:solidFill>
              </a:rPr>
              <a:t>代理开发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核心配置文件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编写会话工具类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 err="1"/>
              <a:t>My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kumimoji="1" lang="en-US" altLang="zh-CN" dirty="0" err="1"/>
              <a:t>atis</a:t>
            </a:r>
            <a:r>
              <a:rPr kumimoji="1" lang="zh-CN" altLang="en-US" dirty="0"/>
              <a:t>映射文件配置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17917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77461C-60CE-4EDE-82CF-C070F989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MyBatis</a:t>
            </a:r>
            <a:r>
              <a:rPr lang="en-US" altLang="zh-CN"/>
              <a:t> </a:t>
            </a:r>
            <a:r>
              <a:rPr lang="zh-CN" altLang="en-US"/>
              <a:t>入门</a:t>
            </a:r>
            <a:endParaRPr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8A8C54A-0913-44E8-B694-CBB344FC08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Mapper </a:t>
            </a:r>
            <a:r>
              <a:rPr lang="zh-CN" altLang="en-US" dirty="0"/>
              <a:t>代理方式完成入门案例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43BD8-72E6-4DE1-B21A-9A0CC5385D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95450" y="1656000"/>
            <a:ext cx="8084892" cy="3803767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zh-CN" altLang="en-US" sz="1400" dirty="0"/>
              <a:t>创建</a:t>
            </a:r>
            <a:r>
              <a:rPr lang="en-US" altLang="zh-CN" sz="1400" dirty="0"/>
              <a:t>user</a:t>
            </a:r>
            <a:r>
              <a:rPr lang="zh-CN" altLang="en-US" sz="1400" dirty="0"/>
              <a:t>表，添加数据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创建</a:t>
            </a:r>
            <a:r>
              <a:rPr lang="en-US" altLang="zh-CN" sz="1400" dirty="0"/>
              <a:t>maven</a:t>
            </a:r>
            <a:r>
              <a:rPr lang="zh-CN" altLang="en-US" sz="1400" dirty="0"/>
              <a:t>工程，导入坐标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编写 </a:t>
            </a:r>
            <a:r>
              <a:rPr lang="en-US" altLang="zh-CN" sz="1400" dirty="0" err="1"/>
              <a:t>MyBatis</a:t>
            </a:r>
            <a:r>
              <a:rPr lang="en-US" altLang="zh-CN" sz="1400" dirty="0"/>
              <a:t> </a:t>
            </a:r>
            <a:r>
              <a:rPr lang="zh-CN" altLang="en-US" sz="1400" dirty="0"/>
              <a:t>核心配置文件  </a:t>
            </a:r>
            <a:r>
              <a:rPr lang="en-US" altLang="zh-CN" sz="1400" dirty="0"/>
              <a:t>-- &gt; </a:t>
            </a:r>
            <a:r>
              <a:rPr lang="zh-CN" altLang="en-US" sz="1400" dirty="0"/>
              <a:t>替换连接信息 解决硬编码问题</a:t>
            </a:r>
            <a:endParaRPr lang="en-US" altLang="zh-CN" sz="1400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 dirty="0"/>
              <a:t>定义与</a:t>
            </a:r>
            <a:r>
              <a:rPr lang="en-US" altLang="zh-CN" sz="1400" dirty="0"/>
              <a:t>SQL</a:t>
            </a:r>
            <a:r>
              <a:rPr lang="zh-CN" altLang="en-US" sz="1400" dirty="0"/>
              <a:t>映射文件同名的</a:t>
            </a:r>
            <a:r>
              <a:rPr lang="en-US" altLang="zh-CN" sz="1400" dirty="0"/>
              <a:t>Mapper</a:t>
            </a:r>
            <a:r>
              <a:rPr lang="zh-CN" altLang="en-US" sz="1400" dirty="0"/>
              <a:t>接口，并且将</a:t>
            </a:r>
            <a:r>
              <a:rPr lang="en-US" altLang="zh-CN" sz="1400" dirty="0"/>
              <a:t>Mapper</a:t>
            </a:r>
            <a:r>
              <a:rPr lang="zh-CN" altLang="en-US" sz="1400" dirty="0"/>
              <a:t>接口和</a:t>
            </a:r>
            <a:r>
              <a:rPr lang="en-US" altLang="zh-CN" sz="1400" dirty="0"/>
              <a:t>SQL</a:t>
            </a:r>
            <a:r>
              <a:rPr lang="zh-CN" altLang="en-US" sz="1400" dirty="0"/>
              <a:t>映射文件放置在同一目录下</a:t>
            </a:r>
            <a:endParaRPr lang="en-US" altLang="zh-CN" sz="1400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 dirty="0"/>
              <a:t>编写 </a:t>
            </a:r>
            <a:r>
              <a:rPr lang="en-US" altLang="zh-CN" sz="1400" dirty="0"/>
              <a:t>SQL </a:t>
            </a:r>
            <a:r>
              <a:rPr lang="zh-CN" altLang="en-US" sz="1400" dirty="0"/>
              <a:t>映射文件</a:t>
            </a:r>
            <a:r>
              <a:rPr lang="en-US" altLang="zh-CN" sz="1400" dirty="0"/>
              <a:t>,</a:t>
            </a:r>
            <a:r>
              <a:rPr lang="zh-CN" altLang="en-US" sz="1400" dirty="0"/>
              <a:t>设置</a:t>
            </a:r>
            <a:r>
              <a:rPr lang="en-US" altLang="zh-CN" sz="1400" dirty="0"/>
              <a:t>SQL</a:t>
            </a:r>
            <a:r>
              <a:rPr lang="zh-CN" altLang="en-US" sz="1400" dirty="0"/>
              <a:t>映射文件的</a:t>
            </a:r>
            <a:r>
              <a:rPr lang="en-US" altLang="zh-CN" sz="1400" dirty="0"/>
              <a:t>namespace</a:t>
            </a:r>
            <a:r>
              <a:rPr lang="zh-CN" altLang="en-US" sz="1400" dirty="0"/>
              <a:t>属性为</a:t>
            </a:r>
            <a:r>
              <a:rPr lang="en-US" altLang="zh-CN" sz="1400" dirty="0"/>
              <a:t>Mapper</a:t>
            </a:r>
            <a:r>
              <a:rPr lang="zh-CN" altLang="en-US" sz="1400" dirty="0"/>
              <a:t>接口全限定名</a:t>
            </a:r>
            <a:endParaRPr lang="en-US" altLang="zh-CN" sz="1400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 dirty="0"/>
              <a:t>在 </a:t>
            </a:r>
            <a:r>
              <a:rPr lang="en-US" altLang="zh-CN" sz="1400" dirty="0"/>
              <a:t>Mapper </a:t>
            </a:r>
            <a:r>
              <a:rPr lang="zh-CN" altLang="en-US" sz="1400" dirty="0"/>
              <a:t>接口中定义方法，方法名就是</a:t>
            </a:r>
            <a:r>
              <a:rPr lang="en-US" altLang="zh-CN" sz="1400" dirty="0"/>
              <a:t>SQL</a:t>
            </a:r>
            <a:r>
              <a:rPr lang="zh-CN" altLang="en-US" sz="1400" dirty="0"/>
              <a:t>映射文件中</a:t>
            </a:r>
            <a:r>
              <a:rPr lang="en-US" altLang="zh-CN" sz="1400" dirty="0" err="1"/>
              <a:t>sql</a:t>
            </a:r>
            <a:r>
              <a:rPr lang="zh-CN" altLang="en-US" sz="1400" dirty="0"/>
              <a:t>语句的</a:t>
            </a:r>
            <a:r>
              <a:rPr lang="en-US" altLang="zh-CN" sz="1400" dirty="0"/>
              <a:t>id</a:t>
            </a:r>
            <a:r>
              <a:rPr lang="zh-CN" altLang="en-US" sz="1400" dirty="0"/>
              <a:t>，并保持参数类型和返回值类型一致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编码</a:t>
            </a:r>
            <a:endParaRPr lang="en-US" altLang="zh-CN" sz="1400" dirty="0"/>
          </a:p>
          <a:p>
            <a:pPr marL="1333475" lvl="1" indent="-342900">
              <a:lnSpc>
                <a:spcPct val="150000"/>
              </a:lnSpc>
              <a:buAutoNum type="arabicPeriod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定义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POJO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类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  <a:p>
            <a:pPr marL="1333475" lvl="1" indent="-342900">
              <a:lnSpc>
                <a:spcPct val="150000"/>
              </a:lnSpc>
              <a:buAutoNum type="arabicPeriod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加载核心配置文件，获取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Unicode MS"/>
                <a:ea typeface="JetBrains Mono"/>
              </a:rPr>
              <a:t>SqlSessionFactory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Unicode MS"/>
                <a:ea typeface="JetBrains Mono"/>
              </a:rPr>
              <a:t>对象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 Unicode MS"/>
              <a:ea typeface="JetBrains Mono"/>
            </a:endParaRPr>
          </a:p>
          <a:p>
            <a:pPr marL="1333475" lvl="1" indent="-342900">
              <a:lnSpc>
                <a:spcPct val="150000"/>
              </a:lnSpc>
              <a:buAutoNum type="arabicPeriod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/>
                <a:ea typeface="阿里巴巴普惠体" panose="00020600040101010101"/>
              </a:rPr>
              <a:t>获取 </a:t>
            </a:r>
            <a:r>
              <a:rPr lang="en-US" altLang="zh-CN" sz="14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/>
                <a:ea typeface="阿里巴巴普惠体" panose="00020600040101010101"/>
              </a:rPr>
              <a:t>SqlSession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/>
                <a:ea typeface="阿里巴巴普惠体" panose="00020600040101010101"/>
              </a:rPr>
              <a:t>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/>
                <a:ea typeface="阿里巴巴普惠体" panose="00020600040101010101"/>
              </a:rPr>
              <a:t>对象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Arial Unicode MS"/>
              <a:ea typeface="阿里巴巴普惠体" panose="00020600040101010101"/>
            </a:endParaRPr>
          </a:p>
          <a:p>
            <a:pPr marL="1333475" lvl="1" indent="-342900">
              <a:lnSpc>
                <a:spcPct val="150000"/>
              </a:lnSpc>
              <a:buAutoNum type="arabicPeriod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通过 </a:t>
            </a:r>
            <a:r>
              <a:rPr lang="en-US" altLang="zh-CN" sz="14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libaba PuHuiTi M"/>
                <a:cs typeface="Arial" panose="020B0604020202020204" pitchFamily="34" charset="0"/>
              </a:rPr>
              <a:t>SqlSession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libaba PuHuiTi M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的 </a:t>
            </a:r>
            <a:r>
              <a:rPr lang="en-US" altLang="zh-CN" sz="14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阿里巴巴普惠体" panose="00020600040101010101"/>
              </a:rPr>
              <a:t>getMapper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方法获取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阿里巴巴普惠体" panose="00020600040101010101"/>
              </a:rPr>
              <a:t>Mapper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接口的代理对象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Arial Unicode MS"/>
              <a:ea typeface="阿里巴巴普惠体" panose="00020600040101010101"/>
            </a:endParaRPr>
          </a:p>
          <a:p>
            <a:pPr marL="1333475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调用对应方法完成</a:t>
            </a:r>
            <a:r>
              <a:rPr lang="en-US" altLang="zh-CN" sz="14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阿里巴巴普惠体" panose="00020600040101010101"/>
              </a:rPr>
              <a:t>sql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的执行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Arial Unicode MS"/>
              <a:ea typeface="阿里巴巴普惠体" panose="00020600040101010101"/>
            </a:endParaRPr>
          </a:p>
          <a:p>
            <a:pPr marL="1333475" lvl="1" indent="-342900">
              <a:lnSpc>
                <a:spcPct val="150000"/>
              </a:lnSpc>
              <a:buAutoNum type="arabicPeriod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/>
                <a:ea typeface="阿里巴巴普惠体" panose="00020600040101010101"/>
              </a:rPr>
              <a:t>释放资源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AA48DB-260E-4CE1-870A-B0BF6EC16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566" y="1659215"/>
            <a:ext cx="3190160" cy="9136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8A970AFF-5CE7-4B9E-AA59-5271BBA80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05E81FC-FBBA-4DDF-824F-618EF938C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8872" y="3979928"/>
            <a:ext cx="4790854" cy="6103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7FA78A26-B176-4DDC-9FD9-884ECB6EB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72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占位符 1">
            <a:extLst>
              <a:ext uri="{FF2B5EF4-FFF2-40B4-BE49-F238E27FC236}">
                <a16:creationId xmlns:a16="http://schemas.microsoft.com/office/drawing/2014/main" id="{3327B80F-5666-4B37-8934-EA330FE74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-25399"/>
            <a:ext cx="314787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eaLnBrk="0" hangingPunct="0">
              <a:defRPr/>
            </a:pPr>
            <a:r>
              <a:rPr lang="en-US" altLang="zh-CN" sz="2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MyBatis</a:t>
            </a: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入门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70A6F0D-CC1F-47AF-B650-1EDE0A37BE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dirty="0"/>
              <a:t>在映射文件</a:t>
            </a:r>
            <a:r>
              <a:rPr lang="en-US" altLang="zh-CN" dirty="0"/>
              <a:t>userManager.xml</a:t>
            </a:r>
            <a:r>
              <a:rPr lang="zh-CN" altLang="en-US" dirty="0"/>
              <a:t>中的</a:t>
            </a:r>
            <a:r>
              <a:rPr lang="en-US" altLang="zh-CN" dirty="0" err="1"/>
              <a:t>resultType</a:t>
            </a:r>
            <a:r>
              <a:rPr lang="zh-CN" altLang="en-US" dirty="0"/>
              <a:t>位置没有书写类的全名</a:t>
            </a:r>
            <a:endParaRPr lang="en-US" altLang="zh-C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A08D462-86B4-4F91-81F5-D49ECC060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72018212-C82E-44DD-BDC6-40379D380A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入门案例：常见错误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731098-8B8F-40AA-82A0-839FE4DFF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162175"/>
            <a:ext cx="100774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1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hangingPunct="0">
              <a:defRPr/>
            </a:pPr>
            <a:r>
              <a:rPr lang="en-US" altLang="zh-CN" sz="2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MyBatis</a:t>
            </a: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Alibaba PuHuiTi B"/>
                <a:sym typeface="+mn-ea"/>
              </a:rPr>
              <a:t>入门</a:t>
            </a:r>
          </a:p>
        </p:txBody>
      </p:sp>
      <p:sp>
        <p:nvSpPr>
          <p:cNvPr id="6" name="矩形 5"/>
          <p:cNvSpPr/>
          <p:nvPr/>
        </p:nvSpPr>
        <p:spPr>
          <a:xfrm>
            <a:off x="4610801" y="361290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【1】</a:t>
            </a:r>
            <a:r>
              <a:rPr lang="zh-CN" altLang="en-US" dirty="0"/>
              <a:t>从</a:t>
            </a:r>
            <a:r>
              <a:rPr lang="en-US" altLang="zh-CN" dirty="0"/>
              <a:t>xml</a:t>
            </a:r>
            <a:r>
              <a:rPr lang="zh-CN" altLang="en-US" dirty="0"/>
              <a:t>文件中构建：</a:t>
            </a:r>
            <a:r>
              <a:rPr lang="en-US" altLang="zh-CN" dirty="0" err="1"/>
              <a:t>SqlSessionFactory</a:t>
            </a:r>
            <a:r>
              <a:rPr lang="en-US" altLang="zh-CN" dirty="0"/>
              <a:t>	</a:t>
            </a:r>
          </a:p>
          <a:p>
            <a:r>
              <a:rPr lang="en-US" altLang="zh-CN" dirty="0"/>
              <a:t>【2】</a:t>
            </a:r>
            <a:r>
              <a:rPr lang="zh-CN" altLang="en-US" dirty="0"/>
              <a:t>从</a:t>
            </a:r>
            <a:r>
              <a:rPr lang="en-US" altLang="zh-CN" dirty="0" err="1"/>
              <a:t>SqlSessionFactory</a:t>
            </a:r>
            <a:r>
              <a:rPr lang="zh-CN" altLang="en-US" dirty="0"/>
              <a:t>中获取：</a:t>
            </a:r>
            <a:r>
              <a:rPr lang="en-US" altLang="zh-CN" dirty="0" err="1"/>
              <a:t>SqlSession</a:t>
            </a:r>
            <a:r>
              <a:rPr lang="en-US" altLang="zh-CN" dirty="0"/>
              <a:t>	</a:t>
            </a:r>
          </a:p>
          <a:p>
            <a:r>
              <a:rPr lang="en-US" altLang="zh-CN" dirty="0"/>
              <a:t>【3】</a:t>
            </a:r>
            <a:r>
              <a:rPr lang="zh-CN" altLang="en-US" dirty="0"/>
              <a:t>通过</a:t>
            </a:r>
            <a:r>
              <a:rPr lang="en-US" altLang="zh-CN" dirty="0" err="1"/>
              <a:t>SqlSession</a:t>
            </a:r>
            <a:r>
              <a:rPr lang="zh-CN" altLang="en-US" dirty="0"/>
              <a:t>执行映射文件文件中的</a:t>
            </a:r>
            <a:r>
              <a:rPr lang="en-US" altLang="zh-CN" dirty="0" err="1"/>
              <a:t>sql</a:t>
            </a:r>
            <a:r>
              <a:rPr lang="zh-CN" altLang="en-US" dirty="0"/>
              <a:t>语句</a:t>
            </a:r>
          </a:p>
        </p:txBody>
      </p:sp>
      <p:sp>
        <p:nvSpPr>
          <p:cNvPr id="7" name="矩形 6"/>
          <p:cNvSpPr/>
          <p:nvPr/>
        </p:nvSpPr>
        <p:spPr>
          <a:xfrm>
            <a:off x="4264067" y="1629271"/>
            <a:ext cx="2869696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1. </a:t>
            </a:r>
            <a:r>
              <a:rPr lang="en-US" altLang="zh-CN" dirty="0" err="1"/>
              <a:t>mybatis</a:t>
            </a:r>
            <a:r>
              <a:rPr lang="zh-CN" altLang="en-US" dirty="0"/>
              <a:t>框架的核心组件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575133" y="19986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accent3">
                    <a:lumMod val="75000"/>
                  </a:schemeClr>
                </a:solidFill>
              </a:rPr>
              <a:t>SqlSessionFactoryBuilder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;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会话工厂构造类创建会话工厂对象</a:t>
            </a:r>
          </a:p>
          <a:p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accent3">
                    <a:lumMod val="75000"/>
                  </a:schemeClr>
                </a:solidFill>
              </a:rPr>
              <a:t>SqlSessionFactory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：会话工厂类创建会话对象</a:t>
            </a:r>
          </a:p>
          <a:p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lang="en-US" altLang="zh-CN" dirty="0" err="1">
                <a:solidFill>
                  <a:schemeClr val="accent3">
                    <a:lumMod val="75000"/>
                  </a:schemeClr>
                </a:solidFill>
              </a:rPr>
              <a:t>SqlSession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：会话类</a:t>
            </a:r>
          </a:p>
        </p:txBody>
      </p:sp>
      <p:sp>
        <p:nvSpPr>
          <p:cNvPr id="9" name="矩形 8"/>
          <p:cNvSpPr/>
          <p:nvPr/>
        </p:nvSpPr>
        <p:spPr>
          <a:xfrm>
            <a:off x="4351616" y="3208456"/>
            <a:ext cx="2436886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2.</a:t>
            </a:r>
            <a:r>
              <a:rPr lang="zh-CN" altLang="en-US" dirty="0"/>
              <a:t>入门程序开发流程？</a:t>
            </a:r>
          </a:p>
        </p:txBody>
      </p:sp>
    </p:spTree>
    <p:extLst>
      <p:ext uri="{BB962C8B-B14F-4D97-AF65-F5344CB8AC3E}">
        <p14:creationId xmlns:p14="http://schemas.microsoft.com/office/powerpoint/2010/main" val="280693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5282" y="359764"/>
            <a:ext cx="5973761" cy="4256405"/>
          </a:xfrm>
        </p:spPr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zh-CN" altLang="en-US" dirty="0">
                <a:solidFill>
                  <a:schemeClr val="tx1"/>
                </a:solidFill>
              </a:rPr>
              <a:t>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快速入门 </a:t>
            </a:r>
            <a:r>
              <a:rPr lang="en-US" altLang="zh-CN" dirty="0">
                <a:solidFill>
                  <a:schemeClr val="tx1"/>
                </a:solidFill>
              </a:rPr>
              <a:t>Mapper </a:t>
            </a:r>
            <a:r>
              <a:rPr lang="zh-CN" altLang="en-US" dirty="0">
                <a:solidFill>
                  <a:schemeClr val="tx1"/>
                </a:solidFill>
              </a:rPr>
              <a:t>代理开发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rgbClr val="C00000"/>
                </a:solidFill>
              </a:rPr>
              <a:t>MyBatis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核心配置文件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编写会话工具类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 err="1"/>
              <a:t>My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kumimoji="1" lang="en-US" altLang="zh-CN" dirty="0" err="1"/>
              <a:t>atis</a:t>
            </a:r>
            <a:r>
              <a:rPr kumimoji="1" lang="zh-CN" altLang="en-US" dirty="0"/>
              <a:t>映射文件配置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1684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23946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/>
              <a:t>Mybatis</a:t>
            </a:r>
            <a:r>
              <a:rPr lang="zh-CN" altLang="en-US" b="1"/>
              <a:t>全局配置介绍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78002" y="1157799"/>
            <a:ext cx="91418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mybatis-config.xml，是MyBatis的全局配置文件，包含全局配置信息，如数据库连接参数、插件等。整个框架中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只需要一个即可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。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矩形 6"/>
          <p:cNvSpPr/>
          <p:nvPr/>
        </p:nvSpPr>
        <p:spPr>
          <a:xfrm>
            <a:off x="778002" y="1742574"/>
            <a:ext cx="50559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参考</a:t>
            </a:r>
            <a:r>
              <a:rPr lang="en-US" altLang="zh-CN" sz="1600" dirty="0"/>
              <a:t>:https://mybatis.org/mybatis-3/</a:t>
            </a:r>
            <a:r>
              <a:rPr lang="en-US" altLang="zh-CN" sz="1600" dirty="0" err="1"/>
              <a:t>zh</a:t>
            </a:r>
            <a:r>
              <a:rPr lang="en-US" altLang="zh-CN" sz="1600" dirty="0"/>
              <a:t>/configuration.html</a:t>
            </a: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57" y="2138994"/>
            <a:ext cx="8056616" cy="422972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76057" y="6368718"/>
            <a:ext cx="68409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说明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: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上述标签在实际使用过程中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要严格遵循使用顺序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否则报错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;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23946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1 properties(</a:t>
            </a:r>
            <a:r>
              <a:rPr lang="zh-CN" altLang="en-US" b="1" dirty="0"/>
              <a:t>属性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929328" y="1184887"/>
            <a:ext cx="4486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1.</a:t>
            </a:r>
            <a:r>
              <a:rPr lang="zh-CN" altLang="en-US" sz="1600" dirty="0"/>
              <a:t>作用：</a:t>
            </a:r>
            <a:endParaRPr lang="en-US" altLang="zh-CN" sz="1600" dirty="0"/>
          </a:p>
          <a:p>
            <a:r>
              <a:rPr lang="zh-CN" altLang="en-US" sz="1600" dirty="0"/>
              <a:t>加载外部的</a:t>
            </a:r>
            <a:r>
              <a:rPr lang="en-US" altLang="zh-CN" sz="1600" dirty="0"/>
              <a:t>java</a:t>
            </a:r>
            <a:r>
              <a:rPr lang="zh-CN" altLang="en-US" sz="1600" dirty="0"/>
              <a:t>资源文件（</a:t>
            </a:r>
            <a:r>
              <a:rPr lang="en-US" altLang="zh-CN" sz="1600" dirty="0"/>
              <a:t>properties</a:t>
            </a:r>
            <a:r>
              <a:rPr lang="zh-CN" altLang="en-US" sz="1600" dirty="0"/>
              <a:t>文件）；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2433F2-65EA-4EDA-81AC-C9D32A64CF44}"/>
              </a:ext>
            </a:extLst>
          </p:cNvPr>
          <p:cNvSpPr/>
          <p:nvPr/>
        </p:nvSpPr>
        <p:spPr>
          <a:xfrm>
            <a:off x="929328" y="2100651"/>
            <a:ext cx="4099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使用</a:t>
            </a:r>
            <a:r>
              <a:rPr lang="en-US" altLang="zh-CN" dirty="0"/>
              <a:t>&lt;properties&gt;</a:t>
            </a:r>
            <a:r>
              <a:rPr lang="zh-CN" altLang="en-US" dirty="0"/>
              <a:t>标签的方式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1F2F56-1050-4E30-8E4E-5BEED05F5182}"/>
              </a:ext>
            </a:extLst>
          </p:cNvPr>
          <p:cNvSpPr/>
          <p:nvPr/>
        </p:nvSpPr>
        <p:spPr>
          <a:xfrm>
            <a:off x="929328" y="2447856"/>
            <a:ext cx="623347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通过</a:t>
            </a:r>
            <a:r>
              <a:rPr lang="en-US" altLang="zh-CN" sz="1600" dirty="0"/>
              <a:t>properties</a:t>
            </a:r>
            <a:r>
              <a:rPr lang="zh-CN" altLang="en-US" sz="1600" dirty="0"/>
              <a:t>标签 </a:t>
            </a:r>
            <a:r>
              <a:rPr lang="en-US" altLang="zh-CN" sz="1600" dirty="0"/>
              <a:t>resource</a:t>
            </a:r>
            <a:r>
              <a:rPr lang="zh-CN" altLang="en-US" sz="1600" dirty="0"/>
              <a:t>属性引入加载外部</a:t>
            </a:r>
            <a:r>
              <a:rPr lang="en-US" altLang="zh-CN" sz="1600" dirty="0"/>
              <a:t>properties</a:t>
            </a:r>
            <a:r>
              <a:rPr lang="zh-CN" altLang="en-US" sz="1600" dirty="0"/>
              <a:t>文件</a:t>
            </a:r>
            <a:r>
              <a:rPr lang="en-US" altLang="zh-CN" sz="1600" dirty="0"/>
              <a:t>;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使用</a:t>
            </a:r>
            <a:r>
              <a:rPr lang="en-US" altLang="zh-CN" sz="1600" dirty="0"/>
              <a:t>${key}</a:t>
            </a:r>
            <a:r>
              <a:rPr lang="zh-CN" altLang="en-US" sz="1600" dirty="0"/>
              <a:t>获取设置的属性值；</a:t>
            </a:r>
            <a:endParaRPr lang="en-US" altLang="zh-CN" sz="1600" dirty="0"/>
          </a:p>
          <a:p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23946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1 properties(</a:t>
            </a:r>
            <a:r>
              <a:rPr lang="zh-CN" altLang="en-US" b="1" dirty="0"/>
              <a:t>属性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778002" y="1184887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练习</a:t>
            </a:r>
          </a:p>
        </p:txBody>
      </p:sp>
      <p:sp>
        <p:nvSpPr>
          <p:cNvPr id="7" name="矩形 6"/>
          <p:cNvSpPr/>
          <p:nvPr/>
        </p:nvSpPr>
        <p:spPr>
          <a:xfrm>
            <a:off x="984747" y="1587911"/>
            <a:ext cx="8222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2.</a:t>
            </a:r>
            <a:r>
              <a:rPr lang="zh-CN" altLang="en-US"/>
              <a:t>核心配置文件通过</a:t>
            </a:r>
            <a:r>
              <a:rPr lang="en-US" altLang="zh-CN"/>
              <a:t>&lt;properties&gt;</a:t>
            </a:r>
            <a:r>
              <a:rPr lang="zh-CN" altLang="en-US"/>
              <a:t>表中的</a:t>
            </a:r>
            <a:r>
              <a:rPr lang="en-US" altLang="zh-CN"/>
              <a:t>resource</a:t>
            </a:r>
            <a:r>
              <a:rPr lang="zh-CN" altLang="en-US"/>
              <a:t>属性引入外部</a:t>
            </a:r>
            <a:r>
              <a:rPr lang="en-US" altLang="zh-CN"/>
              <a:t>jdbc.properties</a:t>
            </a:r>
            <a:r>
              <a:rPr lang="zh-CN" altLang="en-US"/>
              <a:t>文件</a:t>
            </a:r>
            <a:r>
              <a:rPr lang="en-US" altLang="zh-CN"/>
              <a:t>;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84747" y="1957243"/>
            <a:ext cx="3813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第一步</a:t>
            </a:r>
            <a:r>
              <a:rPr lang="en-US" altLang="zh-CN"/>
              <a:t>:</a:t>
            </a:r>
            <a:r>
              <a:rPr lang="zh-CN" altLang="en-US"/>
              <a:t>创建</a:t>
            </a:r>
            <a:r>
              <a:rPr lang="en-US" altLang="zh-CN"/>
              <a:t>jdbc.properties</a:t>
            </a:r>
            <a:r>
              <a:rPr lang="zh-CN" altLang="en-US"/>
              <a:t>配置文件</a:t>
            </a:r>
            <a:r>
              <a:rPr lang="en-US" altLang="zh-CN"/>
              <a:t>:</a:t>
            </a:r>
            <a:endParaRPr lang="zh-CN" alt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226127" y="2326575"/>
            <a:ext cx="5001491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3080"/>
                </a:solidFill>
                <a:effectLst/>
                <a:latin typeface="Arial Unicode MS" charset="0"/>
                <a:ea typeface="JetBrains Mono"/>
              </a:rPr>
              <a:t>jdbc.driverClass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com.mysql.jdbc.Driver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3080"/>
                </a:solidFill>
                <a:effectLst/>
                <a:latin typeface="Arial Unicode MS" charset="0"/>
                <a:ea typeface="JetBrains Mono"/>
              </a:rPr>
              <a:t>jdbc.url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jdbc:mysql:///day06_1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3080"/>
                </a:solidFill>
                <a:effectLst/>
                <a:latin typeface="Arial Unicode MS" charset="0"/>
                <a:ea typeface="JetBrains Mono"/>
              </a:rPr>
              <a:t>jdbc.userName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root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3080"/>
                </a:solidFill>
                <a:effectLst/>
                <a:latin typeface="Arial Unicode MS" charset="0"/>
                <a:ea typeface="JetBrains Mono"/>
              </a:rPr>
              <a:t>jdbc.password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1234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84747" y="3280682"/>
            <a:ext cx="3017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第二步</a:t>
            </a:r>
            <a:r>
              <a:rPr lang="en-US" altLang="zh-CN"/>
              <a:t>:</a:t>
            </a:r>
            <a:r>
              <a:rPr lang="zh-CN" altLang="en-US"/>
              <a:t>引入外部的配置文件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171731" y="3664836"/>
            <a:ext cx="4001920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properties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resource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="jdbc.properties"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/&gt;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84747" y="3987435"/>
            <a:ext cx="2133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第三步</a:t>
            </a:r>
            <a:r>
              <a:rPr lang="en-US" altLang="zh-CN"/>
              <a:t>:</a:t>
            </a:r>
            <a:r>
              <a:rPr lang="zh-CN" altLang="en-US"/>
              <a:t>加载</a:t>
            </a:r>
            <a:r>
              <a:rPr lang="en-US" altLang="zh-CN"/>
              <a:t>value</a:t>
            </a:r>
            <a:r>
              <a:rPr lang="zh-CN" altLang="en-US"/>
              <a:t>值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171731" y="4386714"/>
            <a:ext cx="5375564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dataSource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type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="POOLED"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property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name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="driver"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value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="${jdbc.driverClass}"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/&gt;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property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name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="url"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value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="${jdbc.url}"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/&gt;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property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name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="username"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value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="${jdbc.userName}"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/&gt;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property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name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="password"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value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="${jdbc.password}"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/&gt;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&lt;/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dataSource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3" grpId="0"/>
      <p:bldP spid="14" grpId="0" animBg="1"/>
      <p:bldP spid="15" grpId="0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A19FCC-D794-4F48-B60D-E526DED63B72}"/>
              </a:ext>
            </a:extLst>
          </p:cNvPr>
          <p:cNvSpPr/>
          <p:nvPr/>
        </p:nvSpPr>
        <p:spPr>
          <a:xfrm>
            <a:off x="4523151" y="1583402"/>
            <a:ext cx="2362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1.properties</a:t>
            </a:r>
            <a:r>
              <a:rPr lang="zh-CN" altLang="en-US" dirty="0"/>
              <a:t>标签作用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3B4316-5746-4E5A-9F35-7C5DA42C95AE}"/>
              </a:ext>
            </a:extLst>
          </p:cNvPr>
          <p:cNvSpPr/>
          <p:nvPr/>
        </p:nvSpPr>
        <p:spPr>
          <a:xfrm>
            <a:off x="4817042" y="1952734"/>
            <a:ext cx="1632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定义全局变量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;</a:t>
            </a: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9B3C5A-C22A-4772-A965-53C249295486}"/>
              </a:ext>
            </a:extLst>
          </p:cNvPr>
          <p:cNvSpPr/>
          <p:nvPr/>
        </p:nvSpPr>
        <p:spPr>
          <a:xfrm>
            <a:off x="4523151" y="2349154"/>
            <a:ext cx="2436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定义全局变量方式？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7F853D-18F3-405A-BCF5-CC19AA48E964}"/>
              </a:ext>
            </a:extLst>
          </p:cNvPr>
          <p:cNvSpPr/>
          <p:nvPr/>
        </p:nvSpPr>
        <p:spPr>
          <a:xfrm>
            <a:off x="4817042" y="2718486"/>
            <a:ext cx="51072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外部引入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推荐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  <a:p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&lt;properties resource="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外部配置文件路径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"/&gt;</a:t>
            </a: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77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23946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2 settings(</a:t>
            </a:r>
            <a:r>
              <a:rPr lang="zh-CN" altLang="en-US" b="1" dirty="0"/>
              <a:t>设置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039089" y="1157799"/>
            <a:ext cx="82573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en-US" altLang="zh-CN" dirty="0" err="1"/>
              <a:t>settinngs</a:t>
            </a:r>
            <a:r>
              <a:rPr lang="zh-CN" altLang="en-US" dirty="0"/>
              <a:t>是 </a:t>
            </a:r>
            <a:r>
              <a:rPr lang="en-US" altLang="zh-CN" dirty="0" err="1"/>
              <a:t>MyBatis</a:t>
            </a:r>
            <a:r>
              <a:rPr lang="en-US" altLang="zh-CN" dirty="0"/>
              <a:t> </a:t>
            </a:r>
            <a:r>
              <a:rPr lang="zh-CN" altLang="en-US" dirty="0"/>
              <a:t>中极为重要的调整设置，它们会改变 </a:t>
            </a:r>
            <a:r>
              <a:rPr lang="en-US" altLang="zh-CN" dirty="0" err="1"/>
              <a:t>MyBatis</a:t>
            </a:r>
            <a:r>
              <a:rPr lang="en-US" altLang="zh-CN" dirty="0"/>
              <a:t> </a:t>
            </a:r>
            <a:r>
              <a:rPr lang="zh-CN" altLang="en-US" dirty="0"/>
              <a:t>的运行时行为。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88" y="1554219"/>
            <a:ext cx="7817457" cy="398208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99688" y="5563390"/>
            <a:ext cx="79386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说明：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settings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参数有很多，我们先学习驼峰匹配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</a:rPr>
              <a:t>mapUnderscoreToCamelCase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翻译过来就是映射下划线到驼峰式命名。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23946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2 settings(</a:t>
            </a:r>
            <a:r>
              <a:rPr lang="zh-CN" altLang="en-US" b="1" dirty="0"/>
              <a:t>设置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039089" y="1157799"/>
            <a:ext cx="748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练习：</a:t>
            </a:r>
          </a:p>
        </p:txBody>
      </p:sp>
      <p:sp>
        <p:nvSpPr>
          <p:cNvPr id="4" name="矩形 3"/>
          <p:cNvSpPr/>
          <p:nvPr/>
        </p:nvSpPr>
        <p:spPr>
          <a:xfrm>
            <a:off x="1233053" y="1557971"/>
            <a:ext cx="84374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修改数据库</a:t>
            </a:r>
            <a:r>
              <a:rPr lang="en-US" altLang="zh-CN"/>
              <a:t>username</a:t>
            </a:r>
            <a:r>
              <a:rPr lang="zh-CN" altLang="en-US"/>
              <a:t>字段名称为</a:t>
            </a:r>
            <a:r>
              <a:rPr lang="en-US" altLang="zh-CN"/>
              <a:t>user_name,</a:t>
            </a:r>
            <a:r>
              <a:rPr lang="zh-CN" altLang="en-US"/>
              <a:t>并建立与</a:t>
            </a:r>
            <a:r>
              <a:rPr lang="en-US" altLang="zh-CN"/>
              <a:t>pojo</a:t>
            </a:r>
            <a:r>
              <a:rPr lang="zh-CN" altLang="en-US"/>
              <a:t>映射关系</a:t>
            </a:r>
            <a:r>
              <a:rPr lang="en-US" altLang="zh-CN"/>
              <a:t>,</a:t>
            </a:r>
            <a:r>
              <a:rPr lang="zh-CN" altLang="en-US"/>
              <a:t>配置驼峰映射；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13162" y="2265795"/>
            <a:ext cx="3352802" cy="2031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private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Integer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id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//username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userName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都可以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private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username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private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Date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birthday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private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sex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private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address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i="1" dirty="0">
                <a:solidFill>
                  <a:srgbClr val="8C5C17"/>
                </a:solidFill>
                <a:latin typeface="Arial Unicode MS" charset="0"/>
                <a:ea typeface="JetBrains Mono"/>
              </a:rPr>
              <a:t>   </a:t>
            </a:r>
            <a:r>
              <a:rPr lang="zh-CN" altLang="zh-CN" sz="1400" i="1" dirty="0">
                <a:solidFill>
                  <a:srgbClr val="8C5C17"/>
                </a:solidFill>
                <a:latin typeface="Arial Unicode MS" charset="0"/>
                <a:ea typeface="JetBrains Mono"/>
              </a:rPr>
              <a:t>//</a:t>
            </a:r>
            <a:r>
              <a:rPr lang="en-US" altLang="zh-CN" sz="1400" i="1" dirty="0">
                <a:solidFill>
                  <a:srgbClr val="8C5C17"/>
                </a:solidFill>
                <a:latin typeface="Arial Unicode MS" charset="0"/>
                <a:ea typeface="JetBrains Mono"/>
              </a:rPr>
              <a:t>setter and getter and </a:t>
            </a:r>
            <a:r>
              <a:rPr lang="en-US" altLang="zh-CN" sz="1400" i="1" dirty="0" err="1">
                <a:solidFill>
                  <a:srgbClr val="8C5C17"/>
                </a:solidFill>
                <a:latin typeface="Arial Unicode MS" charset="0"/>
                <a:ea typeface="JetBrains Mono"/>
              </a:rPr>
              <a:t>toString</a:t>
            </a:r>
            <a:endParaRPr lang="en-US" altLang="zh-CN" sz="1400" i="1" dirty="0">
              <a:solidFill>
                <a:srgbClr val="8C5C17"/>
              </a:solidFill>
              <a:latin typeface="Arial Unicode MS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i="1" dirty="0">
                <a:latin typeface="Arial Unicode MS" charset="0"/>
                <a:ea typeface="宋体" panose="02010600030101010101" pitchFamily="2" charset="-122"/>
              </a:rPr>
              <a:t>}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33053" y="1896463"/>
            <a:ext cx="854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1)pojo: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33053" y="4336613"/>
            <a:ext cx="2218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设置开启驼峰映射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1413162" y="4699272"/>
            <a:ext cx="573578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settings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&lt;!--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开启驼峰映射：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    table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字段名称：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aa_bb_cc_dd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自动变成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aabbccdd/aaBaCcDa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--&gt;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setting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name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="mapUnderscoreToCamelCase"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value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=“</a:t>
            </a:r>
            <a:r>
              <a:rPr lang="en-US" altLang="zh-CN" sz="1400">
                <a:solidFill>
                  <a:srgbClr val="067D17"/>
                </a:solidFill>
                <a:latin typeface="Arial Unicode MS" charset="0"/>
                <a:ea typeface="JetBrains Mono"/>
              </a:rPr>
              <a:t>true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/&gt;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&lt;/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settings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33053" y="6084267"/>
            <a:ext cx="4065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3)</a:t>
            </a:r>
            <a:r>
              <a:rPr lang="zh-CN" altLang="en-US"/>
              <a:t>运行测试方法，可获取用户名信息；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/>
      <p:bldP spid="11" grpId="0"/>
      <p:bldP spid="12" grpId="0" animBg="1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E2FFCC-570F-4B83-BDEC-F708FD831902}"/>
              </a:ext>
            </a:extLst>
          </p:cNvPr>
          <p:cNvSpPr/>
          <p:nvPr/>
        </p:nvSpPr>
        <p:spPr>
          <a:xfrm>
            <a:off x="4344430" y="2065989"/>
            <a:ext cx="960120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1)</a:t>
            </a:r>
            <a:r>
              <a:rPr lang="zh-CN" altLang="en-US" dirty="0"/>
              <a:t>配置</a:t>
            </a:r>
          </a:p>
          <a:p>
            <a:r>
              <a:rPr lang="en-US" altLang="zh-CN" dirty="0"/>
              <a:t>&lt;</a:t>
            </a:r>
            <a:r>
              <a:rPr lang="en-US" altLang="zh-CN" dirty="0" err="1"/>
              <a:t>setttings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        &lt;setting name="</a:t>
            </a:r>
            <a:r>
              <a:rPr lang="en-US" altLang="zh-CN" dirty="0" err="1"/>
              <a:t>mapUnderscoreToCamelCase</a:t>
            </a:r>
            <a:r>
              <a:rPr lang="en-US" altLang="zh-CN" dirty="0"/>
              <a:t>" value="true"/&gt;</a:t>
            </a:r>
          </a:p>
          <a:p>
            <a:r>
              <a:rPr lang="en-US" altLang="zh-CN" dirty="0"/>
              <a:t>&lt;/</a:t>
            </a:r>
            <a:r>
              <a:rPr lang="en-US" altLang="zh-CN" dirty="0" err="1"/>
              <a:t>setttings</a:t>
            </a:r>
            <a:r>
              <a:rPr lang="en-US" altLang="zh-CN" dirty="0"/>
              <a:t>&gt;</a:t>
            </a:r>
          </a:p>
          <a:p>
            <a:endParaRPr lang="en-US" altLang="zh-CN" dirty="0"/>
          </a:p>
          <a:p>
            <a:r>
              <a:rPr lang="en-US" altLang="zh-CN" dirty="0"/>
              <a:t>2)</a:t>
            </a:r>
            <a:r>
              <a:rPr lang="zh-CN" altLang="en-US" dirty="0"/>
              <a:t>作用</a:t>
            </a:r>
          </a:p>
          <a:p>
            <a:r>
              <a:rPr lang="zh-CN" altLang="en-US" dirty="0"/>
              <a:t>自动将表中字段比如</a:t>
            </a:r>
            <a:r>
              <a:rPr lang="en-US" altLang="zh-CN" dirty="0"/>
              <a:t>:</a:t>
            </a:r>
            <a:r>
              <a:rPr lang="en-US" altLang="zh-CN" dirty="0" err="1"/>
              <a:t>user_name</a:t>
            </a:r>
            <a:r>
              <a:rPr lang="en-US" altLang="zh-CN" dirty="0"/>
              <a:t> </a:t>
            </a:r>
            <a:r>
              <a:rPr lang="zh-CN" altLang="en-US" dirty="0"/>
              <a:t>映射到</a:t>
            </a:r>
            <a:r>
              <a:rPr lang="en-US" altLang="zh-CN" dirty="0" err="1"/>
              <a:t>pojo</a:t>
            </a:r>
            <a:r>
              <a:rPr lang="zh-CN" altLang="en-US" dirty="0"/>
              <a:t>属性</a:t>
            </a:r>
            <a:r>
              <a:rPr lang="en-US" altLang="zh-CN" dirty="0"/>
              <a:t>:</a:t>
            </a:r>
            <a:r>
              <a:rPr lang="en-US" altLang="zh-CN" dirty="0" err="1"/>
              <a:t>userName</a:t>
            </a:r>
            <a:r>
              <a:rPr lang="en-US" altLang="zh-CN" dirty="0"/>
              <a:t>,</a:t>
            </a:r>
          </a:p>
          <a:p>
            <a:r>
              <a:rPr lang="zh-CN" altLang="en-US" dirty="0"/>
              <a:t>无需给</a:t>
            </a:r>
            <a:r>
              <a:rPr lang="en-US" altLang="zh-CN" dirty="0" err="1"/>
              <a:t>sql</a:t>
            </a:r>
            <a:r>
              <a:rPr lang="zh-CN" altLang="en-US" dirty="0"/>
              <a:t>中字段取别名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A5053C-AEB9-4F74-A4F0-BF369C7C880C}"/>
              </a:ext>
            </a:extLst>
          </p:cNvPr>
          <p:cNvSpPr/>
          <p:nvPr/>
        </p:nvSpPr>
        <p:spPr>
          <a:xfrm>
            <a:off x="4122757" y="1638728"/>
            <a:ext cx="3751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 </a:t>
            </a:r>
            <a:r>
              <a:rPr lang="en-US" altLang="zh-CN" dirty="0"/>
              <a:t>1.</a:t>
            </a:r>
            <a:r>
              <a:rPr lang="zh-CN" altLang="en-US" dirty="0"/>
              <a:t>开启驼峰自动映射的配置和作用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887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3336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3 </a:t>
            </a:r>
            <a:r>
              <a:rPr lang="en-US" altLang="zh-CN" b="1" dirty="0" err="1"/>
              <a:t>typeAliases</a:t>
            </a:r>
            <a:r>
              <a:rPr lang="en-US" altLang="zh-CN" b="1" dirty="0"/>
              <a:t>(</a:t>
            </a:r>
            <a:r>
              <a:rPr lang="zh-CN" altLang="en-US" b="1" dirty="0"/>
              <a:t>类型别名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039089" y="1157799"/>
            <a:ext cx="748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作用：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39089" y="1527131"/>
            <a:ext cx="991985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类型别名是给类的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全限定名称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(包名.类名) 取一个短名称。存在的意义仅在于用来减少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类完全限定名的冗余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。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89" y="1865686"/>
            <a:ext cx="6705602" cy="37740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83671" y="5726311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可以通过设置一些短名来代替全限定名</a:t>
            </a:r>
          </a:p>
        </p:txBody>
      </p:sp>
      <p:sp>
        <p:nvSpPr>
          <p:cNvPr id="10" name="矩形 9"/>
          <p:cNvSpPr/>
          <p:nvPr/>
        </p:nvSpPr>
        <p:spPr>
          <a:xfrm>
            <a:off x="1361563" y="6064865"/>
            <a:ext cx="8700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方式：使用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</a:rPr>
              <a:t>typeAliases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标签的子标签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package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包扫描映射别名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推荐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)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3336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3 </a:t>
            </a:r>
            <a:r>
              <a:rPr lang="en-US" altLang="zh-CN" b="1" dirty="0" err="1"/>
              <a:t>typeAliases</a:t>
            </a:r>
            <a:r>
              <a:rPr lang="en-US" altLang="zh-CN" b="1" dirty="0"/>
              <a:t>(</a:t>
            </a:r>
            <a:r>
              <a:rPr lang="zh-CN" altLang="en-US" b="1" dirty="0"/>
              <a:t>类型别名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039089" y="1157799"/>
            <a:ext cx="748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练习：</a:t>
            </a:r>
          </a:p>
        </p:txBody>
      </p:sp>
      <p:sp>
        <p:nvSpPr>
          <p:cNvPr id="7" name="矩形 6"/>
          <p:cNvSpPr/>
          <p:nvPr/>
        </p:nvSpPr>
        <p:spPr>
          <a:xfrm>
            <a:off x="1039089" y="1653931"/>
            <a:ext cx="56388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使用</a:t>
            </a:r>
            <a:r>
              <a:rPr lang="en-US" altLang="zh-CN" sz="1600" dirty="0" err="1"/>
              <a:t>typeAliases</a:t>
            </a:r>
            <a:r>
              <a:rPr lang="zh-CN" altLang="en-US" sz="1600" dirty="0"/>
              <a:t>标签的子标签</a:t>
            </a:r>
            <a:r>
              <a:rPr lang="en-US" altLang="zh-CN" sz="1600" dirty="0"/>
              <a:t>package</a:t>
            </a:r>
            <a:r>
              <a:rPr lang="zh-CN" altLang="en-US" sz="1600" dirty="0"/>
              <a:t>包扫描映射别名</a:t>
            </a:r>
          </a:p>
        </p:txBody>
      </p:sp>
      <p:sp>
        <p:nvSpPr>
          <p:cNvPr id="11" name="矩形 10"/>
          <p:cNvSpPr/>
          <p:nvPr/>
        </p:nvSpPr>
        <p:spPr>
          <a:xfrm>
            <a:off x="1413162" y="2119285"/>
            <a:ext cx="69549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&lt;!--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</a:rPr>
              <a:t>方式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2: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</a:rPr>
              <a:t>通过扫包取指定包下的</a:t>
            </a:r>
            <a:r>
              <a:rPr lang="en-US" altLang="zh-CN" sz="1600" dirty="0" err="1">
                <a:solidFill>
                  <a:schemeClr val="tx2">
                    <a:lumMod val="75000"/>
                  </a:schemeClr>
                </a:solidFill>
              </a:rPr>
              <a:t>pojo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</a:rPr>
              <a:t>类取别名 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</a:rPr>
              <a:t>推荐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)--&gt;</a:t>
            </a:r>
          </a:p>
          <a:p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    &lt;</a:t>
            </a:r>
            <a:r>
              <a:rPr lang="en-US" altLang="zh-CN" sz="1600" dirty="0" err="1">
                <a:solidFill>
                  <a:schemeClr val="tx2">
                    <a:lumMod val="75000"/>
                  </a:schemeClr>
                </a:solidFill>
              </a:rPr>
              <a:t>typeAliases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&gt;</a:t>
            </a:r>
          </a:p>
          <a:p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        &lt;!--package name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</a:rPr>
              <a:t>指定要取别名的包名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--&gt;</a:t>
            </a:r>
          </a:p>
          <a:p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        &lt;package name="</a:t>
            </a:r>
            <a:r>
              <a:rPr lang="en-US" altLang="zh-CN" sz="1600" dirty="0" err="1">
                <a:solidFill>
                  <a:schemeClr val="tx2">
                    <a:lumMod val="75000"/>
                  </a:schemeClr>
                </a:solidFill>
              </a:rPr>
              <a:t>com.heima.pojo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"/&gt;</a:t>
            </a:r>
          </a:p>
          <a:p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    &lt;/</a:t>
            </a:r>
            <a:r>
              <a:rPr lang="en-US" altLang="zh-CN" sz="1600" dirty="0" err="1">
                <a:solidFill>
                  <a:schemeClr val="tx2">
                    <a:lumMod val="75000"/>
                  </a:schemeClr>
                </a:solidFill>
              </a:rPr>
              <a:t>typeAliases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</a:rPr>
              <a:t>&gt;</a:t>
            </a:r>
            <a:endParaRPr lang="zh-CN" altLang="en-US" sz="1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3336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3 </a:t>
            </a:r>
            <a:r>
              <a:rPr lang="en-US" altLang="zh-CN" b="1" dirty="0" err="1"/>
              <a:t>typeAliases</a:t>
            </a:r>
            <a:r>
              <a:rPr lang="en-US" altLang="zh-CN" b="1" dirty="0"/>
              <a:t>(</a:t>
            </a:r>
            <a:r>
              <a:rPr lang="zh-CN" altLang="en-US" b="1" dirty="0"/>
              <a:t>类型别名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039090" y="1157799"/>
            <a:ext cx="1842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Mybatis</a:t>
            </a:r>
            <a:r>
              <a:rPr lang="zh-CN" altLang="en-US"/>
              <a:t>内置别名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528045" y="773991"/>
          <a:ext cx="4197848" cy="59908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09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186"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别名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映射的类型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_byte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byte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_long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long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_short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short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_int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int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_integer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int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_double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double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_float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float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_boolean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boolean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string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String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byte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Byte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long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Long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short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Short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Integer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integer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Integer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double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Double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float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Float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boolean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Boolean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date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Date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decimal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BigDecimal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bigdecimal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BigDecimal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object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Object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map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Map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hashmap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HashMap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list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List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arraylist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ArrayList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collection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Collection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5186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iterator</a:t>
                      </a:r>
                    </a:p>
                  </a:txBody>
                  <a:tcPr marL="31081" marR="31081" marT="15540" marB="155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Iterator</a:t>
                      </a:r>
                    </a:p>
                  </a:txBody>
                  <a:tcPr marL="31081" marR="31081" marT="15540" marB="15540"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92726" y="2569102"/>
            <a:ext cx="34220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右侧为常见的 </a:t>
            </a:r>
            <a:r>
              <a:rPr lang="en-US" altLang="zh-CN"/>
              <a:t>Java </a:t>
            </a:r>
            <a:r>
              <a:rPr lang="zh-CN" altLang="en-US"/>
              <a:t>类型内建的相应的类型别名。</a:t>
            </a:r>
            <a:endParaRPr lang="en-US" altLang="zh-CN"/>
          </a:p>
          <a:p>
            <a:r>
              <a:rPr lang="zh-CN" altLang="en-US"/>
              <a:t>它们都是不区分大小写的，注意对基本类型名称重复采取的特殊命名风格。</a:t>
            </a:r>
          </a:p>
        </p:txBody>
      </p:sp>
      <p:sp>
        <p:nvSpPr>
          <p:cNvPr id="10" name="右箭头 9"/>
          <p:cNvSpPr/>
          <p:nvPr/>
        </p:nvSpPr>
        <p:spPr>
          <a:xfrm>
            <a:off x="4267200" y="2951018"/>
            <a:ext cx="803564" cy="356748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78002" y="5129964"/>
            <a:ext cx="38771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说明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基本类型别名是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_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基本类型名称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;</a:t>
            </a:r>
          </a:p>
          <a:p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包装类型别名时包装类首字母小写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;</a:t>
            </a:r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2" name="矩形 1"/>
          <p:cNvSpPr/>
          <p:nvPr/>
        </p:nvSpPr>
        <p:spPr>
          <a:xfrm>
            <a:off x="710880" y="761379"/>
            <a:ext cx="3794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4 </a:t>
            </a:r>
            <a:r>
              <a:rPr lang="en-US" altLang="zh-CN" b="1" dirty="0" err="1"/>
              <a:t>typeHandlers</a:t>
            </a:r>
            <a:r>
              <a:rPr lang="zh-CN" altLang="en-US" b="1" dirty="0"/>
              <a:t>和</a:t>
            </a:r>
            <a:r>
              <a:rPr lang="en-US" altLang="zh-CN" b="1" dirty="0"/>
              <a:t>environments(</a:t>
            </a:r>
            <a:r>
              <a:rPr lang="zh-CN" altLang="en-US" b="1" dirty="0"/>
              <a:t>了解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891498" y="1130711"/>
            <a:ext cx="38419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1)typeHandlers(</a:t>
            </a:r>
            <a:r>
              <a:rPr lang="zh-CN" altLang="en-US"/>
              <a:t>类型处理器</a:t>
            </a:r>
            <a:r>
              <a:rPr lang="en-US" altLang="zh-CN"/>
              <a:t>)【</a:t>
            </a:r>
            <a:r>
              <a:rPr lang="zh-CN" altLang="en-US"/>
              <a:t>了解</a:t>
            </a:r>
            <a:r>
              <a:rPr lang="en-US" altLang="zh-CN"/>
              <a:t>】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80653" y="1500043"/>
            <a:ext cx="104852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bg2">
                    <a:lumMod val="25000"/>
                  </a:schemeClr>
                </a:solidFill>
              </a:rPr>
              <a:t>MyBatis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</a:rPr>
              <a:t>在设置预处理语句（</a:t>
            </a:r>
            <a:r>
              <a:rPr lang="en-US" altLang="zh-CN" sz="1600" dirty="0" err="1">
                <a:solidFill>
                  <a:schemeClr val="bg2">
                    <a:lumMod val="25000"/>
                  </a:schemeClr>
                </a:solidFill>
              </a:rPr>
              <a:t>PreparedStatement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</a:rPr>
              <a:t>）中的参数或从结果集中取出一个值时， 都会用类型处理器将获取到的值以合适的方式转换成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</a:rPr>
              <a:t>Java 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</a:rPr>
              <a:t>类型。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</a:rPr>
              <a:t>下表描述了一些默认的类型处理器。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3" y="2331040"/>
            <a:ext cx="8920758" cy="438015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057665" y="5387757"/>
            <a:ext cx="21343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说明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r>
              <a:rPr lang="en-US" altLang="zh-CN" sz="1600" dirty="0" err="1">
                <a:solidFill>
                  <a:schemeClr val="bg2">
                    <a:lumMod val="50000"/>
                  </a:schemeClr>
                </a:solidFill>
              </a:rPr>
              <a:t>mybatis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内置的一些类型处理器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,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企业开发中使用默认的类型处理器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;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2" name="矩形 1"/>
          <p:cNvSpPr/>
          <p:nvPr/>
        </p:nvSpPr>
        <p:spPr>
          <a:xfrm>
            <a:off x="710880" y="761379"/>
            <a:ext cx="3794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4 </a:t>
            </a:r>
            <a:r>
              <a:rPr lang="en-US" altLang="zh-CN" b="1" dirty="0" err="1"/>
              <a:t>typeHandlers</a:t>
            </a:r>
            <a:r>
              <a:rPr lang="zh-CN" altLang="en-US" b="1" dirty="0"/>
              <a:t>和</a:t>
            </a:r>
            <a:r>
              <a:rPr lang="en-US" altLang="zh-CN" b="1" dirty="0"/>
              <a:t>environments(</a:t>
            </a:r>
            <a:r>
              <a:rPr lang="zh-CN" altLang="en-US" b="1" dirty="0"/>
              <a:t>了解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891498" y="1130711"/>
            <a:ext cx="2592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2)environments【</a:t>
            </a:r>
            <a:r>
              <a:rPr lang="zh-CN" altLang="en-US" dirty="0"/>
              <a:t>了解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88480" y="1500043"/>
            <a:ext cx="107601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MyBatis</a:t>
            </a:r>
            <a:r>
              <a:rPr lang="en-US" altLang="zh-CN" sz="1600" dirty="0"/>
              <a:t> </a:t>
            </a:r>
            <a:r>
              <a:rPr lang="zh-CN" altLang="en-US" sz="1600" dirty="0"/>
              <a:t>可以配置成适应多种环境，例如，开发、测试和生产环境需要有不同的配置；</a:t>
            </a:r>
          </a:p>
          <a:p>
            <a:r>
              <a:rPr lang="zh-CN" altLang="en-US" sz="1600" dirty="0"/>
              <a:t>尽管可以配置多个环境，每个 </a:t>
            </a:r>
            <a:r>
              <a:rPr lang="en-US" altLang="zh-CN" sz="1600" dirty="0" err="1"/>
              <a:t>SqlSessionFactory</a:t>
            </a:r>
            <a:r>
              <a:rPr lang="en-US" altLang="zh-CN" sz="1600" dirty="0"/>
              <a:t> </a:t>
            </a:r>
            <a:r>
              <a:rPr lang="zh-CN" altLang="en-US" sz="1600" dirty="0"/>
              <a:t>实例只能选择其一。</a:t>
            </a:r>
          </a:p>
          <a:p>
            <a:r>
              <a:rPr lang="zh-CN" altLang="en-US" sz="1600" dirty="0"/>
              <a:t>虽然，这种方式也可以做到很方便的分离多个环境，但是实际使用场景下，我们更多的是选择使用</a:t>
            </a:r>
            <a:r>
              <a:rPr lang="en-US" altLang="zh-CN" sz="1600" dirty="0"/>
              <a:t>spring</a:t>
            </a:r>
            <a:r>
              <a:rPr lang="zh-CN" altLang="en-US" sz="1600" dirty="0"/>
              <a:t>来管理数据源，来做到环境的分离。</a:t>
            </a:r>
          </a:p>
        </p:txBody>
      </p:sp>
      <p:sp>
        <p:nvSpPr>
          <p:cNvPr id="7" name="矩形 6"/>
          <p:cNvSpPr/>
          <p:nvPr/>
        </p:nvSpPr>
        <p:spPr>
          <a:xfrm>
            <a:off x="1302326" y="2766799"/>
            <a:ext cx="55833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父标签： </a:t>
            </a:r>
            <a:r>
              <a:rPr lang="en-US" altLang="zh-CN" dirty="0"/>
              <a:t>environments</a:t>
            </a:r>
            <a:r>
              <a:rPr lang="zh-CN" altLang="en-US" dirty="0"/>
              <a:t>（环境配置）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子标签：</a:t>
            </a:r>
          </a:p>
          <a:p>
            <a:r>
              <a:rPr lang="zh-CN" altLang="en-US" dirty="0"/>
              <a:t>                </a:t>
            </a:r>
            <a:r>
              <a:rPr lang="en-US" altLang="zh-CN" dirty="0"/>
              <a:t>		environment</a:t>
            </a:r>
            <a:r>
              <a:rPr lang="zh-CN" altLang="en-US" dirty="0"/>
              <a:t>（环境变量）</a:t>
            </a:r>
          </a:p>
          <a:p>
            <a:r>
              <a:rPr lang="zh-CN" altLang="en-US" dirty="0"/>
              <a:t>               </a:t>
            </a:r>
            <a:r>
              <a:rPr lang="en-US" altLang="zh-CN" dirty="0"/>
              <a:t>		</a:t>
            </a:r>
            <a:r>
              <a:rPr lang="zh-CN" altLang="en-US" dirty="0"/>
              <a:t> </a:t>
            </a:r>
            <a:r>
              <a:rPr lang="en-US" altLang="zh-CN" dirty="0" err="1"/>
              <a:t>transactionManager</a:t>
            </a:r>
            <a:r>
              <a:rPr lang="zh-CN" altLang="en-US" dirty="0"/>
              <a:t>（事务管理器）</a:t>
            </a:r>
          </a:p>
          <a:p>
            <a:r>
              <a:rPr lang="zh-CN" altLang="en-US" dirty="0"/>
              <a:t>                </a:t>
            </a:r>
            <a:r>
              <a:rPr lang="en-US" altLang="zh-CN" dirty="0"/>
              <a:t>		</a:t>
            </a:r>
            <a:r>
              <a:rPr lang="en-US" altLang="zh-CN" dirty="0" err="1"/>
              <a:t>dataSource</a:t>
            </a:r>
            <a:r>
              <a:rPr lang="zh-CN" altLang="en-US" dirty="0"/>
              <a:t>（数据源）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2" name="矩形 1"/>
          <p:cNvSpPr/>
          <p:nvPr/>
        </p:nvSpPr>
        <p:spPr>
          <a:xfrm>
            <a:off x="710880" y="761379"/>
            <a:ext cx="2030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5 mappers(</a:t>
            </a:r>
            <a:r>
              <a:rPr lang="zh-CN" altLang="en-US" b="1" dirty="0"/>
              <a:t>映射器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891498" y="1130711"/>
            <a:ext cx="6432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Mappers</a:t>
            </a:r>
            <a:r>
              <a:rPr lang="zh-CN" altLang="en-US"/>
              <a:t>标签作用：提供了关联加载</a:t>
            </a:r>
            <a:r>
              <a:rPr lang="en-US" altLang="zh-CN"/>
              <a:t>xml</a:t>
            </a:r>
            <a:r>
              <a:rPr lang="zh-CN" altLang="en-US"/>
              <a:t>映射文件的配置功能；</a:t>
            </a:r>
          </a:p>
        </p:txBody>
      </p:sp>
      <p:sp>
        <p:nvSpPr>
          <p:cNvPr id="4" name="矩形 3"/>
          <p:cNvSpPr/>
          <p:nvPr/>
        </p:nvSpPr>
        <p:spPr>
          <a:xfrm>
            <a:off x="880048" y="164790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使用方式：</a:t>
            </a:r>
          </a:p>
        </p:txBody>
      </p:sp>
      <p:sp>
        <p:nvSpPr>
          <p:cNvPr id="9" name="矩形 8"/>
          <p:cNvSpPr/>
          <p:nvPr/>
        </p:nvSpPr>
        <p:spPr>
          <a:xfrm>
            <a:off x="443344" y="2017233"/>
            <a:ext cx="9531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​</a:t>
            </a:r>
          </a:p>
        </p:txBody>
      </p:sp>
      <p:sp>
        <p:nvSpPr>
          <p:cNvPr id="11" name="矩形 10"/>
          <p:cNvSpPr/>
          <p:nvPr/>
        </p:nvSpPr>
        <p:spPr>
          <a:xfrm>
            <a:off x="1080654" y="2155732"/>
            <a:ext cx="93313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、加载</a:t>
            </a:r>
            <a:r>
              <a:rPr lang="en-US" altLang="zh-CN" dirty="0"/>
              <a:t>XML</a:t>
            </a:r>
            <a:r>
              <a:rPr lang="zh-CN" altLang="en-US" dirty="0"/>
              <a:t>映射文件，关联</a:t>
            </a:r>
            <a:r>
              <a:rPr lang="en-US" altLang="zh-CN" dirty="0"/>
              <a:t>UserMapper.java</a:t>
            </a:r>
            <a:r>
              <a:rPr lang="zh-CN" altLang="en-US" dirty="0"/>
              <a:t>接口</a:t>
            </a:r>
          </a:p>
          <a:p>
            <a:r>
              <a:rPr lang="zh-CN" altLang="en-US" dirty="0"/>
              <a:t>​                        </a:t>
            </a:r>
            <a:r>
              <a:rPr lang="en-US" altLang="zh-CN" dirty="0">
                <a:solidFill>
                  <a:srgbClr val="FF0000"/>
                </a:solidFill>
              </a:rPr>
              <a:t>【1】&lt;mapper resource="UserMapper.xml"/&gt; </a:t>
            </a:r>
            <a:r>
              <a:rPr lang="zh-CN" altLang="en-US" dirty="0">
                <a:solidFill>
                  <a:srgbClr val="FF0000"/>
                </a:solidFill>
              </a:rPr>
              <a:t>从</a:t>
            </a:r>
            <a:r>
              <a:rPr lang="en-US" altLang="zh-CN" dirty="0">
                <a:solidFill>
                  <a:srgbClr val="FF0000"/>
                </a:solidFill>
              </a:rPr>
              <a:t>resources</a:t>
            </a:r>
            <a:r>
              <a:rPr lang="zh-CN" altLang="en-US" dirty="0">
                <a:solidFill>
                  <a:srgbClr val="FF0000"/>
                </a:solidFill>
              </a:rPr>
              <a:t>下加载映射文件；</a:t>
            </a:r>
          </a:p>
          <a:p>
            <a:r>
              <a:rPr lang="zh-CN" altLang="en-US" dirty="0"/>
              <a:t>​                        说明</a:t>
            </a:r>
            <a:r>
              <a:rPr lang="en-US" altLang="zh-CN" dirty="0"/>
              <a:t>:</a:t>
            </a:r>
            <a:r>
              <a:rPr lang="zh-CN" altLang="en-US" dirty="0"/>
              <a:t>如果项目采用基于</a:t>
            </a:r>
            <a:r>
              <a:rPr lang="en-US" altLang="zh-CN" dirty="0"/>
              <a:t>xml</a:t>
            </a:r>
            <a:r>
              <a:rPr lang="zh-CN" altLang="en-US" dirty="0"/>
              <a:t>的开发模式</a:t>
            </a:r>
            <a:r>
              <a:rPr lang="en-US" altLang="zh-CN" dirty="0"/>
              <a:t>,</a:t>
            </a:r>
            <a:r>
              <a:rPr lang="zh-CN" altLang="en-US" dirty="0"/>
              <a:t>建议使用方式</a:t>
            </a:r>
            <a:r>
              <a:rPr lang="en-US" altLang="zh-CN" dirty="0"/>
              <a:t>1</a:t>
            </a:r>
            <a:r>
              <a:rPr lang="zh-CN" altLang="en-US" dirty="0"/>
              <a:t>开发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80654" y="3576454"/>
            <a:ext cx="99752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、加载接口，关联映射文件</a:t>
            </a:r>
          </a:p>
          <a:p>
            <a:r>
              <a:rPr lang="zh-CN" altLang="en-US" dirty="0"/>
              <a:t>​                     </a:t>
            </a:r>
            <a:r>
              <a:rPr lang="zh-CN" altLang="en-US" dirty="0">
                <a:solidFill>
                  <a:srgbClr val="FF0000"/>
                </a:solidFill>
              </a:rPr>
              <a:t>条件：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、接口名和映射文件名保持一致；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、路径保持一致；</a:t>
            </a:r>
            <a:endParaRPr lang="en-US" altLang="zh-CN" dirty="0"/>
          </a:p>
          <a:p>
            <a:r>
              <a:rPr lang="en-US" altLang="zh-CN" dirty="0"/>
              <a:t>​                    </a:t>
            </a:r>
            <a:r>
              <a:rPr lang="en-US" altLang="zh-CN" dirty="0">
                <a:solidFill>
                  <a:srgbClr val="FF0000"/>
                </a:solidFill>
              </a:rPr>
              <a:t>【2】</a:t>
            </a:r>
            <a:r>
              <a:rPr lang="zh-CN" altLang="en-US" dirty="0">
                <a:solidFill>
                  <a:srgbClr val="FF0000"/>
                </a:solidFill>
              </a:rPr>
              <a:t>批量加载</a:t>
            </a:r>
            <a:r>
              <a:rPr lang="en-US" altLang="zh-CN" dirty="0">
                <a:solidFill>
                  <a:srgbClr val="FF0000"/>
                </a:solidFill>
              </a:rPr>
              <a:t>class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&lt;package name="</a:t>
            </a:r>
            <a:r>
              <a:rPr lang="en-US" altLang="zh-CN" dirty="0" err="1">
                <a:solidFill>
                  <a:srgbClr val="FF0000"/>
                </a:solidFill>
              </a:rPr>
              <a:t>com.heima.mybatis.dao</a:t>
            </a:r>
            <a:r>
              <a:rPr lang="en-US" altLang="zh-CN" dirty="0">
                <a:solidFill>
                  <a:srgbClr val="FF0000"/>
                </a:solidFill>
              </a:rPr>
              <a:t>"/&gt;</a:t>
            </a:r>
          </a:p>
          <a:p>
            <a:r>
              <a:rPr lang="en-US" altLang="zh-CN" dirty="0"/>
              <a:t>	    </a:t>
            </a:r>
            <a:r>
              <a:rPr lang="zh-CN" altLang="en-US" dirty="0"/>
              <a:t>说明</a:t>
            </a:r>
            <a:r>
              <a:rPr lang="en-US" altLang="zh-CN" dirty="0"/>
              <a:t>:</a:t>
            </a:r>
            <a:r>
              <a:rPr lang="zh-CN" altLang="en-US" dirty="0"/>
              <a:t>如果基于注解开发的开发的话</a:t>
            </a:r>
            <a:r>
              <a:rPr lang="en-US" altLang="zh-CN" dirty="0"/>
              <a:t>,</a:t>
            </a:r>
            <a:r>
              <a:rPr lang="zh-CN" altLang="en-US" dirty="0"/>
              <a:t>推荐使用方式</a:t>
            </a:r>
            <a:r>
              <a:rPr lang="en-US" altLang="zh-CN" dirty="0"/>
              <a:t>2</a:t>
            </a:r>
            <a:r>
              <a:rPr lang="zh-CN" altLang="en-US" dirty="0"/>
              <a:t>开发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</a:p>
        </p:txBody>
      </p:sp>
      <p:sp>
        <p:nvSpPr>
          <p:cNvPr id="2" name="矩形 1"/>
          <p:cNvSpPr/>
          <p:nvPr/>
        </p:nvSpPr>
        <p:spPr>
          <a:xfrm>
            <a:off x="710880" y="761379"/>
            <a:ext cx="2030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5 mappers(</a:t>
            </a:r>
            <a:r>
              <a:rPr lang="zh-CN" altLang="en-US" b="1" dirty="0"/>
              <a:t>映射器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891498" y="113071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练习：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919" y="6205507"/>
            <a:ext cx="505689" cy="50568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60117" y="1500043"/>
            <a:ext cx="6644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1)</a:t>
            </a:r>
            <a:r>
              <a:rPr lang="zh-CN" altLang="en-US" dirty="0">
                <a:solidFill>
                  <a:srgbClr val="FF0000"/>
                </a:solidFill>
              </a:rPr>
              <a:t>使用</a:t>
            </a:r>
            <a:r>
              <a:rPr lang="en-US" altLang="zh-CN" dirty="0">
                <a:solidFill>
                  <a:srgbClr val="FF0000"/>
                </a:solidFill>
              </a:rPr>
              <a:t>mapper</a:t>
            </a:r>
            <a:r>
              <a:rPr lang="zh-CN" altLang="en-US" dirty="0">
                <a:solidFill>
                  <a:srgbClr val="FF0000"/>
                </a:solidFill>
              </a:rPr>
              <a:t>下</a:t>
            </a:r>
            <a:r>
              <a:rPr lang="en-US" altLang="zh-CN" dirty="0">
                <a:solidFill>
                  <a:srgbClr val="FF0000"/>
                </a:solidFill>
              </a:rPr>
              <a:t>resource</a:t>
            </a:r>
            <a:r>
              <a:rPr lang="zh-CN" altLang="en-US" dirty="0">
                <a:solidFill>
                  <a:srgbClr val="FF0000"/>
                </a:solidFill>
              </a:rPr>
              <a:t>属性加载</a:t>
            </a:r>
            <a:r>
              <a:rPr lang="en-US" altLang="zh-CN" dirty="0">
                <a:solidFill>
                  <a:srgbClr val="FF0000"/>
                </a:solidFill>
              </a:rPr>
              <a:t>xml</a:t>
            </a:r>
            <a:r>
              <a:rPr lang="zh-CN" altLang="en-US" dirty="0">
                <a:solidFill>
                  <a:srgbClr val="FF0000"/>
                </a:solidFill>
              </a:rPr>
              <a:t>映射文件关联接口（掌握）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330079" y="1869375"/>
            <a:ext cx="5620095" cy="861774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 charset="0"/>
                <a:ea typeface="inherit"/>
              </a:rPr>
              <a:t>   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17700"/>
                </a:solidFill>
                <a:effectLst/>
                <a:latin typeface="Arial Unicode MS" charset="0"/>
                <a:ea typeface="inherit"/>
              </a:rPr>
              <a:t>&lt;mappers&gt;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Arial Unicode MS" charset="0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 charset="0"/>
                <a:ea typeface="inherit"/>
              </a:rPr>
              <a:t>       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AA5500"/>
                </a:solidFill>
                <a:effectLst/>
                <a:latin typeface="Arial Unicode MS" charset="0"/>
                <a:ea typeface="inherit"/>
              </a:rPr>
              <a:t>&lt;!--通过resource属性加载工程下相对路径下的映射文件--&gt;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 charset="0"/>
                <a:ea typeface="inherit"/>
              </a:rPr>
              <a:t>       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17700"/>
                </a:solidFill>
                <a:effectLst/>
                <a:latin typeface="Arial Unicode MS" charset="0"/>
                <a:ea typeface="inherit"/>
              </a:rPr>
              <a:t>&lt;mapper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 charset="0"/>
                <a:ea typeface="inherit"/>
              </a:rPr>
              <a:t>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CC"/>
                </a:solidFill>
                <a:effectLst/>
                <a:latin typeface="Arial Unicode MS" charset="0"/>
                <a:ea typeface="inherit"/>
              </a:rPr>
              <a:t>resource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 charset="0"/>
                <a:ea typeface="inherit"/>
              </a:rPr>
              <a:t>=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AA1111"/>
                </a:solidFill>
                <a:effectLst/>
                <a:latin typeface="Arial Unicode MS" charset="0"/>
                <a:ea typeface="inherit"/>
              </a:rPr>
              <a:t>"mapper/UserMapper.xml"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17700"/>
                </a:solidFill>
                <a:effectLst/>
                <a:latin typeface="Arial Unicode MS" charset="0"/>
                <a:ea typeface="inherit"/>
              </a:rPr>
              <a:t>/&gt;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Arial Unicode MS" charset="0"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 Unicode MS" charset="0"/>
                <a:ea typeface="inherit"/>
              </a:rPr>
              <a:t>   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17700"/>
                </a:solidFill>
                <a:effectLst/>
                <a:latin typeface="Arial Unicode MS" charset="0"/>
                <a:ea typeface="inherit"/>
              </a:rPr>
              <a:t>&lt;/mappers&gt;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3" name="矩形 12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 </a:t>
            </a:r>
          </a:p>
        </p:txBody>
      </p:sp>
      <p:sp>
        <p:nvSpPr>
          <p:cNvPr id="18" name="矩形 17"/>
          <p:cNvSpPr/>
          <p:nvPr/>
        </p:nvSpPr>
        <p:spPr>
          <a:xfrm>
            <a:off x="1060117" y="2941093"/>
            <a:ext cx="4739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2)</a:t>
            </a:r>
            <a:r>
              <a:rPr lang="zh-CN" altLang="en-US" dirty="0">
                <a:solidFill>
                  <a:srgbClr val="FF0000"/>
                </a:solidFill>
              </a:rPr>
              <a:t>加载接口，关联映射文件方式</a:t>
            </a:r>
            <a:r>
              <a:rPr lang="en-US" altLang="zh-CN" dirty="0">
                <a:solidFill>
                  <a:srgbClr val="FF0000"/>
                </a:solidFill>
              </a:rPr>
              <a:t>package(</a:t>
            </a:r>
            <a:r>
              <a:rPr lang="zh-CN" altLang="en-US" dirty="0">
                <a:solidFill>
                  <a:srgbClr val="FF0000"/>
                </a:solidFill>
              </a:rPr>
              <a:t>掌握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34501" y="3447242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</a:rPr>
              <a:t>前提条件：</a:t>
            </a:r>
          </a:p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</a:rPr>
              <a:t>、接口名和映射文件名保持一致；</a:t>
            </a:r>
          </a:p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</a:rPr>
              <a:t>、路径保持一致；</a:t>
            </a:r>
          </a:p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3.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</a:rPr>
              <a:t>映射文件中的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namespace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</a:rPr>
              <a:t>必须与接口的全限定名称一致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;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1365444" y="4450368"/>
            <a:ext cx="4128655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package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name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="com.itcast.mapper"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/&gt;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8" grpId="0"/>
      <p:bldP spid="19" grpId="0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989DAF-5EEB-4EB4-B64D-8CFB5454FF6E}"/>
              </a:ext>
            </a:extLst>
          </p:cNvPr>
          <p:cNvSpPr/>
          <p:nvPr/>
        </p:nvSpPr>
        <p:spPr>
          <a:xfrm>
            <a:off x="4202353" y="1453507"/>
            <a:ext cx="4613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开发中常用的</a:t>
            </a:r>
            <a:r>
              <a:rPr lang="en-US" altLang="zh-CN" dirty="0"/>
              <a:t>2</a:t>
            </a:r>
            <a:r>
              <a:rPr lang="zh-CN" altLang="en-US" dirty="0"/>
              <a:t>种加载</a:t>
            </a:r>
            <a:r>
              <a:rPr lang="en-US" altLang="zh-CN" dirty="0"/>
              <a:t>xml</a:t>
            </a:r>
            <a:r>
              <a:rPr lang="zh-CN" altLang="en-US" dirty="0"/>
              <a:t>映射文件的方式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19A59A-CE1E-47DA-A68D-7D21915B0C81}"/>
              </a:ext>
            </a:extLst>
          </p:cNvPr>
          <p:cNvSpPr/>
          <p:nvPr/>
        </p:nvSpPr>
        <p:spPr>
          <a:xfrm>
            <a:off x="4436594" y="1859647"/>
            <a:ext cx="523800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①通过</a:t>
            </a:r>
            <a:r>
              <a:rPr lang="en-US" altLang="zh-CN" sz="1600" dirty="0"/>
              <a:t>resource</a:t>
            </a:r>
            <a:r>
              <a:rPr lang="zh-CN" altLang="en-US" sz="1600" dirty="0"/>
              <a:t>属性</a:t>
            </a:r>
            <a:r>
              <a:rPr lang="en-US" altLang="zh-CN" sz="1600" dirty="0"/>
              <a:t>,</a:t>
            </a:r>
            <a:r>
              <a:rPr lang="zh-CN" altLang="en-US" sz="1600" dirty="0"/>
              <a:t>相对路径加载</a:t>
            </a:r>
            <a:r>
              <a:rPr lang="en-US" altLang="zh-CN" sz="1600" dirty="0"/>
              <a:t>(</a:t>
            </a:r>
            <a:r>
              <a:rPr lang="zh-CN" altLang="en-US" sz="1600" dirty="0"/>
              <a:t>基于</a:t>
            </a:r>
            <a:r>
              <a:rPr lang="en-US" altLang="zh-CN" sz="1600" dirty="0"/>
              <a:t>xml</a:t>
            </a:r>
            <a:r>
              <a:rPr lang="zh-CN" altLang="en-US" sz="1600" dirty="0"/>
              <a:t>开发推荐的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 err="1"/>
              <a:t>eg</a:t>
            </a:r>
            <a:r>
              <a:rPr lang="en-US" altLang="zh-CN" sz="1600" dirty="0"/>
              <a:t>:</a:t>
            </a:r>
          </a:p>
          <a:p>
            <a:r>
              <a:rPr lang="en-US" altLang="zh-CN" sz="1600" dirty="0"/>
              <a:t>&lt;mappers&gt;</a:t>
            </a:r>
          </a:p>
          <a:p>
            <a:r>
              <a:rPr lang="en-US" altLang="zh-CN" sz="1600" dirty="0"/>
              <a:t>          &lt;mapper resource="xml</a:t>
            </a:r>
            <a:r>
              <a:rPr lang="zh-CN" altLang="en-US" sz="1600" dirty="0"/>
              <a:t>的相对路径</a:t>
            </a:r>
            <a:r>
              <a:rPr lang="en-US" altLang="zh-CN" sz="1600" dirty="0"/>
              <a:t>"/&gt;</a:t>
            </a:r>
          </a:p>
          <a:p>
            <a:r>
              <a:rPr lang="en-US" altLang="zh-CN" sz="1600" dirty="0"/>
              <a:t>&lt;/mappers&gt;</a:t>
            </a:r>
          </a:p>
          <a:p>
            <a:endParaRPr lang="en-US" altLang="zh-CN" sz="1600" dirty="0"/>
          </a:p>
          <a:p>
            <a:r>
              <a:rPr lang="zh-CN" altLang="en-US" sz="1600" dirty="0"/>
              <a:t>②通过</a:t>
            </a:r>
            <a:r>
              <a:rPr lang="en-US" altLang="zh-CN" sz="1600" dirty="0"/>
              <a:t>package</a:t>
            </a:r>
            <a:r>
              <a:rPr lang="zh-CN" altLang="en-US" sz="1600" dirty="0"/>
              <a:t>扫包方式</a:t>
            </a:r>
            <a:r>
              <a:rPr lang="en-US" altLang="zh-CN" sz="1600" dirty="0"/>
              <a:t>(</a:t>
            </a:r>
            <a:r>
              <a:rPr lang="zh-CN" altLang="en-US" sz="1600" dirty="0"/>
              <a:t>基于注解开发推荐使用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 </a:t>
            </a:r>
            <a:r>
              <a:rPr lang="zh-CN" altLang="en-US" sz="1600" dirty="0"/>
              <a:t>约束条件</a:t>
            </a:r>
            <a:r>
              <a:rPr lang="en-US" altLang="zh-CN" sz="1600" dirty="0"/>
              <a:t>:</a:t>
            </a:r>
          </a:p>
          <a:p>
            <a:r>
              <a:rPr lang="en-US" altLang="zh-CN" sz="1600" dirty="0"/>
              <a:t>      1 </a:t>
            </a:r>
            <a:r>
              <a:rPr lang="zh-CN" altLang="en-US" sz="1600" dirty="0"/>
              <a:t>接口名称与</a:t>
            </a:r>
            <a:r>
              <a:rPr lang="en-US" altLang="zh-CN" sz="1600" dirty="0"/>
              <a:t>xml</a:t>
            </a:r>
            <a:r>
              <a:rPr lang="zh-CN" altLang="en-US" sz="1600" dirty="0"/>
              <a:t>映射文件名称要一致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  2 </a:t>
            </a:r>
            <a:r>
              <a:rPr lang="zh-CN" altLang="en-US" sz="1600" dirty="0"/>
              <a:t>接口路径与</a:t>
            </a:r>
            <a:r>
              <a:rPr lang="en-US" altLang="zh-CN" sz="1600" dirty="0"/>
              <a:t>xml</a:t>
            </a:r>
            <a:r>
              <a:rPr lang="zh-CN" altLang="en-US" sz="1600" dirty="0"/>
              <a:t>映射文件路径也要一致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 err="1"/>
              <a:t>eg</a:t>
            </a:r>
            <a:r>
              <a:rPr lang="en-US" altLang="zh-CN" sz="1600" dirty="0"/>
              <a:t>:</a:t>
            </a:r>
          </a:p>
          <a:p>
            <a:r>
              <a:rPr lang="en-US" altLang="zh-CN" sz="1600" dirty="0"/>
              <a:t>&lt;mappers&gt;</a:t>
            </a:r>
          </a:p>
          <a:p>
            <a:r>
              <a:rPr lang="en-US" altLang="zh-CN" sz="1600" dirty="0"/>
              <a:t>        &lt;package name="</a:t>
            </a:r>
            <a:r>
              <a:rPr lang="zh-CN" altLang="en-US" sz="1600" dirty="0"/>
              <a:t>接口的包路径</a:t>
            </a:r>
            <a:r>
              <a:rPr lang="en-US" altLang="zh-CN" sz="1600" dirty="0"/>
              <a:t>"/&gt;</a:t>
            </a:r>
          </a:p>
          <a:p>
            <a:r>
              <a:rPr lang="en-US" altLang="zh-CN" sz="1600" dirty="0"/>
              <a:t>&lt;/mappers&gt;</a:t>
            </a:r>
            <a:endParaRPr lang="zh-CN" altLang="en-US" sz="16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004BEA-4ACD-4C5F-8AE5-9E748DB21D14}"/>
              </a:ext>
            </a:extLst>
          </p:cNvPr>
          <p:cNvSpPr/>
          <p:nvPr/>
        </p:nvSpPr>
        <p:spPr>
          <a:xfrm>
            <a:off x="4209433" y="5435885"/>
            <a:ext cx="2846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基于</a:t>
            </a:r>
            <a:r>
              <a:rPr lang="en-US" altLang="zh-CN" dirty="0"/>
              <a:t>package</a:t>
            </a:r>
            <a:r>
              <a:rPr lang="zh-CN" altLang="en-US" dirty="0"/>
              <a:t>扫描的原理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FC82E9A7-28E2-40E7-BF14-551B64825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88" y="5971647"/>
            <a:ext cx="4991935" cy="36933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 charset="0"/>
                <a:ea typeface="inherit"/>
              </a:rPr>
              <a:t>通过package指定接口的路径之后,mybatis就会加载这个包下的接口,获取接口的名称,因为接口名称和路径与xml一致,所以也就获取xml映射文件;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407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5282" y="359764"/>
            <a:ext cx="5973761" cy="4256405"/>
          </a:xfrm>
        </p:spPr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zh-CN" altLang="en-US" dirty="0">
                <a:solidFill>
                  <a:schemeClr val="tx1"/>
                </a:solidFill>
              </a:rPr>
              <a:t>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快速入门 </a:t>
            </a:r>
            <a:r>
              <a:rPr lang="en-US" altLang="zh-CN" dirty="0">
                <a:solidFill>
                  <a:schemeClr val="tx1"/>
                </a:solidFill>
              </a:rPr>
              <a:t>Mapper </a:t>
            </a:r>
            <a:r>
              <a:rPr lang="zh-CN" altLang="en-US" dirty="0">
                <a:solidFill>
                  <a:schemeClr val="tx1"/>
                </a:solidFill>
              </a:rPr>
              <a:t>代理开发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核心配置文件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 err="1">
                <a:solidFill>
                  <a:srgbClr val="C00000"/>
                </a:solidFill>
              </a:rPr>
              <a:t>My</a:t>
            </a:r>
            <a:r>
              <a:rPr lang="en-US" altLang="zh-CN" dirty="0" err="1">
                <a:solidFill>
                  <a:srgbClr val="C00000"/>
                </a:solidFill>
              </a:rPr>
              <a:t>B</a:t>
            </a:r>
            <a:r>
              <a:rPr kumimoji="1" lang="en-US" altLang="zh-CN" dirty="0" err="1">
                <a:solidFill>
                  <a:srgbClr val="C00000"/>
                </a:solidFill>
              </a:rPr>
              <a:t>atis</a:t>
            </a:r>
            <a:r>
              <a:rPr kumimoji="1" lang="zh-CN" altLang="en-US" dirty="0">
                <a:solidFill>
                  <a:srgbClr val="C00000"/>
                </a:solidFill>
              </a:rPr>
              <a:t>映射文件配置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编写会话工具类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057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653302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映射文件配置</a:t>
            </a:r>
          </a:p>
        </p:txBody>
      </p:sp>
      <p:sp>
        <p:nvSpPr>
          <p:cNvPr id="5" name="矩形 4"/>
          <p:cNvSpPr/>
          <p:nvPr/>
        </p:nvSpPr>
        <p:spPr>
          <a:xfrm>
            <a:off x="817418" y="903146"/>
            <a:ext cx="96704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       Mapper</a:t>
            </a:r>
            <a:r>
              <a:rPr lang="zh-CN" altLang="en-US" dirty="0"/>
              <a:t>映射文件中定义了操作数据库的</a:t>
            </a:r>
            <a:r>
              <a:rPr lang="en-US" altLang="zh-CN" dirty="0" err="1"/>
              <a:t>sql</a:t>
            </a:r>
            <a:r>
              <a:rPr lang="en-US" altLang="zh-CN" dirty="0"/>
              <a:t>,</a:t>
            </a:r>
            <a:r>
              <a:rPr lang="zh-CN" altLang="en-US" dirty="0"/>
              <a:t>每一个</a:t>
            </a:r>
            <a:r>
              <a:rPr lang="en-US" altLang="zh-CN" dirty="0" err="1"/>
              <a:t>sql</a:t>
            </a:r>
            <a:r>
              <a:rPr lang="zh-CN" altLang="en-US" dirty="0"/>
              <a:t>都被包含在一个</a:t>
            </a:r>
            <a:r>
              <a:rPr lang="en-US" altLang="zh-CN" dirty="0"/>
              <a:t>statement</a:t>
            </a:r>
            <a:r>
              <a:rPr lang="zh-CN" altLang="en-US" dirty="0"/>
              <a:t>中。映射文件是</a:t>
            </a:r>
            <a:r>
              <a:rPr lang="en-US" altLang="zh-CN" dirty="0" err="1"/>
              <a:t>mybatis</a:t>
            </a:r>
            <a:r>
              <a:rPr lang="zh-CN" altLang="en-US" dirty="0"/>
              <a:t>操作数据库的核心。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     SQL </a:t>
            </a:r>
            <a:r>
              <a:rPr lang="zh-CN" altLang="en-US" dirty="0"/>
              <a:t>映射文件只有很少的几个顶级元素（按照应被定义的顺序列出）：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89" y="1826476"/>
            <a:ext cx="10420350" cy="31813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72404" y="5170254"/>
            <a:ext cx="98648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说明：</a:t>
            </a:r>
            <a:endParaRPr lang="en-US" altLang="zh-CN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映射文件中需要直接书写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SQL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语句对数据库进行操作，对数据库操作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SQL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语句主要有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CRUD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这四类。</a:t>
            </a:r>
            <a:endParaRPr lang="en-US" altLang="zh-CN">
              <a:solidFill>
                <a:schemeClr val="bg2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这四类对应到映射文件中的配置为四类标签：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`select`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，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`insert`,`update`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，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`delete` 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653302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映射文件配置</a:t>
            </a:r>
          </a:p>
        </p:txBody>
      </p:sp>
      <p:sp>
        <p:nvSpPr>
          <p:cNvPr id="5" name="矩形 4"/>
          <p:cNvSpPr/>
          <p:nvPr/>
        </p:nvSpPr>
        <p:spPr>
          <a:xfrm>
            <a:off x="791858" y="761379"/>
            <a:ext cx="17456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1.select</a:t>
            </a:r>
            <a:r>
              <a:rPr lang="zh-CN" altLang="en-US" dirty="0"/>
              <a:t>标签</a:t>
            </a:r>
          </a:p>
        </p:txBody>
      </p:sp>
      <p:sp>
        <p:nvSpPr>
          <p:cNvPr id="2" name="矩形 1"/>
          <p:cNvSpPr/>
          <p:nvPr/>
        </p:nvSpPr>
        <p:spPr>
          <a:xfrm>
            <a:off x="1121830" y="1130711"/>
            <a:ext cx="171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select</a:t>
            </a:r>
            <a:r>
              <a:rPr lang="zh-CN" altLang="en-US"/>
              <a:t>标签属性</a:t>
            </a:r>
            <a:r>
              <a:rPr lang="en-US" altLang="zh-CN"/>
              <a:t>: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21830" y="1647901"/>
          <a:ext cx="8853444" cy="177882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951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1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1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588"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属性名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是否必须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058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这条</a:t>
                      </a:r>
                      <a:r>
                        <a:rPr lang="en-US" altLang="zh-CN" sz="1600">
                          <a:effectLst/>
                        </a:rPr>
                        <a:t>SQL</a:t>
                      </a:r>
                      <a:r>
                        <a:rPr lang="zh-CN" altLang="en-US" sz="1600">
                          <a:effectLst/>
                        </a:rPr>
                        <a:t>语句的唯一标识，和接口的方法名一致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588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parameterType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入参类型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88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resultType/resultMap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返回值类型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791858" y="3574581"/>
            <a:ext cx="30267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1:</a:t>
            </a:r>
            <a:r>
              <a:rPr lang="zh-CN" altLang="en-US" dirty="0"/>
              <a:t>查询</a:t>
            </a:r>
            <a:r>
              <a:rPr lang="en-US" altLang="zh-CN" dirty="0"/>
              <a:t>id</a:t>
            </a:r>
            <a:r>
              <a:rPr lang="zh-CN" altLang="en-US" dirty="0"/>
              <a:t>是</a:t>
            </a:r>
            <a:r>
              <a:rPr lang="en-US" altLang="zh-CN" dirty="0"/>
              <a:t>1</a:t>
            </a:r>
            <a:r>
              <a:rPr lang="zh-CN" altLang="en-US" dirty="0"/>
              <a:t>的用户信息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368137" y="4031790"/>
            <a:ext cx="175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</a:t>
            </a:r>
            <a:r>
              <a:rPr lang="zh-CN" altLang="en-US"/>
              <a:t>定义接口方法</a:t>
            </a: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453918" y="4625324"/>
            <a:ext cx="4215244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i="1" dirty="0">
                <a:solidFill>
                  <a:srgbClr val="8C8C8C"/>
                </a:solidFill>
                <a:latin typeface="Arial Unicode MS"/>
                <a:ea typeface="JetBrains Mono"/>
              </a:rPr>
              <a:t> //</a:t>
            </a:r>
            <a:r>
              <a:rPr lang="zh-CN" altLang="en-US" sz="1600" i="1" dirty="0">
                <a:solidFill>
                  <a:srgbClr val="8C8C8C"/>
                </a:solidFill>
                <a:latin typeface="Arial Unicode MS"/>
                <a:ea typeface="JetBrains Mono"/>
              </a:rPr>
              <a:t>根据</a:t>
            </a:r>
            <a:r>
              <a:rPr lang="en-US" altLang="zh-CN" sz="1600" i="1" dirty="0">
                <a:solidFill>
                  <a:srgbClr val="8C8C8C"/>
                </a:solidFill>
                <a:latin typeface="Arial Unicode MS"/>
                <a:ea typeface="JetBrains Mono"/>
              </a:rPr>
              <a:t>id</a:t>
            </a:r>
            <a:r>
              <a:rPr lang="zh-CN" altLang="en-US" sz="1600" i="1" dirty="0">
                <a:solidFill>
                  <a:srgbClr val="8C8C8C"/>
                </a:solidFill>
                <a:latin typeface="Arial Unicode MS"/>
                <a:ea typeface="JetBrains Mono"/>
              </a:rPr>
              <a:t>查询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i="1" dirty="0">
                <a:latin typeface="Arial Unicode MS"/>
                <a:ea typeface="JetBrains Mono"/>
              </a:rPr>
              <a:t>User </a:t>
            </a:r>
            <a:r>
              <a:rPr lang="en-US" altLang="zh-CN" sz="1600" i="1" dirty="0" err="1">
                <a:latin typeface="Arial Unicode MS"/>
                <a:ea typeface="JetBrains Mono"/>
              </a:rPr>
              <a:t>queryById</a:t>
            </a:r>
            <a:r>
              <a:rPr lang="en-US" altLang="zh-CN" sz="1600" i="1" dirty="0">
                <a:latin typeface="Arial Unicode MS"/>
                <a:ea typeface="JetBrains Mono"/>
              </a:rPr>
              <a:t>(Integer id);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653302" cy="517190"/>
          </a:xfrm>
        </p:spPr>
        <p:txBody>
          <a:bodyPr/>
          <a:lstStyle/>
          <a:p>
            <a:r>
              <a:rPr kumimoji="1" lang="en-US" altLang="zh-CN"/>
              <a:t>7.Mybatis</a:t>
            </a:r>
            <a:r>
              <a:rPr kumimoji="1" lang="zh-CN" altLang="en-US"/>
              <a:t>映射文件配置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919" y="6205507"/>
            <a:ext cx="505689" cy="50568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10880" y="761379"/>
            <a:ext cx="29642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1:</a:t>
            </a:r>
            <a:r>
              <a:rPr lang="zh-CN" altLang="en-US" dirty="0"/>
              <a:t>查询</a:t>
            </a:r>
            <a:r>
              <a:rPr lang="en-US" altLang="zh-CN" dirty="0"/>
              <a:t>id</a:t>
            </a:r>
            <a:r>
              <a:rPr lang="zh-CN" altLang="en-US" dirty="0"/>
              <a:t>是</a:t>
            </a:r>
            <a:r>
              <a:rPr lang="en-US" altLang="zh-CN" dirty="0"/>
              <a:t>1</a:t>
            </a:r>
            <a:r>
              <a:rPr lang="zh-CN" altLang="en-US" dirty="0"/>
              <a:t>的用户信息</a:t>
            </a:r>
          </a:p>
        </p:txBody>
      </p:sp>
      <p:sp>
        <p:nvSpPr>
          <p:cNvPr id="9" name="矩形 8"/>
          <p:cNvSpPr/>
          <p:nvPr/>
        </p:nvSpPr>
        <p:spPr>
          <a:xfrm>
            <a:off x="1287159" y="1218588"/>
            <a:ext cx="2820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2)xml</a:t>
            </a:r>
            <a:r>
              <a:rPr lang="zh-CN" altLang="en-US"/>
              <a:t>文件</a:t>
            </a:r>
            <a:r>
              <a:rPr lang="en-US" altLang="zh-CN"/>
              <a:t>sql</a:t>
            </a:r>
            <a:r>
              <a:rPr lang="zh-CN" altLang="en-US"/>
              <a:t>绑定接口方法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53414" y="1629630"/>
            <a:ext cx="6637641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accent3"/>
                </a:solidFill>
                <a:latin typeface="Arial Unicode MS"/>
                <a:ea typeface="JetBrains Mono"/>
              </a:rPr>
              <a:t>&lt;select </a:t>
            </a:r>
            <a:r>
              <a:rPr lang="en-US" altLang="zh-CN" sz="1600" dirty="0">
                <a:solidFill>
                  <a:srgbClr val="080808"/>
                </a:solidFill>
                <a:latin typeface="Arial Unicode MS"/>
                <a:ea typeface="JetBrains Mono"/>
              </a:rPr>
              <a:t>id</a:t>
            </a:r>
            <a:r>
              <a:rPr lang="en-US" altLang="zh-CN" sz="1600" dirty="0">
                <a:solidFill>
                  <a:srgbClr val="C00000"/>
                </a:solidFill>
                <a:latin typeface="Arial Unicode MS"/>
                <a:ea typeface="JetBrains Mono"/>
              </a:rPr>
              <a:t>="</a:t>
            </a:r>
            <a:r>
              <a:rPr lang="en-US" altLang="zh-CN" sz="1600" dirty="0" err="1">
                <a:solidFill>
                  <a:srgbClr val="C00000"/>
                </a:solidFill>
                <a:latin typeface="Arial Unicode MS"/>
                <a:ea typeface="JetBrains Mono"/>
              </a:rPr>
              <a:t>queryById</a:t>
            </a:r>
            <a:r>
              <a:rPr lang="en-US" altLang="zh-CN" sz="1600" dirty="0">
                <a:solidFill>
                  <a:srgbClr val="C00000"/>
                </a:solidFill>
                <a:latin typeface="Arial Unicode MS"/>
                <a:ea typeface="JetBrains Mono"/>
              </a:rPr>
              <a:t>" </a:t>
            </a:r>
            <a:r>
              <a:rPr lang="en-US" altLang="zh-CN" sz="1600" dirty="0" err="1">
                <a:solidFill>
                  <a:srgbClr val="080808"/>
                </a:solidFill>
                <a:latin typeface="Arial Unicode MS"/>
                <a:ea typeface="JetBrains Mono"/>
              </a:rPr>
              <a:t>resultType</a:t>
            </a:r>
            <a:r>
              <a:rPr lang="en-US" altLang="zh-CN" sz="1600" dirty="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en-US" altLang="zh-CN" sz="1600" dirty="0">
                <a:solidFill>
                  <a:srgbClr val="C00000"/>
                </a:solidFill>
                <a:latin typeface="Arial Unicode MS"/>
                <a:ea typeface="JetBrains Mono"/>
              </a:rPr>
              <a:t>"user" </a:t>
            </a:r>
            <a:r>
              <a:rPr lang="en-US" altLang="zh-CN" sz="1600" dirty="0" err="1">
                <a:solidFill>
                  <a:srgbClr val="080808"/>
                </a:solidFill>
                <a:latin typeface="Arial Unicode MS"/>
                <a:ea typeface="JetBrains Mono"/>
              </a:rPr>
              <a:t>parameterType</a:t>
            </a:r>
            <a:r>
              <a:rPr lang="en-US" altLang="zh-CN" sz="1600" dirty="0">
                <a:solidFill>
                  <a:srgbClr val="080808"/>
                </a:solidFill>
                <a:latin typeface="Arial Unicode MS"/>
                <a:ea typeface="JetBrains Mono"/>
              </a:rPr>
              <a:t>= </a:t>
            </a:r>
            <a:r>
              <a:rPr lang="en-US" altLang="zh-CN" sz="1600" dirty="0">
                <a:solidFill>
                  <a:srgbClr val="C00000"/>
                </a:solidFill>
                <a:latin typeface="Arial Unicode MS"/>
                <a:ea typeface="JetBrains Mono"/>
              </a:rPr>
              <a:t>"int“ </a:t>
            </a:r>
            <a:r>
              <a:rPr lang="en-US" altLang="zh-CN" sz="1600" dirty="0">
                <a:solidFill>
                  <a:srgbClr val="080808"/>
                </a:solidFill>
                <a:latin typeface="Arial Unicode MS"/>
                <a:ea typeface="JetBrains Mono"/>
              </a:rPr>
              <a:t>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80808"/>
                </a:solidFill>
                <a:latin typeface="Arial Unicode MS"/>
                <a:ea typeface="JetBrains Mono"/>
              </a:rPr>
              <a:t>    select * from user where id = #{id}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accent3"/>
                </a:solidFill>
                <a:latin typeface="Arial Unicode MS"/>
                <a:ea typeface="JetBrains Mono"/>
              </a:rPr>
              <a:t>&lt;/select&gt;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365865" y="3295854"/>
            <a:ext cx="8092368" cy="28007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chemeClr val="accent2"/>
                </a:solidFill>
                <a:latin typeface="Arial Unicode MS"/>
                <a:ea typeface="JetBrains Mono"/>
              </a:rPr>
              <a:t>public class </a:t>
            </a:r>
            <a:r>
              <a:rPr lang="en-US" altLang="zh-CN" sz="1100" dirty="0">
                <a:solidFill>
                  <a:schemeClr val="accent1"/>
                </a:solidFill>
                <a:latin typeface="Arial Unicode MS"/>
                <a:ea typeface="JetBrains Mono"/>
              </a:rPr>
              <a:t>MyBatisTest01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  </a:t>
            </a:r>
            <a:r>
              <a:rPr lang="en-US" altLang="zh-CN" sz="1100" dirty="0">
                <a:solidFill>
                  <a:schemeClr val="accent2"/>
                </a:solidFill>
                <a:latin typeface="Arial Unicode MS"/>
                <a:ea typeface="JetBrains Mono"/>
              </a:rPr>
              <a:t>private static </a:t>
            </a:r>
            <a:r>
              <a:rPr lang="en-US" altLang="zh-CN" sz="1100" dirty="0" err="1">
                <a:solidFill>
                  <a:srgbClr val="9E880D"/>
                </a:solidFill>
                <a:latin typeface="Arial Unicode MS"/>
                <a:ea typeface="JetBrains Mono"/>
              </a:rPr>
              <a:t>UserMapper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</a:t>
            </a:r>
            <a:r>
              <a:rPr lang="en-US" altLang="zh-CN" sz="1100" dirty="0" err="1">
                <a:solidFill>
                  <a:srgbClr val="9E880D"/>
                </a:solidFill>
                <a:latin typeface="Arial Unicode MS"/>
                <a:ea typeface="JetBrains Mono"/>
              </a:rPr>
              <a:t>userMapper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   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Arial Unicode MS"/>
                <a:ea typeface="JetBrains Mono"/>
              </a:rPr>
              <a:t>@BeforeClass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C00000"/>
                </a:solidFill>
                <a:latin typeface="Arial Unicode MS"/>
                <a:ea typeface="JetBrains Mono"/>
              </a:rPr>
              <a:t>    public static </a:t>
            </a:r>
            <a:r>
              <a:rPr lang="en-US" altLang="zh-CN" sz="1100" dirty="0">
                <a:solidFill>
                  <a:schemeClr val="accent3"/>
                </a:solidFill>
                <a:latin typeface="Arial Unicode MS"/>
                <a:ea typeface="JetBrains Mono"/>
              </a:rPr>
              <a:t>void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</a:t>
            </a:r>
            <a:r>
              <a:rPr lang="en-US" altLang="zh-CN" sz="1100" dirty="0" err="1">
                <a:latin typeface="Arial Unicode MS"/>
                <a:ea typeface="JetBrains Mono"/>
              </a:rPr>
              <a:t>berofeClass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() </a:t>
            </a:r>
            <a:r>
              <a:rPr lang="en-US" altLang="zh-CN" sz="1100" dirty="0">
                <a:solidFill>
                  <a:schemeClr val="accent2"/>
                </a:solidFill>
                <a:latin typeface="Arial Unicode MS"/>
                <a:ea typeface="JetBrains Mono"/>
              </a:rPr>
              <a:t>throws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</a:t>
            </a:r>
            <a:r>
              <a:rPr lang="en-US" altLang="zh-CN" sz="1100" dirty="0">
                <a:latin typeface="Arial Unicode MS"/>
                <a:ea typeface="JetBrains Mono"/>
              </a:rPr>
              <a:t>Exception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       </a:t>
            </a:r>
            <a:r>
              <a:rPr lang="en-US" altLang="zh-CN" sz="1100" dirty="0">
                <a:solidFill>
                  <a:schemeClr val="accent3"/>
                </a:solidFill>
                <a:latin typeface="Arial Unicode MS"/>
                <a:ea typeface="JetBrains Mono"/>
              </a:rPr>
              <a:t>String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resource = </a:t>
            </a:r>
            <a:r>
              <a:rPr lang="en-US" altLang="zh-CN" sz="1100" dirty="0">
                <a:solidFill>
                  <a:srgbClr val="FF0000"/>
                </a:solidFill>
                <a:latin typeface="Arial Unicode MS"/>
                <a:ea typeface="JetBrains Mono"/>
              </a:rPr>
              <a:t>"mybatis-config.xml";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       </a:t>
            </a:r>
            <a:r>
              <a:rPr lang="en-US" altLang="zh-CN" sz="1100" dirty="0" err="1">
                <a:latin typeface="Arial Unicode MS"/>
                <a:ea typeface="JetBrains Mono"/>
              </a:rPr>
              <a:t>InputStream</a:t>
            </a:r>
            <a:r>
              <a:rPr lang="en-US" altLang="zh-CN" sz="1100" dirty="0">
                <a:latin typeface="Arial Unicode MS"/>
                <a:ea typeface="JetBrains Mono"/>
              </a:rPr>
              <a:t> </a:t>
            </a:r>
            <a:r>
              <a:rPr lang="en-US" altLang="zh-CN" sz="1100" dirty="0" err="1">
                <a:latin typeface="Arial Unicode MS"/>
                <a:ea typeface="JetBrains Mono"/>
              </a:rPr>
              <a:t>inputStream</a:t>
            </a:r>
            <a:r>
              <a:rPr lang="en-US" altLang="zh-CN" sz="1100" dirty="0">
                <a:latin typeface="Arial Unicode MS"/>
                <a:ea typeface="JetBrains Mono"/>
              </a:rPr>
              <a:t> = </a:t>
            </a:r>
            <a:r>
              <a:rPr lang="en-US" altLang="zh-CN" sz="1100" dirty="0" err="1">
                <a:latin typeface="Arial Unicode MS"/>
                <a:ea typeface="JetBrains Mono"/>
              </a:rPr>
              <a:t>Resources.getResourceAsStream</a:t>
            </a:r>
            <a:r>
              <a:rPr lang="en-US" altLang="zh-CN" sz="1100" dirty="0">
                <a:latin typeface="Arial Unicode MS"/>
                <a:ea typeface="JetBrains Mono"/>
              </a:rPr>
              <a:t>(resource);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latin typeface="Arial Unicode MS"/>
                <a:ea typeface="JetBrains Mono"/>
              </a:rPr>
              <a:t>        </a:t>
            </a:r>
            <a:r>
              <a:rPr lang="en-US" altLang="zh-CN" sz="1100" dirty="0" err="1">
                <a:latin typeface="Arial Unicode MS"/>
                <a:ea typeface="JetBrains Mono"/>
              </a:rPr>
              <a:t>SqlSessionFactory</a:t>
            </a:r>
            <a:r>
              <a:rPr lang="en-US" altLang="zh-CN" sz="1100" dirty="0">
                <a:latin typeface="Arial Unicode MS"/>
                <a:ea typeface="JetBrains Mono"/>
              </a:rPr>
              <a:t> </a:t>
            </a:r>
            <a:r>
              <a:rPr lang="en-US" altLang="zh-CN" sz="1100" dirty="0" err="1">
                <a:latin typeface="Arial Unicode MS"/>
                <a:ea typeface="JetBrains Mono"/>
              </a:rPr>
              <a:t>sqlSessionFactory</a:t>
            </a:r>
            <a:r>
              <a:rPr lang="en-US" altLang="zh-CN" sz="1100" dirty="0">
                <a:latin typeface="Arial Unicode MS"/>
                <a:ea typeface="JetBrains Mono"/>
              </a:rPr>
              <a:t> = </a:t>
            </a:r>
            <a:r>
              <a:rPr lang="en-US" altLang="zh-CN" sz="1100" dirty="0">
                <a:solidFill>
                  <a:srgbClr val="C00000"/>
                </a:solidFill>
                <a:latin typeface="Arial Unicode MS"/>
                <a:ea typeface="JetBrains Mono"/>
              </a:rPr>
              <a:t>new</a:t>
            </a:r>
            <a:r>
              <a:rPr lang="en-US" altLang="zh-CN" sz="1100" dirty="0">
                <a:latin typeface="Arial Unicode MS"/>
                <a:ea typeface="JetBrains Mono"/>
              </a:rPr>
              <a:t> </a:t>
            </a:r>
            <a:r>
              <a:rPr lang="en-US" altLang="zh-CN" sz="1100" dirty="0" err="1">
                <a:latin typeface="Arial Unicode MS"/>
                <a:ea typeface="JetBrains Mono"/>
              </a:rPr>
              <a:t>SqlSessionFactoryBuilder</a:t>
            </a:r>
            <a:r>
              <a:rPr lang="en-US" altLang="zh-CN" sz="1100" dirty="0">
                <a:latin typeface="Arial Unicode MS"/>
                <a:ea typeface="JetBrains Mono"/>
              </a:rPr>
              <a:t>().build(</a:t>
            </a:r>
            <a:r>
              <a:rPr lang="en-US" altLang="zh-CN" sz="1100" dirty="0" err="1">
                <a:latin typeface="Arial Unicode MS"/>
                <a:ea typeface="JetBrains Mono"/>
              </a:rPr>
              <a:t>inputStream</a:t>
            </a:r>
            <a:r>
              <a:rPr lang="en-US" altLang="zh-CN" sz="1100" dirty="0">
                <a:latin typeface="Arial Unicode MS"/>
                <a:ea typeface="JetBrains Mono"/>
              </a:rPr>
              <a:t>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latin typeface="Arial Unicode MS"/>
                <a:ea typeface="JetBrains Mono"/>
              </a:rPr>
              <a:t>        </a:t>
            </a:r>
            <a:r>
              <a:rPr lang="en-US" altLang="zh-CN" sz="1100" dirty="0" err="1">
                <a:latin typeface="Arial Unicode MS"/>
                <a:ea typeface="JetBrains Mono"/>
              </a:rPr>
              <a:t>SqlSession</a:t>
            </a:r>
            <a:r>
              <a:rPr lang="en-US" altLang="zh-CN" sz="1100" dirty="0">
                <a:latin typeface="Arial Unicode MS"/>
                <a:ea typeface="JetBrains Mono"/>
              </a:rPr>
              <a:t> </a:t>
            </a:r>
            <a:r>
              <a:rPr lang="en-US" altLang="zh-CN" sz="1100" dirty="0" err="1">
                <a:latin typeface="Arial Unicode MS"/>
                <a:ea typeface="JetBrains Mono"/>
              </a:rPr>
              <a:t>sqlSession</a:t>
            </a:r>
            <a:r>
              <a:rPr lang="en-US" altLang="zh-CN" sz="1100" dirty="0">
                <a:latin typeface="Arial Unicode MS"/>
                <a:ea typeface="JetBrains Mono"/>
              </a:rPr>
              <a:t> = </a:t>
            </a:r>
            <a:r>
              <a:rPr lang="en-US" altLang="zh-CN" sz="1100" dirty="0" err="1">
                <a:latin typeface="Arial Unicode MS"/>
                <a:ea typeface="JetBrains Mono"/>
              </a:rPr>
              <a:t>sqlSessionFactory.openSession</a:t>
            </a:r>
            <a:r>
              <a:rPr lang="en-US" altLang="zh-CN" sz="1100" dirty="0">
                <a:latin typeface="Arial Unicode MS"/>
                <a:ea typeface="JetBrains Mono"/>
              </a:rPr>
              <a:t>(true);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latin typeface="Arial Unicode MS"/>
                <a:ea typeface="JetBrains Mono"/>
              </a:rPr>
              <a:t>        </a:t>
            </a:r>
            <a:r>
              <a:rPr lang="en-US" altLang="zh-CN" sz="1100" dirty="0" err="1">
                <a:latin typeface="Arial Unicode MS"/>
                <a:ea typeface="JetBrains Mono"/>
              </a:rPr>
              <a:t>userMapper</a:t>
            </a:r>
            <a:r>
              <a:rPr lang="en-US" altLang="zh-CN" sz="1100" dirty="0">
                <a:latin typeface="Arial Unicode MS"/>
                <a:ea typeface="JetBrains Mono"/>
              </a:rPr>
              <a:t> = </a:t>
            </a:r>
            <a:r>
              <a:rPr lang="en-US" altLang="zh-CN" sz="1100" dirty="0" err="1">
                <a:latin typeface="Arial Unicode MS"/>
                <a:ea typeface="JetBrains Mono"/>
              </a:rPr>
              <a:t>sqlSession.getMapper</a:t>
            </a:r>
            <a:r>
              <a:rPr lang="en-US" altLang="zh-CN" sz="1100" dirty="0">
                <a:latin typeface="Arial Unicode MS"/>
                <a:ea typeface="JetBrains Mono"/>
              </a:rPr>
              <a:t>(</a:t>
            </a:r>
            <a:r>
              <a:rPr lang="en-US" altLang="zh-CN" sz="1100" dirty="0" err="1">
                <a:latin typeface="Arial Unicode MS"/>
                <a:ea typeface="JetBrains Mono"/>
              </a:rPr>
              <a:t>UserMapper.</a:t>
            </a:r>
            <a:r>
              <a:rPr lang="en-US" altLang="zh-CN" sz="1100" dirty="0" err="1">
                <a:solidFill>
                  <a:srgbClr val="C00000"/>
                </a:solidFill>
                <a:latin typeface="Arial Unicode MS"/>
                <a:ea typeface="JetBrains Mono"/>
              </a:rPr>
              <a:t>class</a:t>
            </a:r>
            <a:r>
              <a:rPr lang="en-US" altLang="zh-CN" sz="1100" dirty="0">
                <a:latin typeface="Arial Unicode MS"/>
                <a:ea typeface="JetBrains Mono"/>
              </a:rPr>
              <a:t>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   }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  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Arial Unicode MS"/>
                <a:ea typeface="JetBrains Mono"/>
              </a:rPr>
              <a:t>@Test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   </a:t>
            </a:r>
            <a:r>
              <a:rPr lang="en-US" altLang="zh-CN" sz="1100" dirty="0">
                <a:solidFill>
                  <a:srgbClr val="C00000"/>
                </a:solidFill>
                <a:latin typeface="Arial Unicode MS"/>
                <a:ea typeface="JetBrains Mono"/>
              </a:rPr>
              <a:t>public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</a:t>
            </a:r>
            <a:r>
              <a:rPr lang="en-US" altLang="zh-CN" sz="1100" dirty="0">
                <a:solidFill>
                  <a:schemeClr val="accent3"/>
                </a:solidFill>
                <a:latin typeface="Arial Unicode MS"/>
                <a:ea typeface="JetBrains Mono"/>
              </a:rPr>
              <a:t>void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</a:t>
            </a:r>
            <a:r>
              <a:rPr lang="en-US" altLang="zh-CN" sz="1100" dirty="0" err="1">
                <a:latin typeface="Arial Unicode MS"/>
                <a:ea typeface="JetBrains Mono"/>
              </a:rPr>
              <a:t>queryById</a:t>
            </a:r>
            <a:r>
              <a:rPr lang="en-US" altLang="zh-CN" sz="1100" dirty="0">
                <a:latin typeface="Arial Unicode MS"/>
                <a:ea typeface="JetBrains Mono"/>
              </a:rPr>
              <a:t>() </a:t>
            </a:r>
            <a:r>
              <a:rPr lang="en-US" altLang="zh-CN" sz="1100" dirty="0">
                <a:solidFill>
                  <a:srgbClr val="C00000"/>
                </a:solidFill>
                <a:latin typeface="Arial Unicode MS"/>
                <a:ea typeface="JetBrains Mono"/>
              </a:rPr>
              <a:t>throws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</a:t>
            </a:r>
            <a:r>
              <a:rPr lang="en-US" altLang="zh-CN" sz="1100" dirty="0">
                <a:latin typeface="Arial Unicode MS"/>
                <a:ea typeface="JetBrains Mono"/>
              </a:rPr>
              <a:t>Exception</a:t>
            </a: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latin typeface="Arial Unicode MS"/>
                <a:ea typeface="JetBrains Mono"/>
              </a:rPr>
              <a:t>        User </a:t>
            </a:r>
            <a:r>
              <a:rPr lang="en-US" altLang="zh-CN" sz="1100" dirty="0" err="1">
                <a:latin typeface="Arial Unicode MS"/>
                <a:ea typeface="JetBrains Mono"/>
              </a:rPr>
              <a:t>user</a:t>
            </a:r>
            <a:r>
              <a:rPr lang="en-US" altLang="zh-CN" sz="1100" dirty="0">
                <a:latin typeface="Arial Unicode MS"/>
                <a:ea typeface="JetBrains Mono"/>
              </a:rPr>
              <a:t> = </a:t>
            </a:r>
            <a:r>
              <a:rPr lang="en-US" altLang="zh-CN" sz="1100" dirty="0" err="1">
                <a:latin typeface="Arial Unicode MS"/>
                <a:ea typeface="JetBrains Mono"/>
              </a:rPr>
              <a:t>userMapper.queryById</a:t>
            </a:r>
            <a:r>
              <a:rPr lang="en-US" altLang="zh-CN" sz="1100" dirty="0">
                <a:latin typeface="Arial Unicode MS"/>
                <a:ea typeface="JetBrains Mono"/>
              </a:rPr>
              <a:t>(1);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latin typeface="Arial Unicode MS"/>
                <a:ea typeface="JetBrains Mono"/>
              </a:rPr>
              <a:t>        </a:t>
            </a:r>
            <a:r>
              <a:rPr lang="en-US" altLang="zh-CN" sz="1100" dirty="0" err="1">
                <a:latin typeface="Arial Unicode MS"/>
                <a:ea typeface="JetBrains Mono"/>
              </a:rPr>
              <a:t>System.out.println</a:t>
            </a:r>
            <a:r>
              <a:rPr lang="en-US" altLang="zh-CN" sz="1100" dirty="0">
                <a:latin typeface="Arial Unicode MS"/>
                <a:ea typeface="JetBrains Mono"/>
              </a:rPr>
              <a:t>( </a:t>
            </a:r>
            <a:r>
              <a:rPr lang="en-US" altLang="zh-CN" sz="1100" dirty="0">
                <a:solidFill>
                  <a:srgbClr val="FF0000"/>
                </a:solidFill>
                <a:latin typeface="Arial Unicode MS"/>
                <a:ea typeface="JetBrains Mono"/>
              </a:rPr>
              <a:t>"user = “  + </a:t>
            </a:r>
            <a:r>
              <a:rPr lang="en-US" altLang="zh-CN" sz="1100" dirty="0">
                <a:latin typeface="Arial Unicode MS"/>
                <a:ea typeface="JetBrains Mono"/>
              </a:rPr>
              <a:t>user);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   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9E880D"/>
                </a:solidFill>
                <a:latin typeface="Arial Unicode MS"/>
                <a:ea typeface="JetBrains Mono"/>
              </a:rPr>
              <a:t> }</a:t>
            </a:r>
            <a:endParaRPr kumimoji="0" lang="zh-CN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87159" y="2810145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3)</a:t>
            </a:r>
            <a:r>
              <a:rPr lang="zh-CN" altLang="en-US"/>
              <a:t>测试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/>
      <p:bldP spid="8" grpId="0" animBg="1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653302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映射文件配置</a:t>
            </a:r>
          </a:p>
        </p:txBody>
      </p:sp>
      <p:sp>
        <p:nvSpPr>
          <p:cNvPr id="7" name="矩形 6"/>
          <p:cNvSpPr/>
          <p:nvPr/>
        </p:nvSpPr>
        <p:spPr>
          <a:xfrm>
            <a:off x="710880" y="761379"/>
            <a:ext cx="1358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2.insert</a:t>
            </a:r>
            <a:r>
              <a:rPr lang="zh-CN" altLang="en-US" dirty="0"/>
              <a:t>标签</a:t>
            </a:r>
          </a:p>
        </p:txBody>
      </p:sp>
      <p:sp>
        <p:nvSpPr>
          <p:cNvPr id="2" name="矩形 1"/>
          <p:cNvSpPr/>
          <p:nvPr/>
        </p:nvSpPr>
        <p:spPr>
          <a:xfrm>
            <a:off x="1017176" y="1130711"/>
            <a:ext cx="708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属性</a:t>
            </a:r>
            <a:r>
              <a:rPr lang="en-US" altLang="zh-CN"/>
              <a:t>:</a:t>
            </a:r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128012" y="1503795"/>
          <a:ext cx="8764134" cy="9144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921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是否必须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这条</a:t>
                      </a:r>
                      <a:r>
                        <a:rPr lang="en-US" altLang="zh-CN" sz="1600">
                          <a:effectLst/>
                        </a:rPr>
                        <a:t>SQL</a:t>
                      </a:r>
                      <a:r>
                        <a:rPr lang="zh-CN" altLang="en-US" sz="1600">
                          <a:effectLst/>
                        </a:rPr>
                        <a:t>语句的唯一标识，和接口的方法名一致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effectLst/>
                        </a:rPr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017176" y="2460489"/>
            <a:ext cx="899966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说明:#{username},#{birthday},#{sex},#{address} 大括号里面的值必须和pojo的实体类User类中的属性名一致，否则会报错。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Open Sans" panose="020B0606030504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注意事项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Open Sans" panose="020B0606030504020204"/>
              </a:rPr>
              <a:t>:Mybatis默认事务手动提交,可设置事务自动提交: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128012" y="3580001"/>
            <a:ext cx="6755224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SqlSession sqlSession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sqlSessionFactory.openSession(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true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Arial Unicode MS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Arial Unicode MS"/>
              </a:rPr>
              <a:t>//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Arial Unicode MS"/>
              </a:rPr>
              <a:t>或者手动提交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80808"/>
                </a:solidFill>
                <a:latin typeface="Arial Unicode MS"/>
              </a:rPr>
              <a:t>sqlSession.commit</a:t>
            </a:r>
            <a:r>
              <a:rPr lang="en-US" altLang="zh-CN" sz="1600" dirty="0">
                <a:solidFill>
                  <a:srgbClr val="080808"/>
                </a:solidFill>
                <a:latin typeface="Arial Unicode MS"/>
              </a:rPr>
              <a:t>();</a:t>
            </a:r>
          </a:p>
        </p:txBody>
      </p:sp>
      <p:sp>
        <p:nvSpPr>
          <p:cNvPr id="14" name="矩形 13"/>
          <p:cNvSpPr/>
          <p:nvPr/>
        </p:nvSpPr>
        <p:spPr>
          <a:xfrm>
            <a:off x="1017176" y="4453292"/>
            <a:ext cx="2875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练习：向数据库添加用户</a:t>
            </a:r>
            <a:endParaRPr lang="en-US" altLang="zh-CN" sz="1600" dirty="0"/>
          </a:p>
          <a:p>
            <a:r>
              <a:rPr lang="en-US" altLang="zh-CN" sz="1600" dirty="0"/>
              <a:t>1)</a:t>
            </a:r>
            <a:r>
              <a:rPr lang="zh-CN" altLang="en-US" sz="1600" dirty="0"/>
              <a:t>定义接口方法：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128012" y="5080361"/>
            <a:ext cx="3125334" cy="16004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/**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添加用户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返回值时影响的行数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@param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user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@return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*/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addUser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user);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4" grpId="0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653302" cy="517190"/>
          </a:xfrm>
        </p:spPr>
        <p:txBody>
          <a:bodyPr/>
          <a:lstStyle/>
          <a:p>
            <a:r>
              <a:rPr kumimoji="1" lang="en-US" altLang="zh-CN"/>
              <a:t>7.Mybatis</a:t>
            </a:r>
            <a:r>
              <a:rPr kumimoji="1" lang="zh-CN" altLang="en-US"/>
              <a:t>映射文件配置</a:t>
            </a:r>
          </a:p>
        </p:txBody>
      </p:sp>
      <p:sp>
        <p:nvSpPr>
          <p:cNvPr id="7" name="矩形 6"/>
          <p:cNvSpPr/>
          <p:nvPr/>
        </p:nvSpPr>
        <p:spPr>
          <a:xfrm>
            <a:off x="710880" y="761379"/>
            <a:ext cx="1484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3.update</a:t>
            </a:r>
            <a:r>
              <a:rPr lang="zh-CN" altLang="en-US" dirty="0"/>
              <a:t>标签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919" y="6205507"/>
            <a:ext cx="505689" cy="505689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68080" y="1190701"/>
          <a:ext cx="8751774" cy="9144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917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是否必须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SQL</a:t>
                      </a:r>
                      <a:r>
                        <a:rPr lang="zh-CN" altLang="en-US" sz="1600">
                          <a:effectLst/>
                        </a:rPr>
                        <a:t>语句的唯一标识，和接口的方法名一致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effectLst/>
                        </a:rPr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80319" y="2349757"/>
            <a:ext cx="175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1)</a:t>
            </a:r>
            <a:r>
              <a:rPr lang="zh-CN" altLang="en-US" dirty="0"/>
              <a:t>定义接口方法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032164" y="2704276"/>
            <a:ext cx="3138054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/**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 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更新用户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@param 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user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@return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*/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void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updateUser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user);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3979" y="4443789"/>
            <a:ext cx="175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2)</a:t>
            </a:r>
            <a:r>
              <a:rPr lang="zh-CN" altLang="en-US" dirty="0"/>
              <a:t>绑定映射文件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032164" y="4996221"/>
            <a:ext cx="8693728" cy="1077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update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="updateUser"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update user set user_name=#{username},birthday=#{birthday},sex=#{sex},address=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#{address} where id=#{id}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update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653302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映射文件配置</a:t>
            </a:r>
          </a:p>
        </p:txBody>
      </p:sp>
      <p:sp>
        <p:nvSpPr>
          <p:cNvPr id="7" name="矩形 6"/>
          <p:cNvSpPr/>
          <p:nvPr/>
        </p:nvSpPr>
        <p:spPr>
          <a:xfrm>
            <a:off x="710880" y="761379"/>
            <a:ext cx="1415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4.delete</a:t>
            </a:r>
            <a:r>
              <a:rPr lang="zh-CN" altLang="en-US" dirty="0"/>
              <a:t>标签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919" y="6205507"/>
            <a:ext cx="505689" cy="505689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5571" y="1278569"/>
          <a:ext cx="8363847" cy="9144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787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7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是否必须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SQL</a:t>
                      </a:r>
                      <a:r>
                        <a:rPr lang="zh-CN" altLang="en-US" sz="1600">
                          <a:effectLst/>
                        </a:rPr>
                        <a:t>语句的唯一标识，和接口的方法名一致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effectLst/>
                        </a:rPr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794008" y="2339311"/>
            <a:ext cx="175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1)</a:t>
            </a:r>
            <a:r>
              <a:rPr lang="zh-CN" altLang="en-US" dirty="0"/>
              <a:t>定义接口方法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35571" y="2741365"/>
            <a:ext cx="5915891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/**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 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删除用户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@param 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id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*/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void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deleteById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id);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0319" y="4096010"/>
            <a:ext cx="26805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2)</a:t>
            </a:r>
            <a:r>
              <a:rPr lang="zh-CN" altLang="en-US" dirty="0"/>
              <a:t>映射文件绑定接口方法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794008" y="4607021"/>
            <a:ext cx="5527964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delete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="deleteById"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delete from user where id=#{id}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delete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核心配置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989DAF-5EEB-4EB4-B64D-8CFB5454FF6E}"/>
              </a:ext>
            </a:extLst>
          </p:cNvPr>
          <p:cNvSpPr/>
          <p:nvPr/>
        </p:nvSpPr>
        <p:spPr>
          <a:xfrm>
            <a:off x="4202353" y="1453507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执行查询的标签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19A59A-CE1E-47DA-A68D-7D21915B0C81}"/>
              </a:ext>
            </a:extLst>
          </p:cNvPr>
          <p:cNvSpPr/>
          <p:nvPr/>
        </p:nvSpPr>
        <p:spPr>
          <a:xfrm>
            <a:off x="4436594" y="1859647"/>
            <a:ext cx="52380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select</a:t>
            </a:r>
            <a:endParaRPr lang="zh-CN" altLang="en-US" sz="16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004BEA-4ACD-4C5F-8AE5-9E748DB21D14}"/>
              </a:ext>
            </a:extLst>
          </p:cNvPr>
          <p:cNvSpPr/>
          <p:nvPr/>
        </p:nvSpPr>
        <p:spPr>
          <a:xfrm>
            <a:off x="4202353" y="2271625"/>
            <a:ext cx="2544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执行插入数据的标签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BF0498-B08B-4BB7-950C-62D06644B8CC}"/>
              </a:ext>
            </a:extLst>
          </p:cNvPr>
          <p:cNvSpPr/>
          <p:nvPr/>
        </p:nvSpPr>
        <p:spPr>
          <a:xfrm>
            <a:off x="4429514" y="2640957"/>
            <a:ext cx="52380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insert</a:t>
            </a:r>
            <a:endParaRPr lang="zh-CN" altLang="en-US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8BD304-A535-49C7-A11F-4990F289227C}"/>
              </a:ext>
            </a:extLst>
          </p:cNvPr>
          <p:cNvSpPr/>
          <p:nvPr/>
        </p:nvSpPr>
        <p:spPr>
          <a:xfrm>
            <a:off x="4209433" y="3328931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执行更新的标签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44B0D-3B4E-49E8-91C4-095EA3A21CEC}"/>
              </a:ext>
            </a:extLst>
          </p:cNvPr>
          <p:cNvSpPr/>
          <p:nvPr/>
        </p:nvSpPr>
        <p:spPr>
          <a:xfrm>
            <a:off x="4443674" y="3735071"/>
            <a:ext cx="52380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update</a:t>
            </a:r>
            <a:endParaRPr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5B8669-07F8-4772-BEF4-11CC75DBE7EE}"/>
              </a:ext>
            </a:extLst>
          </p:cNvPr>
          <p:cNvSpPr/>
          <p:nvPr/>
        </p:nvSpPr>
        <p:spPr>
          <a:xfrm>
            <a:off x="4209433" y="4147049"/>
            <a:ext cx="2544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执行删除数据的标签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C0FF70-F5AF-4CBF-B10F-3B014624B6F6}"/>
              </a:ext>
            </a:extLst>
          </p:cNvPr>
          <p:cNvSpPr/>
          <p:nvPr/>
        </p:nvSpPr>
        <p:spPr>
          <a:xfrm>
            <a:off x="4436594" y="4516381"/>
            <a:ext cx="52380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delete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052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9" grpId="0" build="p"/>
      <p:bldP spid="1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95282" y="359764"/>
            <a:ext cx="5973761" cy="4256405"/>
          </a:xfrm>
        </p:spPr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zh-CN" altLang="en-US" dirty="0">
                <a:solidFill>
                  <a:schemeClr val="tx1"/>
                </a:solidFill>
              </a:rPr>
              <a:t>介绍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快速入门 </a:t>
            </a:r>
            <a:r>
              <a:rPr lang="en-US" altLang="zh-CN" dirty="0">
                <a:solidFill>
                  <a:schemeClr val="tx1"/>
                </a:solidFill>
              </a:rPr>
              <a:t>Mapper </a:t>
            </a:r>
            <a:r>
              <a:rPr lang="zh-CN" altLang="en-US" dirty="0">
                <a:solidFill>
                  <a:schemeClr val="tx1"/>
                </a:solidFill>
              </a:rPr>
              <a:t>代理开发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核心配置文件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 err="1">
                <a:solidFill>
                  <a:schemeClr val="tx1"/>
                </a:solidFill>
              </a:rPr>
              <a:t>My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kumimoji="1" lang="en-US" altLang="zh-CN" dirty="0" err="1">
                <a:solidFill>
                  <a:schemeClr val="tx1"/>
                </a:solidFill>
              </a:rPr>
              <a:t>atis</a:t>
            </a:r>
            <a:r>
              <a:rPr kumimoji="1" lang="zh-CN" altLang="en-US" dirty="0">
                <a:solidFill>
                  <a:schemeClr val="tx1"/>
                </a:solidFill>
              </a:rPr>
              <a:t>映射文件配置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编写会话工具类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205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3015993" cy="517190"/>
          </a:xfrm>
        </p:spPr>
        <p:txBody>
          <a:bodyPr/>
          <a:lstStyle/>
          <a:p>
            <a:r>
              <a:rPr kumimoji="1" lang="zh-CN" altLang="en-US" dirty="0"/>
              <a:t>编写会话工具类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919" y="6205507"/>
            <a:ext cx="505689" cy="50568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912999" y="3429000"/>
            <a:ext cx="3114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详见：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SessionFactoryUtils.java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41976" y="761379"/>
            <a:ext cx="94738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步骤：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在静态代码块中创建会话工厂对象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编写静态方法得到会话对象，设置自动提交事务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编写静态方法得到会话对象，方法接收调用者传递的布尔类型，决定是否自动提交事务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编写静态方法接收会话对象，手动提交事务并且关闭会话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编写静态方法接收会话对象，回滚事务并且关闭会话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62700</TotalTime>
  <Words>3756</Words>
  <Application>Microsoft Office PowerPoint</Application>
  <PresentationFormat>宽屏</PresentationFormat>
  <Paragraphs>455</Paragraphs>
  <Slides>39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39</vt:i4>
      </vt:variant>
    </vt:vector>
  </HeadingPairs>
  <TitlesOfParts>
    <vt:vector size="61" baseType="lpstr">
      <vt:lpstr>Alibaba PuHuiTi B</vt:lpstr>
      <vt:lpstr>Alibaba PuHuiTi M</vt:lpstr>
      <vt:lpstr>Alibaba PuHuiTi R</vt:lpstr>
      <vt:lpstr>Arial Unicode MS</vt:lpstr>
      <vt:lpstr>PingFang SC</vt:lpstr>
      <vt:lpstr>阿里巴巴普惠体</vt:lpstr>
      <vt:lpstr>等线</vt:lpstr>
      <vt:lpstr>黑体</vt:lpstr>
      <vt:lpstr>宋体</vt:lpstr>
      <vt:lpstr>微软雅黑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MyBatis</vt:lpstr>
      <vt:lpstr>PowerPoint 演示文稿</vt:lpstr>
      <vt:lpstr>PowerPoint 演示文稿</vt:lpstr>
      <vt:lpstr>PowerPoint 演示文稿</vt:lpstr>
      <vt:lpstr>PowerPoint 演示文稿</vt:lpstr>
      <vt:lpstr>MyBatis</vt:lpstr>
      <vt:lpstr>MyBatis</vt:lpstr>
      <vt:lpstr>MyBatis</vt:lpstr>
      <vt:lpstr>PowerPoint 演示文稿</vt:lpstr>
      <vt:lpstr>MyBatis 入门</vt:lpstr>
      <vt:lpstr>PowerPoint 演示文稿</vt:lpstr>
      <vt:lpstr>MyBatis入门</vt:lpstr>
      <vt:lpstr>PowerPoint 演示文稿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mybatis核心配置</vt:lpstr>
      <vt:lpstr>PowerPoint 演示文稿</vt:lpstr>
      <vt:lpstr>Mybatis映射文件配置</vt:lpstr>
      <vt:lpstr>Mybatis映射文件配置</vt:lpstr>
      <vt:lpstr>7.Mybatis映射文件配置</vt:lpstr>
      <vt:lpstr>Mybatis映射文件配置</vt:lpstr>
      <vt:lpstr>7.Mybatis映射文件配置</vt:lpstr>
      <vt:lpstr>Mybatis映射文件配置</vt:lpstr>
      <vt:lpstr>mybatis核心配置</vt:lpstr>
      <vt:lpstr>PowerPoint 演示文稿</vt:lpstr>
      <vt:lpstr>编写会话工具类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田 锁</cp:lastModifiedBy>
  <cp:revision>1470</cp:revision>
  <dcterms:created xsi:type="dcterms:W3CDTF">2020-03-31T02:23:27Z</dcterms:created>
  <dcterms:modified xsi:type="dcterms:W3CDTF">2021-11-03T12:20:48Z</dcterms:modified>
</cp:coreProperties>
</file>