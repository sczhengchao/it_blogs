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39"/>
  </p:notesMasterIdLst>
  <p:handoutMasterIdLst>
    <p:handoutMasterId r:id="rId40"/>
  </p:handoutMasterIdLst>
  <p:sldIdLst>
    <p:sldId id="462" r:id="rId8"/>
    <p:sldId id="1018" r:id="rId9"/>
    <p:sldId id="1066" r:id="rId10"/>
    <p:sldId id="1093" r:id="rId11"/>
    <p:sldId id="1114" r:id="rId12"/>
    <p:sldId id="1071" r:id="rId13"/>
    <p:sldId id="1115" r:id="rId14"/>
    <p:sldId id="1070" r:id="rId15"/>
    <p:sldId id="1100" r:id="rId16"/>
    <p:sldId id="1072" r:id="rId17"/>
    <p:sldId id="1073" r:id="rId18"/>
    <p:sldId id="1101" r:id="rId19"/>
    <p:sldId id="1076" r:id="rId20"/>
    <p:sldId id="1079" r:id="rId21"/>
    <p:sldId id="1082" r:id="rId22"/>
    <p:sldId id="1096" r:id="rId23"/>
    <p:sldId id="1098" r:id="rId24"/>
    <p:sldId id="1099" r:id="rId25"/>
    <p:sldId id="1102" r:id="rId26"/>
    <p:sldId id="1103" r:id="rId27"/>
    <p:sldId id="1104" r:id="rId28"/>
    <p:sldId id="1105" r:id="rId29"/>
    <p:sldId id="1106" r:id="rId30"/>
    <p:sldId id="1107" r:id="rId31"/>
    <p:sldId id="1109" r:id="rId32"/>
    <p:sldId id="1108" r:id="rId33"/>
    <p:sldId id="1110" r:id="rId34"/>
    <p:sldId id="1111" r:id="rId35"/>
    <p:sldId id="1113" r:id="rId36"/>
    <p:sldId id="1112" r:id="rId37"/>
    <p:sldId id="264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919191"/>
    <a:srgbClr val="B60206"/>
    <a:srgbClr val="49504F"/>
    <a:srgbClr val="B70006"/>
    <a:srgbClr val="FFFFE4"/>
    <a:srgbClr val="333333"/>
    <a:srgbClr val="FFFFFF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1379" autoAdjust="0"/>
  </p:normalViewPr>
  <p:slideViewPr>
    <p:cSldViewPr snapToGrid="0">
      <p:cViewPr varScale="1">
        <p:scale>
          <a:sx n="80" d="100"/>
          <a:sy n="80" d="100"/>
        </p:scale>
        <p:origin x="936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2022/11/27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2022/11/27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2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323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3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723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4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475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5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138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6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12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7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081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8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757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9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717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10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669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11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526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12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593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13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127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14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2689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15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4953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200" smtClean="0">
                <a:solidFill>
                  <a:srgbClr val="0033B3"/>
                </a:solidFill>
                <a:latin typeface="Arial Unicode MS"/>
                <a:ea typeface="JetBrains Mono"/>
              </a:rPr>
              <a:t>select </a:t>
            </a:r>
            <a:r>
              <a:rPr lang="zh-CN" altLang="zh-CN" sz="1200" smtClean="0">
                <a:solidFill>
                  <a:srgbClr val="174AD4"/>
                </a:solidFill>
                <a:latin typeface="Arial Unicode MS"/>
                <a:ea typeface="JetBrains Mono"/>
              </a:rPr>
              <a:t>id</a:t>
            </a:r>
            <a:r>
              <a:rPr lang="zh-CN" altLang="zh-CN" sz="1200" smtClean="0">
                <a:solidFill>
                  <a:srgbClr val="067D17"/>
                </a:solidFill>
                <a:latin typeface="Arial Unicode MS"/>
                <a:ea typeface="JetBrains Mono"/>
              </a:rPr>
              <a:t>="selectByCondition" </a:t>
            </a:r>
            <a:r>
              <a:rPr lang="zh-CN" altLang="zh-CN" sz="1200" smtClean="0">
                <a:solidFill>
                  <a:srgbClr val="174AD4"/>
                </a:solidFill>
                <a:latin typeface="Arial Unicode MS"/>
                <a:ea typeface="JetBrains Mono"/>
              </a:rPr>
              <a:t>resultMap</a:t>
            </a:r>
            <a:r>
              <a:rPr lang="zh-CN" altLang="zh-CN" sz="1200" smtClean="0">
                <a:solidFill>
                  <a:srgbClr val="067D17"/>
                </a:solidFill>
                <a:latin typeface="Arial Unicode MS"/>
                <a:ea typeface="JetBrains Mono"/>
              </a:rPr>
              <a:t>="brandResultMap"</a:t>
            </a:r>
            <a: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    select </a:t>
            </a:r>
            <a:r>
              <a:rPr lang="zh-CN" altLang="zh-CN" sz="1200" i="1" smtClean="0">
                <a:solidFill>
                  <a:srgbClr val="080808"/>
                </a:solidFill>
                <a:latin typeface="Arial Unicode MS"/>
                <a:ea typeface="JetBrains Mono"/>
              </a:rPr>
              <a:t>*</a:t>
            </a:r>
            <a:br>
              <a:rPr lang="zh-CN" altLang="zh-CN" sz="1200" i="1" smtClean="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200" i="1" smtClean="0">
                <a:solidFill>
                  <a:srgbClr val="080808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from </a:t>
            </a:r>
            <a:r>
              <a:rPr lang="zh-CN" altLang="zh-CN" sz="1200" smtClean="0">
                <a:solidFill>
                  <a:srgbClr val="000000"/>
                </a:solidFill>
                <a:latin typeface="Arial Unicode MS"/>
                <a:ea typeface="JetBrains Mono"/>
              </a:rPr>
              <a:t>tb_brand</a:t>
            </a:r>
            <a:br>
              <a:rPr lang="zh-CN" altLang="zh-CN" sz="1200" smtClean="0">
                <a:solidFill>
                  <a:srgbClr val="000000"/>
                </a:solidFill>
                <a:latin typeface="Arial Unicode MS"/>
                <a:ea typeface="JetBrains Mono"/>
              </a:rPr>
            </a:br>
            <a:r>
              <a:rPr lang="zh-CN" altLang="zh-CN" sz="1200" smtClean="0">
                <a:solidFill>
                  <a:srgbClr val="000000"/>
                </a:solidFill>
                <a:latin typeface="Arial Unicode MS"/>
                <a:ea typeface="JetBrains Mono"/>
              </a:rPr>
              <a:t>    </a:t>
            </a:r>
            <a:r>
              <a:rPr lang="en-US" altLang="zh-CN" sz="1200" smtClean="0">
                <a:solidFill>
                  <a:srgbClr val="000000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where</a:t>
            </a:r>
            <a:r>
              <a:rPr lang="en-US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          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test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</a:t>
            </a:r>
            <a:r>
              <a:rPr lang="zh-CN" altLang="zh-CN" sz="1200" smtClean="0">
                <a:solidFill>
                  <a:srgbClr val="871094"/>
                </a:solidFill>
                <a:latin typeface="Arial Unicode MS"/>
                <a:ea typeface="JetBrains Mono"/>
              </a:rPr>
              <a:t>status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!=null"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lang="en-US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 and  </a:t>
            </a:r>
            <a:r>
              <a:rPr lang="zh-CN" altLang="zh-CN" sz="1200" smtClean="0">
                <a:solidFill>
                  <a:srgbClr val="871094"/>
                </a:solidFill>
                <a:latin typeface="Arial Unicode MS"/>
                <a:ea typeface="JetBrains Mono"/>
              </a:rPr>
              <a:t>status </a:t>
            </a:r>
            <a: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= #{status}</a:t>
            </a:r>
            <a:b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</a:t>
            </a:r>
            <a:r>
              <a:rPr kumimoji="0" lang="en-US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&lt;/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test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</a:t>
            </a:r>
            <a: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companyName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!=null"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lang="en-US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  </a:t>
            </a:r>
            <a: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and </a:t>
            </a:r>
            <a:r>
              <a:rPr lang="zh-CN" altLang="zh-CN" sz="1200" smtClean="0">
                <a:solidFill>
                  <a:srgbClr val="871094"/>
                </a:solidFill>
                <a:latin typeface="Arial Unicode MS"/>
                <a:ea typeface="JetBrains Mono"/>
              </a:rPr>
              <a:t>company_name </a:t>
            </a:r>
            <a: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like 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concat('%',#{</a:t>
            </a:r>
            <a: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companyName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},'%')</a:t>
            </a:r>
            <a: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/>
            </a:r>
            <a:b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</a:t>
            </a:r>
            <a:r>
              <a:rPr kumimoji="0" lang="en-US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&lt;/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endParaRPr kumimoji="0" lang="en-US" altLang="zh-CN" sz="1200" b="0" i="0" u="none" strike="noStrike" cap="none" normalizeH="0" baseline="0" smtClean="0">
              <a:ln>
                <a:noFill/>
              </a:ln>
              <a:solidFill>
                <a:srgbClr val="080808"/>
              </a:solidFill>
              <a:effectLst/>
              <a:latin typeface="Arial Unicode MS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test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</a:t>
            </a:r>
            <a: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brandName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!=null"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</a:t>
            </a:r>
            <a: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 and </a:t>
            </a:r>
            <a:r>
              <a:rPr lang="zh-CN" altLang="zh-CN" sz="1200" smtClean="0">
                <a:solidFill>
                  <a:srgbClr val="871094"/>
                </a:solidFill>
                <a:latin typeface="Arial Unicode MS"/>
                <a:ea typeface="JetBrains Mono"/>
              </a:rPr>
              <a:t>brand_name </a:t>
            </a:r>
            <a: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like 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concat('%',#{</a:t>
            </a:r>
            <a: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brandName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},'%')</a:t>
            </a:r>
            <a: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/>
            </a:r>
            <a:b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en-US" altLang="zh-CN" sz="1200" baseline="0" smtClean="0">
                <a:solidFill>
                  <a:srgbClr val="080808"/>
                </a:solidFill>
                <a:latin typeface="Arial Unicode MS"/>
                <a:ea typeface="JetBrains Mono"/>
              </a:rPr>
              <a:t>          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&lt;/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</a:t>
            </a: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zh-CN" sz="12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</a:t>
            </a:r>
            <a:r>
              <a:rPr lang="en-US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&lt;/where&gt;</a:t>
            </a:r>
            <a: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/>
            </a:r>
            <a:b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&lt;/</a:t>
            </a:r>
            <a:r>
              <a:rPr lang="zh-CN" altLang="zh-CN" sz="1200" smtClean="0">
                <a:solidFill>
                  <a:srgbClr val="0033B3"/>
                </a:solidFill>
                <a:latin typeface="Arial Unicode MS"/>
                <a:ea typeface="JetBrains Mono"/>
              </a:rPr>
              <a:t>select</a:t>
            </a:r>
            <a:r>
              <a:rPr lang="zh-CN" altLang="zh-CN" sz="1200" smtClean="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endParaRPr lang="zh-CN" altLang="zh-CN" sz="1800" smtClean="0">
              <a:latin typeface="Arial" panose="020B0604020202020204" pitchFamily="34" charset="0"/>
            </a:endParaRPr>
          </a:p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16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4895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17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5675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18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3771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19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0370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20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5429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21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3271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22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8444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23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5174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24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4123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25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764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26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9631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27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9725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28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8842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29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4657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30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533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BE760B7-955D-46DB-9CF6-0F5E75ACEF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>
            <a:extLst>
              <a:ext uri="{FF2B5EF4-FFF2-40B4-BE49-F238E27FC236}">
                <a16:creationId xmlns:a16="http://schemas.microsoft.com/office/drawing/2014/main" id="{FB933948-E99B-AD48-8B41-DEA66BC8F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493FA365-EB18-4C49-B470-79A013EED4C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D359BD9D-8F8C-A44C-91CC-CA8F5146AA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>
            <a:extLst>
              <a:ext uri="{FF2B5EF4-FFF2-40B4-BE49-F238E27FC236}">
                <a16:creationId xmlns:a16="http://schemas.microsoft.com/office/drawing/2014/main" id="{A7484BB2-BD94-3C49-9EC4-B9A294E2A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cxnSp>
        <p:nvCxnSpPr>
          <p:cNvPr id="11" name="直接连接符 22">
            <a:extLst>
              <a:ext uri="{FF2B5EF4-FFF2-40B4-BE49-F238E27FC236}">
                <a16:creationId xmlns:a16="http://schemas.microsoft.com/office/drawing/2014/main" id="{E3D0AD59-338B-5041-BA54-3D9BB0E399D6}"/>
              </a:ext>
            </a:extLst>
          </p:cNvPr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2197ADE-85E8-B341-8233-C315893A0BCC}"/>
              </a:ext>
            </a:extLst>
          </p:cNvPr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3756651-9738-8349-95DA-B0B282B3FAEA}"/>
                </a:ext>
              </a:extLst>
            </p:cNvPr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EF63353-41E7-0E43-AFC0-B2282740E9FE}"/>
                </a:ext>
              </a:extLst>
            </p:cNvPr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27893006-C6C0-BC4A-8CFB-289F585A2778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0" r:id="rId14"/>
    <p:sldLayoutId id="2147483706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0" y="2849562"/>
            <a:ext cx="10541000" cy="1158875"/>
          </a:xfrm>
        </p:spPr>
        <p:txBody>
          <a:bodyPr/>
          <a:lstStyle/>
          <a:p>
            <a:r>
              <a:rPr kumimoji="1" lang="en-US" altLang="zh-CN" sz="6000"/>
              <a:t>MyBatis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3974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F7B3626-AF35-40D3-BC4E-460185486D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完成品牌数据的增删改查操作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0378ABF-5EA6-4D92-8DC9-2854F49B7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956" y="2021205"/>
            <a:ext cx="9749688" cy="361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327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3BCC1F-61AC-40BD-9BAD-82779F9156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060207"/>
            <a:ext cx="10748057" cy="5262955"/>
          </a:xfrm>
        </p:spPr>
        <p:txBody>
          <a:bodyPr/>
          <a:lstStyle/>
          <a:p>
            <a:r>
              <a:rPr lang="zh-CN" altLang="en-US"/>
              <a:t>要完成的功能列表清单：</a:t>
            </a:r>
            <a:endParaRPr lang="en-US" altLang="zh-CN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查询</a:t>
            </a:r>
            <a:endParaRPr lang="en-US" altLang="zh-CN" sz="160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/>
              <a:t>查询所有数据</a:t>
            </a:r>
            <a:endParaRPr lang="en-US" altLang="zh-CN" sz="160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/>
              <a:t>查看详情</a:t>
            </a:r>
            <a:endParaRPr lang="en-US" altLang="zh-CN" sz="160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/>
              <a:t>条件查询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添加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修改</a:t>
            </a:r>
            <a:endParaRPr lang="en-US" altLang="zh-CN" sz="160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/>
              <a:t>修改全部字段</a:t>
            </a:r>
            <a:endParaRPr lang="en-US" altLang="zh-CN" sz="160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/>
              <a:t>修改动态字段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删除</a:t>
            </a:r>
            <a:endParaRPr lang="en-US" altLang="zh-CN" sz="160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/>
              <a:t>删除一个</a:t>
            </a:r>
            <a:endParaRPr lang="en-US" altLang="zh-CN" sz="160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/>
              <a:t>批量删除</a:t>
            </a:r>
            <a:endParaRPr lang="en-US" altLang="zh-CN" sz="1600"/>
          </a:p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811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F7B3626-AF35-40D3-BC4E-460185486D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准备环境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D603D5-05AB-4DD5-9820-C7F9074CB6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66471" y="1718143"/>
            <a:ext cx="9143209" cy="412369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/>
              <a:t>数据库表 </a:t>
            </a:r>
            <a:r>
              <a:rPr lang="en-US" altLang="zh-CN"/>
              <a:t>tb_brand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/>
              <a:t>实体类 </a:t>
            </a:r>
            <a:r>
              <a:rPr lang="en-US" altLang="zh-CN"/>
              <a:t>Brand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/>
              <a:t>测试用</a:t>
            </a:r>
            <a:r>
              <a:rPr lang="zh-CN" altLang="en-US" smtClean="0"/>
              <a:t>例</a:t>
            </a:r>
            <a:endParaRPr lang="en-US" altLang="zh-CN"/>
          </a:p>
          <a:p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01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3BCC1F-61AC-40BD-9BAD-82779F9156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060207"/>
            <a:ext cx="10748057" cy="5262955"/>
          </a:xfrm>
        </p:spPr>
        <p:txBody>
          <a:bodyPr/>
          <a:lstStyle/>
          <a:p>
            <a:r>
              <a:rPr lang="zh-CN" altLang="en-US"/>
              <a:t>要完成的功能列表清单：</a:t>
            </a:r>
            <a:endParaRPr lang="en-US" altLang="zh-CN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查询</a:t>
            </a:r>
            <a:endParaRPr lang="en-US" altLang="zh-CN" sz="160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>
                <a:solidFill>
                  <a:srgbClr val="C00000"/>
                </a:solidFill>
              </a:rPr>
              <a:t>查询所有数据</a:t>
            </a:r>
            <a:endParaRPr lang="en-US" altLang="zh-CN" sz="1600">
              <a:solidFill>
                <a:srgbClr val="C00000"/>
              </a:solidFill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/>
              <a:t>查看详情</a:t>
            </a:r>
            <a:endParaRPr lang="en-US" altLang="zh-CN" sz="160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/>
              <a:t>条件查询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添加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修改</a:t>
            </a:r>
            <a:endParaRPr lang="en-US" altLang="zh-CN" sz="160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/>
              <a:t>修改全部字段</a:t>
            </a:r>
            <a:endParaRPr lang="en-US" altLang="zh-CN" sz="160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/>
              <a:t>修改动态字段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删除</a:t>
            </a:r>
            <a:endParaRPr lang="en-US" altLang="zh-CN" sz="160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/>
              <a:t>删除一个</a:t>
            </a:r>
            <a:endParaRPr lang="en-US" altLang="zh-CN" sz="160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/>
              <a:t>批量删除</a:t>
            </a:r>
            <a:endParaRPr lang="en-US" altLang="zh-CN" sz="1600"/>
          </a:p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293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3B38406-9F70-4F05-8ADD-37D5ECF387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查询</a:t>
            </a:r>
            <a:r>
              <a:rPr lang="en-US" altLang="zh-CN"/>
              <a:t>-</a:t>
            </a:r>
            <a:r>
              <a:rPr lang="zh-CN" altLang="en-US"/>
              <a:t>查询所有数据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C9D7C95-DD80-45CA-85EE-1E3EC3C110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93609" y="3676830"/>
            <a:ext cx="3562811" cy="2165009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zh-CN" altLang="en-US"/>
              <a:t>编写接口方法：</a:t>
            </a:r>
            <a:r>
              <a:rPr lang="en-US" altLang="zh-CN"/>
              <a:t> Mapper</a:t>
            </a:r>
            <a:r>
              <a:rPr lang="zh-CN" altLang="en-US"/>
              <a:t>接口</a:t>
            </a:r>
            <a:endParaRPr lang="en-US" altLang="zh-CN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400"/>
              <a:t>参数：无</a:t>
            </a:r>
            <a:endParaRPr lang="en-US" altLang="zh-CN" sz="140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400"/>
              <a:t>结果：</a:t>
            </a:r>
            <a:r>
              <a:rPr lang="en-US" altLang="zh-CN" sz="1400"/>
              <a:t>List&lt;Brand&gt;</a:t>
            </a:r>
            <a:endParaRPr lang="en-US" altLang="zh-CN"/>
          </a:p>
          <a:p>
            <a:r>
              <a:rPr lang="en-US" altLang="zh-CN"/>
              <a:t>2.   </a:t>
            </a:r>
            <a:r>
              <a:rPr lang="zh-CN" altLang="en-US"/>
              <a:t>编写 </a:t>
            </a:r>
            <a:r>
              <a:rPr lang="en-US" altLang="zh-CN"/>
              <a:t>SQL</a:t>
            </a:r>
            <a:r>
              <a:rPr lang="zh-CN" altLang="en-US"/>
              <a:t>语句：</a:t>
            </a:r>
            <a:r>
              <a:rPr lang="en-US" altLang="zh-CN"/>
              <a:t> SQL</a:t>
            </a:r>
            <a:r>
              <a:rPr lang="zh-CN" altLang="en-US"/>
              <a:t>映射文件：</a:t>
            </a:r>
            <a:endParaRPr lang="en-US" altLang="zh-CN"/>
          </a:p>
          <a:p>
            <a:r>
              <a:rPr lang="en-US" altLang="zh-CN"/>
              <a:t>3.   </a:t>
            </a:r>
            <a:r>
              <a:rPr lang="zh-CN" altLang="en-US"/>
              <a:t>执行方法，测试</a:t>
            </a:r>
            <a:endParaRPr lang="en-US" altLang="zh-CN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234D4C6-E8A1-4B8C-8515-589422D50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E7B585DF-691B-4EC4-A02C-635B10EB23EB}"/>
              </a:ext>
            </a:extLst>
          </p:cNvPr>
          <p:cNvSpPr txBox="1"/>
          <p:nvPr/>
        </p:nvSpPr>
        <p:spPr>
          <a:xfrm>
            <a:off x="5510911" y="4643416"/>
            <a:ext cx="4521469" cy="115467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600">
                <a:solidFill>
                  <a:srgbClr val="0033B3"/>
                </a:solidFill>
                <a:latin typeface="Arial Unicode MS"/>
                <a:ea typeface="JetBrains Mono"/>
              </a:rPr>
              <a:t>select </a:t>
            </a:r>
            <a:r>
              <a:rPr lang="zh-CN" altLang="zh-CN" sz="1600">
                <a:solidFill>
                  <a:srgbClr val="174AD4"/>
                </a:solidFill>
                <a:latin typeface="Arial Unicode MS"/>
                <a:ea typeface="JetBrains Mono"/>
              </a:rPr>
              <a:t>id</a:t>
            </a:r>
            <a:r>
              <a:rPr lang="zh-CN" altLang="zh-CN" sz="1600">
                <a:solidFill>
                  <a:srgbClr val="067D17"/>
                </a:solidFill>
                <a:latin typeface="Arial Unicode MS"/>
                <a:ea typeface="JetBrains Mono"/>
              </a:rPr>
              <a:t>="selectAll" </a:t>
            </a:r>
            <a:r>
              <a:rPr lang="zh-CN" altLang="zh-CN" sz="1600">
                <a:solidFill>
                  <a:srgbClr val="174AD4"/>
                </a:solidFill>
                <a:latin typeface="Arial Unicode MS"/>
                <a:ea typeface="JetBrains Mono"/>
              </a:rPr>
              <a:t>resultType</a:t>
            </a:r>
            <a:r>
              <a:rPr lang="zh-CN" altLang="zh-CN" sz="1600">
                <a:solidFill>
                  <a:srgbClr val="067D17"/>
                </a:solidFill>
                <a:latin typeface="Arial Unicode MS"/>
                <a:ea typeface="JetBrains Mono"/>
              </a:rPr>
              <a:t>="brand"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    select </a:t>
            </a:r>
            <a:r>
              <a:rPr lang="zh-CN" altLang="zh-CN" sz="1600" i="1">
                <a:solidFill>
                  <a:srgbClr val="080808"/>
                </a:solidFill>
                <a:latin typeface="Arial Unicode MS"/>
                <a:ea typeface="JetBrains Mono"/>
              </a:rPr>
              <a:t>* 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from </a:t>
            </a:r>
            <a:r>
              <a:rPr lang="zh-CN" altLang="zh-CN" sz="1600">
                <a:solidFill>
                  <a:srgbClr val="000000"/>
                </a:solidFill>
                <a:latin typeface="Arial Unicode MS"/>
                <a:ea typeface="JetBrains Mono"/>
              </a:rPr>
              <a:t>tb_brand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;</a:t>
            </a:r>
            <a:b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&lt;/</a:t>
            </a:r>
            <a:r>
              <a:rPr lang="zh-CN" altLang="zh-CN" sz="1600">
                <a:solidFill>
                  <a:srgbClr val="0033B3"/>
                </a:solidFill>
                <a:latin typeface="Arial Unicode MS"/>
                <a:ea typeface="JetBrains Mono"/>
              </a:rPr>
              <a:t>select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endParaRPr lang="zh-CN" altLang="zh-CN" sz="240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88CD8-097C-430A-9C36-167DAD4C9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B65EE7-80D7-4537-9D66-19D7B625C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507" y="1700990"/>
            <a:ext cx="6786696" cy="17280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3">
            <a:extLst>
              <a:ext uri="{FF2B5EF4-FFF2-40B4-BE49-F238E27FC236}">
                <a16:creationId xmlns:a16="http://schemas.microsoft.com/office/drawing/2014/main" id="{126AD342-4C05-426F-B624-2C11DEA09FE0}"/>
              </a:ext>
            </a:extLst>
          </p:cNvPr>
          <p:cNvSpPr txBox="1"/>
          <p:nvPr/>
        </p:nvSpPr>
        <p:spPr>
          <a:xfrm>
            <a:off x="5510911" y="3821570"/>
            <a:ext cx="4521469" cy="33855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>
                <a:solidFill>
                  <a:srgbClr val="000000"/>
                </a:solidFill>
                <a:latin typeface="Arial Unicode MS"/>
                <a:ea typeface="JetBrains Mono"/>
              </a:rPr>
              <a:t>List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600">
                <a:solidFill>
                  <a:srgbClr val="000000"/>
                </a:solidFill>
                <a:latin typeface="Arial Unicode MS"/>
                <a:ea typeface="JetBrains Mono"/>
              </a:rPr>
              <a:t>Brand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&gt; </a:t>
            </a:r>
            <a:r>
              <a:rPr lang="zh-CN" altLang="zh-CN" sz="1600">
                <a:solidFill>
                  <a:srgbClr val="00627A"/>
                </a:solidFill>
                <a:latin typeface="Arial Unicode MS"/>
                <a:ea typeface="JetBrains Mono"/>
              </a:rPr>
              <a:t>selectAll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();</a:t>
            </a:r>
            <a:endParaRPr lang="zh-CN" altLang="zh-CN" sz="2400">
              <a:latin typeface="Arial" panose="020B0604020202020204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062ED90D-3CBD-4646-A9AF-977941C0D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63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7" name="文本占位符 4">
            <a:extLst>
              <a:ext uri="{FF2B5EF4-FFF2-40B4-BE49-F238E27FC236}">
                <a16:creationId xmlns:a16="http://schemas.microsoft.com/office/drawing/2014/main" id="{0384ACCD-F00B-4845-9790-60AB5486176E}"/>
              </a:ext>
            </a:extLst>
          </p:cNvPr>
          <p:cNvSpPr txBox="1">
            <a:spLocks/>
          </p:cNvSpPr>
          <p:nvPr/>
        </p:nvSpPr>
        <p:spPr>
          <a:xfrm>
            <a:off x="5015554" y="1689455"/>
            <a:ext cx="6552049" cy="3751489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altLang="zh-CN" sz="180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80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80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>
                <a:ea typeface="阿里巴巴普惠体" panose="00020600040101010101"/>
              </a:rPr>
              <a:t>MyBatis</a:t>
            </a:r>
            <a:r>
              <a:rPr lang="zh-CN" altLang="en-US" sz="1800">
                <a:ea typeface="阿里巴巴普惠体" panose="00020600040101010101"/>
              </a:rPr>
              <a:t>完成操作需要几步 ？</a:t>
            </a:r>
            <a:endParaRPr lang="en-US" altLang="zh-CN" sz="180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>
                <a:ea typeface="阿里巴巴普惠体" panose="00020600040101010101"/>
              </a:rPr>
              <a:t>        </a:t>
            </a:r>
            <a:r>
              <a:rPr lang="zh-CN" altLang="en-US" sz="1600">
                <a:solidFill>
                  <a:srgbClr val="C00000"/>
                </a:solidFill>
                <a:ea typeface="阿里巴巴普惠体" panose="00020600040101010101"/>
              </a:rPr>
              <a:t>三步：编写接口方法</a:t>
            </a:r>
            <a:r>
              <a:rPr lang="en-US" altLang="zh-CN" sz="1600">
                <a:solidFill>
                  <a:srgbClr val="C00000"/>
                </a:solidFill>
                <a:ea typeface="阿里巴巴普惠体" panose="00020600040101010101"/>
              </a:rPr>
              <a:t>--&gt; </a:t>
            </a:r>
            <a:r>
              <a:rPr lang="zh-CN" altLang="en-US" sz="1600">
                <a:solidFill>
                  <a:srgbClr val="C00000"/>
                </a:solidFill>
                <a:ea typeface="阿里巴巴普惠体" panose="00020600040101010101"/>
              </a:rPr>
              <a:t>编</a:t>
            </a:r>
            <a:r>
              <a:rPr lang="zh-CN" altLang="en-US" sz="1600" smtClean="0">
                <a:solidFill>
                  <a:srgbClr val="C00000"/>
                </a:solidFill>
                <a:ea typeface="阿里巴巴普惠体" panose="00020600040101010101"/>
              </a:rPr>
              <a:t>写</a:t>
            </a:r>
            <a:r>
              <a:rPr lang="en-US" altLang="zh-CN" sz="1600" smtClean="0">
                <a:solidFill>
                  <a:srgbClr val="C00000"/>
                </a:solidFill>
                <a:ea typeface="阿里巴巴普惠体" panose="00020600040101010101"/>
              </a:rPr>
              <a:t>SQL </a:t>
            </a:r>
            <a:r>
              <a:rPr lang="en-US" altLang="zh-CN" sz="1600">
                <a:solidFill>
                  <a:srgbClr val="C00000"/>
                </a:solidFill>
                <a:ea typeface="阿里巴巴普惠体" panose="00020600040101010101"/>
              </a:rPr>
              <a:t>--&gt;</a:t>
            </a:r>
            <a:r>
              <a:rPr lang="zh-CN" altLang="en-US" sz="1600">
                <a:solidFill>
                  <a:srgbClr val="C00000"/>
                </a:solidFill>
                <a:ea typeface="阿里巴巴普惠体" panose="00020600040101010101"/>
              </a:rPr>
              <a:t> 执行方法</a:t>
            </a:r>
            <a:endParaRPr lang="en-US" altLang="zh-CN" sz="1600">
              <a:solidFill>
                <a:srgbClr val="C00000"/>
              </a:solidFill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400">
              <a:solidFill>
                <a:srgbClr val="C00000"/>
              </a:solidFill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3677922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7" name="文本占位符 4">
            <a:extLst>
              <a:ext uri="{FF2B5EF4-FFF2-40B4-BE49-F238E27FC236}">
                <a16:creationId xmlns:a16="http://schemas.microsoft.com/office/drawing/2014/main" id="{0384ACCD-F00B-4845-9790-60AB5486176E}"/>
              </a:ext>
            </a:extLst>
          </p:cNvPr>
          <p:cNvSpPr txBox="1">
            <a:spLocks/>
          </p:cNvSpPr>
          <p:nvPr/>
        </p:nvSpPr>
        <p:spPr>
          <a:xfrm>
            <a:off x="5015554" y="1689455"/>
            <a:ext cx="6552049" cy="3751489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altLang="zh-CN" sz="180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80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ea typeface="阿里巴巴普惠体" panose="00020600040101010101"/>
              </a:rPr>
              <a:t>实体类属性名 和 数据库表列名 不一致，不能自动封装数据</a:t>
            </a:r>
            <a:endParaRPr lang="en-US" altLang="zh-CN" sz="160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>
                <a:ea typeface="阿里巴巴普惠体" panose="00020600040101010101"/>
              </a:rPr>
              <a:t>   </a:t>
            </a:r>
            <a:r>
              <a:rPr lang="en-US" altLang="zh-CN" sz="1400">
                <a:ea typeface="阿里巴巴普惠体" panose="00020600040101010101"/>
              </a:rPr>
              <a:t>1</a:t>
            </a:r>
            <a:r>
              <a:rPr lang="zh-CN" altLang="en-US" sz="1400">
                <a:ea typeface="阿里巴巴普惠体" panose="00020600040101010101"/>
              </a:rPr>
              <a:t>）</a:t>
            </a:r>
            <a:r>
              <a:rPr lang="zh-CN" altLang="en-US" sz="1400">
                <a:solidFill>
                  <a:srgbClr val="C00000"/>
                </a:solidFill>
                <a:ea typeface="阿里巴巴普惠体" panose="00020600040101010101"/>
              </a:rPr>
              <a:t>起别名</a:t>
            </a:r>
            <a:r>
              <a:rPr lang="zh-CN" altLang="en-US" sz="1400">
                <a:ea typeface="阿里巴巴普惠体" panose="00020600040101010101"/>
              </a:rPr>
              <a:t>：在</a:t>
            </a:r>
            <a:r>
              <a:rPr lang="en-US" altLang="zh-CN" sz="1400">
                <a:ea typeface="阿里巴巴普惠体" panose="00020600040101010101"/>
              </a:rPr>
              <a:t>SQL</a:t>
            </a:r>
            <a:r>
              <a:rPr lang="zh-CN" altLang="en-US" sz="1400">
                <a:ea typeface="阿里巴巴普惠体" panose="00020600040101010101"/>
              </a:rPr>
              <a:t>语句中，对不一样的列名起别名，别名和实体类属性名一样</a:t>
            </a:r>
            <a:endParaRPr lang="en-US" altLang="zh-CN" sz="140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smtClean="0">
                <a:ea typeface="阿里巴巴普惠体" panose="00020600040101010101"/>
              </a:rPr>
              <a:t>          </a:t>
            </a:r>
            <a:r>
              <a:rPr lang="zh-CN" altLang="en-US" sz="1400" smtClean="0">
                <a:ea typeface="阿里巴巴普惠体" panose="00020600040101010101"/>
              </a:rPr>
              <a:t>* 可以定义 </a:t>
            </a:r>
            <a:r>
              <a:rPr lang="en-US" altLang="zh-CN" sz="1400" smtClean="0">
                <a:ea typeface="阿里巴巴普惠体" panose="00020600040101010101"/>
              </a:rPr>
              <a:t>&lt;sql&gt;</a:t>
            </a:r>
            <a:r>
              <a:rPr lang="zh-CN" altLang="en-US" sz="1400" smtClean="0">
                <a:ea typeface="阿里巴巴普惠体" panose="00020600040101010101"/>
              </a:rPr>
              <a:t>片段，提升复用性</a:t>
            </a:r>
            <a:r>
              <a:rPr lang="en-US" altLang="zh-CN" sz="1400" smtClean="0">
                <a:ea typeface="阿里巴巴普惠体" panose="00020600040101010101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smtClean="0">
                <a:ea typeface="阿里巴巴普惠体" panose="00020600040101010101"/>
              </a:rPr>
              <a:t>    2</a:t>
            </a:r>
            <a:r>
              <a:rPr lang="zh-CN" altLang="en-US" sz="1400" smtClean="0">
                <a:ea typeface="阿里巴巴普惠体" panose="00020600040101010101"/>
              </a:rPr>
              <a:t>）</a:t>
            </a:r>
            <a:r>
              <a:rPr lang="en-US" altLang="zh-CN" sz="1400" smtClean="0">
                <a:solidFill>
                  <a:srgbClr val="C00000"/>
                </a:solidFill>
                <a:ea typeface="阿里巴巴普惠体" panose="00020600040101010101"/>
              </a:rPr>
              <a:t>resultMap</a:t>
            </a:r>
            <a:r>
              <a:rPr lang="zh-CN" altLang="en-US" sz="1400" smtClean="0">
                <a:ea typeface="阿里巴巴普惠体" panose="00020600040101010101"/>
              </a:rPr>
              <a:t>：定义</a:t>
            </a:r>
            <a:r>
              <a:rPr lang="en-US" altLang="zh-CN" sz="1400" smtClean="0">
                <a:ea typeface="阿里巴巴普惠体" panose="00020600040101010101"/>
              </a:rPr>
              <a:t>&lt;resultMap&gt; </a:t>
            </a:r>
            <a:r>
              <a:rPr lang="zh-CN" altLang="en-US" sz="1400" smtClean="0">
                <a:ea typeface="阿里巴巴普惠体" panose="00020600040101010101"/>
              </a:rPr>
              <a:t>完成不一致的属性名和列名的映射</a:t>
            </a:r>
            <a:endParaRPr lang="zh-CN" altLang="en-US" sz="1600" smtClean="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400">
              <a:solidFill>
                <a:srgbClr val="C00000"/>
              </a:solidFill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333434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3BCC1F-61AC-40BD-9BAD-82779F9156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060207"/>
            <a:ext cx="10748057" cy="5262955"/>
          </a:xfrm>
        </p:spPr>
        <p:txBody>
          <a:bodyPr/>
          <a:lstStyle/>
          <a:p>
            <a:r>
              <a:rPr lang="zh-CN" altLang="en-US"/>
              <a:t>要完成的功能列表清单：</a:t>
            </a:r>
            <a:endParaRPr lang="en-US" altLang="zh-CN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查询</a:t>
            </a:r>
            <a:endParaRPr lang="en-US" altLang="zh-CN" sz="160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/>
              <a:t>查询所有数据</a:t>
            </a:r>
            <a:endParaRPr lang="en-US" altLang="zh-CN" sz="160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>
                <a:solidFill>
                  <a:srgbClr val="C00000"/>
                </a:solidFill>
              </a:rPr>
              <a:t>查看详情</a:t>
            </a:r>
            <a:endParaRPr lang="en-US" altLang="zh-CN" sz="1600">
              <a:solidFill>
                <a:srgbClr val="C00000"/>
              </a:solidFill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/>
              <a:t>条件查询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添加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修改</a:t>
            </a:r>
            <a:endParaRPr lang="en-US" altLang="zh-CN" sz="160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/>
              <a:t>修改全部字段</a:t>
            </a:r>
            <a:endParaRPr lang="en-US" altLang="zh-CN" sz="160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/>
              <a:t>修改动态字段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删除</a:t>
            </a:r>
            <a:endParaRPr lang="en-US" altLang="zh-CN" sz="160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/>
              <a:t>删除一个</a:t>
            </a:r>
            <a:endParaRPr lang="en-US" altLang="zh-CN" sz="160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/>
              <a:t>批量删除</a:t>
            </a:r>
            <a:endParaRPr lang="en-US" altLang="zh-CN" sz="1600"/>
          </a:p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71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3B38406-9F70-4F05-8ADD-37D5ECF387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查询</a:t>
            </a:r>
            <a:r>
              <a:rPr lang="en-US" altLang="zh-CN"/>
              <a:t>-</a:t>
            </a:r>
            <a:r>
              <a:rPr lang="zh-CN" altLang="en-US"/>
              <a:t>查看详情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C9D7C95-DD80-45CA-85EE-1E3EC3C110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95450" y="3508561"/>
            <a:ext cx="3432987" cy="300477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/>
              <a:t>编写接口方法：</a:t>
            </a:r>
            <a:r>
              <a:rPr lang="en-US" altLang="zh-CN"/>
              <a:t> Mapper</a:t>
            </a:r>
            <a:r>
              <a:rPr lang="zh-CN" altLang="en-US"/>
              <a:t>接口</a:t>
            </a:r>
            <a:endParaRPr lang="en-US" altLang="zh-CN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400"/>
              <a:t>参数：</a:t>
            </a:r>
            <a:r>
              <a:rPr lang="en-US" altLang="zh-CN" sz="1400"/>
              <a:t>id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400"/>
              <a:t>结果：</a:t>
            </a:r>
            <a:r>
              <a:rPr lang="en-US" altLang="zh-CN" sz="1400"/>
              <a:t>Brand</a:t>
            </a:r>
          </a:p>
          <a:p>
            <a:r>
              <a:rPr lang="en-US" altLang="zh-CN"/>
              <a:t>2.   </a:t>
            </a:r>
            <a:r>
              <a:rPr lang="zh-CN" altLang="en-US"/>
              <a:t>编写 </a:t>
            </a:r>
            <a:r>
              <a:rPr lang="en-US" altLang="zh-CN"/>
              <a:t>SQL</a:t>
            </a:r>
            <a:r>
              <a:rPr lang="zh-CN" altLang="en-US"/>
              <a:t>语句：</a:t>
            </a:r>
            <a:r>
              <a:rPr lang="en-US" altLang="zh-CN"/>
              <a:t> SQL</a:t>
            </a:r>
            <a:r>
              <a:rPr lang="zh-CN" altLang="en-US"/>
              <a:t>映射文件</a:t>
            </a:r>
            <a:endParaRPr lang="en-US" altLang="zh-CN"/>
          </a:p>
          <a:p>
            <a:r>
              <a:rPr lang="en-US" altLang="zh-CN"/>
              <a:t>3.   </a:t>
            </a:r>
            <a:r>
              <a:rPr lang="zh-CN" altLang="en-US"/>
              <a:t>执行方法，测试</a:t>
            </a:r>
            <a:endParaRPr lang="en-US" altLang="zh-CN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234D4C6-E8A1-4B8C-8515-589422D50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E7B585DF-691B-4EC4-A02C-635B10EB23EB}"/>
              </a:ext>
            </a:extLst>
          </p:cNvPr>
          <p:cNvSpPr txBox="1"/>
          <p:nvPr/>
        </p:nvSpPr>
        <p:spPr>
          <a:xfrm>
            <a:off x="5628436" y="4433611"/>
            <a:ext cx="6181125" cy="115467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600">
                <a:solidFill>
                  <a:srgbClr val="0033B3"/>
                </a:solidFill>
                <a:latin typeface="Arial Unicode MS"/>
                <a:ea typeface="JetBrains Mono"/>
              </a:rPr>
              <a:t>select </a:t>
            </a:r>
            <a:r>
              <a:rPr lang="zh-CN" altLang="zh-CN" sz="1600">
                <a:solidFill>
                  <a:srgbClr val="174AD4"/>
                </a:solidFill>
                <a:latin typeface="Arial Unicode MS"/>
                <a:ea typeface="JetBrains Mono"/>
              </a:rPr>
              <a:t>id</a:t>
            </a:r>
            <a:r>
              <a:rPr lang="zh-CN" altLang="zh-CN" sz="1600">
                <a:solidFill>
                  <a:srgbClr val="067D17"/>
                </a:solidFill>
                <a:latin typeface="Arial Unicode MS"/>
                <a:ea typeface="JetBrains Mono"/>
              </a:rPr>
              <a:t>="selectById" </a:t>
            </a:r>
            <a:r>
              <a:rPr lang="zh-CN" altLang="zh-CN" sz="1600">
                <a:solidFill>
                  <a:srgbClr val="174AD4"/>
                </a:solidFill>
                <a:latin typeface="Arial Unicode MS"/>
                <a:ea typeface="JetBrains Mono"/>
              </a:rPr>
              <a:t>parameterType</a:t>
            </a:r>
            <a:r>
              <a:rPr lang="zh-CN" altLang="zh-CN" sz="1600">
                <a:solidFill>
                  <a:srgbClr val="067D17"/>
                </a:solidFill>
                <a:latin typeface="Arial Unicode MS"/>
                <a:ea typeface="JetBrains Mono"/>
              </a:rPr>
              <a:t>="int" </a:t>
            </a:r>
            <a:r>
              <a:rPr lang="zh-CN" altLang="zh-CN" sz="1600">
                <a:solidFill>
                  <a:srgbClr val="174AD4"/>
                </a:solidFill>
                <a:latin typeface="Arial Unicode MS"/>
                <a:ea typeface="JetBrains Mono"/>
              </a:rPr>
              <a:t>resultType</a:t>
            </a:r>
            <a:r>
              <a:rPr lang="zh-CN" altLang="zh-CN" sz="1600">
                <a:solidFill>
                  <a:srgbClr val="067D17"/>
                </a:solidFill>
                <a:latin typeface="Arial Unicode MS"/>
                <a:ea typeface="JetBrains Mono"/>
              </a:rPr>
              <a:t>="brand"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    select </a:t>
            </a:r>
            <a:r>
              <a:rPr lang="zh-CN" altLang="zh-CN" sz="1600" i="1">
                <a:solidFill>
                  <a:srgbClr val="080808"/>
                </a:solidFill>
                <a:latin typeface="Arial Unicode MS"/>
                <a:ea typeface="JetBrains Mono"/>
              </a:rPr>
              <a:t>* 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from </a:t>
            </a:r>
            <a:r>
              <a:rPr lang="zh-CN" altLang="zh-CN" sz="1600">
                <a:solidFill>
                  <a:srgbClr val="000000"/>
                </a:solidFill>
                <a:latin typeface="Arial Unicode MS"/>
                <a:ea typeface="JetBrains Mono"/>
              </a:rPr>
              <a:t>tb_brand 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where </a:t>
            </a:r>
            <a:r>
              <a:rPr lang="zh-CN" altLang="zh-CN" sz="1600">
                <a:solidFill>
                  <a:srgbClr val="871094"/>
                </a:solidFill>
                <a:latin typeface="Arial Unicode MS"/>
                <a:ea typeface="JetBrains Mono"/>
              </a:rPr>
              <a:t>id 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= #{id};</a:t>
            </a:r>
            <a:b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&lt;/</a:t>
            </a:r>
            <a:r>
              <a:rPr lang="zh-CN" altLang="zh-CN" sz="1600">
                <a:solidFill>
                  <a:srgbClr val="0033B3"/>
                </a:solidFill>
                <a:latin typeface="Arial Unicode MS"/>
                <a:ea typeface="JetBrains Mono"/>
              </a:rPr>
              <a:t>select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endParaRPr lang="zh-CN" altLang="zh-CN" sz="240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88CD8-097C-430A-9C36-167DAD4C9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85E9854-4D83-42DF-A2D7-BC28A0A37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1F3C6D7-B50F-4762-8DEC-43601E2CC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450" y="1720074"/>
            <a:ext cx="7394115" cy="15875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3">
            <a:extLst>
              <a:ext uri="{FF2B5EF4-FFF2-40B4-BE49-F238E27FC236}">
                <a16:creationId xmlns:a16="http://schemas.microsoft.com/office/drawing/2014/main" id="{731C9C4C-29CA-457A-88EF-AD0619CB5132}"/>
              </a:ext>
            </a:extLst>
          </p:cNvPr>
          <p:cNvSpPr txBox="1"/>
          <p:nvPr/>
        </p:nvSpPr>
        <p:spPr>
          <a:xfrm>
            <a:off x="5628436" y="3590032"/>
            <a:ext cx="6181125" cy="33855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>
                <a:solidFill>
                  <a:srgbClr val="000000"/>
                </a:solidFill>
                <a:latin typeface="Arial Unicode MS"/>
                <a:ea typeface="JetBrains Mono"/>
              </a:rPr>
              <a:t>Brand </a:t>
            </a:r>
            <a:r>
              <a:rPr lang="zh-CN" altLang="zh-CN" sz="1600">
                <a:solidFill>
                  <a:srgbClr val="00627A"/>
                </a:solidFill>
                <a:latin typeface="Arial Unicode MS"/>
                <a:ea typeface="JetBrains Mono"/>
              </a:rPr>
              <a:t>selectById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1600">
                <a:solidFill>
                  <a:srgbClr val="0033B3"/>
                </a:solidFill>
                <a:latin typeface="Arial Unicode MS"/>
                <a:ea typeface="JetBrains Mono"/>
              </a:rPr>
              <a:t>int 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id);</a:t>
            </a:r>
            <a:endParaRPr lang="zh-CN" altLang="zh-CN" sz="2400"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6AA8B5D-5D79-4016-85F6-BDDC1C12F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990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7" name="文本占位符 4">
            <a:extLst>
              <a:ext uri="{FF2B5EF4-FFF2-40B4-BE49-F238E27FC236}">
                <a16:creationId xmlns:a16="http://schemas.microsoft.com/office/drawing/2014/main" id="{0384ACCD-F00B-4845-9790-60AB5486176E}"/>
              </a:ext>
            </a:extLst>
          </p:cNvPr>
          <p:cNvSpPr txBox="1">
            <a:spLocks/>
          </p:cNvSpPr>
          <p:nvPr/>
        </p:nvSpPr>
        <p:spPr>
          <a:xfrm>
            <a:off x="4766554" y="1292757"/>
            <a:ext cx="5709096" cy="5331214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altLang="zh-CN" sz="160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60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>
                <a:ea typeface="阿里巴巴普惠体" panose="00020600040101010101"/>
              </a:rPr>
              <a:t>1. </a:t>
            </a:r>
            <a:r>
              <a:rPr lang="zh-CN" altLang="en-US" sz="1600">
                <a:ea typeface="阿里巴巴普惠体" panose="00020600040101010101"/>
              </a:rPr>
              <a:t>参数占位符：</a:t>
            </a:r>
            <a:br>
              <a:rPr lang="zh-CN" altLang="en-US" sz="1600">
                <a:ea typeface="阿里巴巴普惠体" panose="00020600040101010101"/>
              </a:rPr>
            </a:br>
            <a:r>
              <a:rPr lang="zh-CN" altLang="en-US" sz="1400">
                <a:ea typeface="阿里巴巴普惠体" panose="00020600040101010101"/>
              </a:rPr>
              <a:t>    </a:t>
            </a:r>
            <a:r>
              <a:rPr lang="en-US" altLang="zh-CN" sz="1400">
                <a:ea typeface="阿里巴巴普惠体" panose="00020600040101010101"/>
              </a:rPr>
              <a:t>1</a:t>
            </a:r>
            <a:r>
              <a:rPr lang="zh-CN" altLang="en-US" sz="1400">
                <a:ea typeface="阿里巴巴普惠体" panose="00020600040101010101"/>
              </a:rPr>
              <a:t>）</a:t>
            </a:r>
            <a:r>
              <a:rPr lang="en-US" altLang="zh-CN" sz="1400">
                <a:solidFill>
                  <a:srgbClr val="C00000"/>
                </a:solidFill>
                <a:ea typeface="阿里巴巴普惠体" panose="00020600040101010101"/>
              </a:rPr>
              <a:t>#{}</a:t>
            </a:r>
            <a:r>
              <a:rPr lang="zh-CN" altLang="en-US" sz="1400">
                <a:ea typeface="阿里巴巴普惠体" panose="00020600040101010101"/>
              </a:rPr>
              <a:t>：执行</a:t>
            </a:r>
            <a:r>
              <a:rPr lang="en-US" altLang="zh-CN" sz="1400">
                <a:ea typeface="阿里巴巴普惠体" panose="00020600040101010101"/>
              </a:rPr>
              <a:t>SQL</a:t>
            </a:r>
            <a:r>
              <a:rPr lang="zh-CN" altLang="en-US" sz="1400">
                <a:ea typeface="阿里巴巴普惠体" panose="00020600040101010101"/>
              </a:rPr>
              <a:t>时，会将</a:t>
            </a:r>
            <a:r>
              <a:rPr lang="en-US" altLang="zh-CN" sz="1400">
                <a:ea typeface="阿里巴巴普惠体" panose="00020600040101010101"/>
              </a:rPr>
              <a:t>#{}</a:t>
            </a:r>
            <a:r>
              <a:rPr lang="zh-CN" altLang="en-US" sz="1400">
                <a:ea typeface="阿里巴巴普惠体" panose="00020600040101010101"/>
              </a:rPr>
              <a:t>占位符替换为</a:t>
            </a:r>
            <a:r>
              <a:rPr lang="en-US" altLang="zh-CN" sz="1400">
                <a:ea typeface="阿里巴巴普惠体" panose="00020600040101010101"/>
              </a:rPr>
              <a:t>?,</a:t>
            </a:r>
            <a:r>
              <a:rPr lang="zh-CN" altLang="en-US" sz="1400">
                <a:ea typeface="阿里巴巴普惠体" panose="00020600040101010101"/>
              </a:rPr>
              <a:t>将来自动设置参数值</a:t>
            </a:r>
            <a:br>
              <a:rPr lang="zh-CN" altLang="en-US" sz="1400">
                <a:ea typeface="阿里巴巴普惠体" panose="00020600040101010101"/>
              </a:rPr>
            </a:br>
            <a:r>
              <a:rPr lang="zh-CN" altLang="en-US" sz="1400">
                <a:ea typeface="阿里巴巴普惠体" panose="00020600040101010101"/>
              </a:rPr>
              <a:t>    </a:t>
            </a:r>
            <a:r>
              <a:rPr lang="en-US" altLang="zh-CN" sz="1400">
                <a:ea typeface="阿里巴巴普惠体" panose="00020600040101010101"/>
              </a:rPr>
              <a:t>2</a:t>
            </a:r>
            <a:r>
              <a:rPr lang="zh-CN" altLang="en-US" sz="1400">
                <a:ea typeface="阿里巴巴普惠体" panose="00020600040101010101"/>
              </a:rPr>
              <a:t>）</a:t>
            </a:r>
            <a:r>
              <a:rPr lang="en-US" altLang="zh-CN" sz="1400">
                <a:solidFill>
                  <a:srgbClr val="C00000"/>
                </a:solidFill>
                <a:ea typeface="阿里巴巴普惠体" panose="00020600040101010101"/>
              </a:rPr>
              <a:t>${}</a:t>
            </a:r>
            <a:r>
              <a:rPr lang="zh-CN" altLang="en-US" sz="1400">
                <a:ea typeface="阿里巴巴普惠体" panose="00020600040101010101"/>
              </a:rPr>
              <a:t>：拼</a:t>
            </a:r>
            <a:r>
              <a:rPr lang="en-US" altLang="zh-CN" sz="1400">
                <a:ea typeface="阿里巴巴普惠体" panose="00020600040101010101"/>
              </a:rPr>
              <a:t>SQL</a:t>
            </a:r>
            <a:r>
              <a:rPr lang="zh-CN" altLang="en-US" sz="1400">
                <a:ea typeface="阿里巴巴普惠体" panose="00020600040101010101"/>
              </a:rPr>
              <a:t>。会存在</a:t>
            </a:r>
            <a:r>
              <a:rPr lang="en-US" altLang="zh-CN" sz="1400">
                <a:ea typeface="阿里巴巴普惠体" panose="00020600040101010101"/>
              </a:rPr>
              <a:t>SQL</a:t>
            </a:r>
            <a:r>
              <a:rPr lang="zh-CN" altLang="en-US" sz="1400">
                <a:ea typeface="阿里巴巴普惠体" panose="00020600040101010101"/>
              </a:rPr>
              <a:t>注入问题</a:t>
            </a:r>
            <a:br>
              <a:rPr lang="zh-CN" altLang="en-US" sz="1400">
                <a:ea typeface="阿里巴巴普惠体" panose="00020600040101010101"/>
              </a:rPr>
            </a:br>
            <a:r>
              <a:rPr lang="zh-CN" altLang="en-US" sz="1400">
                <a:ea typeface="阿里巴巴普惠体" panose="00020600040101010101"/>
              </a:rPr>
              <a:t>    </a:t>
            </a:r>
            <a:r>
              <a:rPr lang="en-US" altLang="zh-CN" sz="1400">
                <a:ea typeface="阿里巴巴普惠体" panose="00020600040101010101"/>
              </a:rPr>
              <a:t>3. </a:t>
            </a:r>
            <a:r>
              <a:rPr lang="zh-CN" altLang="en-US" sz="1400">
                <a:ea typeface="阿里巴巴普惠体" panose="00020600040101010101"/>
              </a:rPr>
              <a:t>使用时机：</a:t>
            </a:r>
            <a:br>
              <a:rPr lang="zh-CN" altLang="en-US" sz="1400">
                <a:ea typeface="阿里巴巴普惠体" panose="00020600040101010101"/>
              </a:rPr>
            </a:br>
            <a:r>
              <a:rPr lang="zh-CN" altLang="en-US" sz="1400">
                <a:ea typeface="阿里巴巴普惠体" panose="00020600040101010101"/>
              </a:rPr>
              <a:t>        * 参数传递，都使用</a:t>
            </a:r>
            <a:r>
              <a:rPr lang="en-US" altLang="zh-CN" sz="1400">
                <a:ea typeface="阿里巴巴普惠体" panose="00020600040101010101"/>
              </a:rPr>
              <a:t>#{}</a:t>
            </a:r>
            <a:br>
              <a:rPr lang="en-US" altLang="zh-CN" sz="1400">
                <a:ea typeface="阿里巴巴普惠体" panose="00020600040101010101"/>
              </a:rPr>
            </a:br>
            <a:r>
              <a:rPr lang="en-US" altLang="zh-CN" sz="1400">
                <a:ea typeface="阿里巴巴普惠体" panose="00020600040101010101"/>
              </a:rPr>
              <a:t>        * </a:t>
            </a:r>
            <a:r>
              <a:rPr lang="zh-CN" altLang="en-US" sz="1400">
                <a:ea typeface="阿里巴巴普惠体" panose="00020600040101010101"/>
              </a:rPr>
              <a:t>如果要对表名、列名进行动态设置，只能使用</a:t>
            </a:r>
            <a:r>
              <a:rPr lang="en-US" altLang="zh-CN" sz="1400">
                <a:ea typeface="阿里巴巴普惠体" panose="00020600040101010101"/>
              </a:rPr>
              <a:t>${}</a:t>
            </a:r>
            <a:r>
              <a:rPr lang="zh-CN" altLang="en-US" sz="1400">
                <a:ea typeface="阿里巴巴普惠体" panose="00020600040101010101"/>
              </a:rPr>
              <a:t>进行</a:t>
            </a:r>
            <a:r>
              <a:rPr lang="en-US" altLang="zh-CN" sz="1400">
                <a:ea typeface="阿里巴巴普惠体" panose="00020600040101010101"/>
              </a:rPr>
              <a:t>sql</a:t>
            </a:r>
            <a:r>
              <a:rPr lang="zh-CN" altLang="en-US" sz="1400">
                <a:ea typeface="阿里巴巴普惠体" panose="00020600040101010101"/>
              </a:rPr>
              <a:t>拼接。</a:t>
            </a:r>
            <a:r>
              <a:rPr lang="zh-CN" altLang="en-US" sz="1600">
                <a:ea typeface="阿里巴巴普惠体" panose="00020600040101010101"/>
              </a:rPr>
              <a:t/>
            </a:r>
            <a:br>
              <a:rPr lang="zh-CN" altLang="en-US" sz="1600">
                <a:ea typeface="阿里巴巴普惠体" panose="00020600040101010101"/>
              </a:rPr>
            </a:br>
            <a:r>
              <a:rPr lang="en-US" altLang="zh-CN" sz="1600">
                <a:ea typeface="阿里巴巴普惠体" panose="00020600040101010101"/>
              </a:rPr>
              <a:t>2. </a:t>
            </a:r>
            <a:r>
              <a:rPr lang="en-US" altLang="zh-CN" sz="1800">
                <a:ea typeface="阿里巴巴普惠体" panose="00020600040101010101"/>
              </a:rPr>
              <a:t>parameterType</a:t>
            </a:r>
            <a:r>
              <a:rPr lang="zh-CN" altLang="en-US" sz="1600">
                <a:ea typeface="阿里巴巴普惠体" panose="00020600040101010101"/>
              </a:rPr>
              <a:t>：</a:t>
            </a:r>
            <a:endParaRPr lang="en-US" altLang="zh-CN" sz="160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400">
                <a:ea typeface="阿里巴巴普惠体" panose="00020600040101010101"/>
              </a:rPr>
              <a:t>    * 用于设置参数类型，该参数可以省略   </a:t>
            </a:r>
            <a:endParaRPr lang="en-US" altLang="zh-CN" sz="1400">
              <a:ea typeface="阿里巴巴普惠体" panose="00020600040101010101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9008B4-5E73-44AF-8F3F-3048C1495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A3FB8E5-E160-4910-8DDD-CC683DB0B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126CCB-1BC7-48AD-B00F-E2AA8BC04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006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3BCC1F-61AC-40BD-9BAD-82779F9156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060207"/>
            <a:ext cx="10748057" cy="5262955"/>
          </a:xfrm>
        </p:spPr>
        <p:txBody>
          <a:bodyPr/>
          <a:lstStyle/>
          <a:p>
            <a:r>
              <a:rPr lang="zh-CN" altLang="en-US"/>
              <a:t>要完成的功能列表清单：</a:t>
            </a:r>
            <a:endParaRPr lang="en-US" altLang="zh-CN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查询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查询所有数据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查看详情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>
                <a:solidFill>
                  <a:srgbClr val="C00000"/>
                </a:solidFill>
              </a:rPr>
              <a:t>条件查询</a:t>
            </a:r>
            <a:endParaRPr lang="en-US" altLang="zh-CN" sz="160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添加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修改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修改全部字段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修改动态字段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删除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删除一个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批量删除</a:t>
            </a:r>
            <a:endParaRPr lang="en-US" altLang="zh-CN" sz="1600"/>
          </a:p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412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3B38406-9F70-4F05-8ADD-37D5ECF387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95450" y="1016160"/>
            <a:ext cx="7394115" cy="517190"/>
          </a:xfrm>
        </p:spPr>
        <p:txBody>
          <a:bodyPr/>
          <a:lstStyle/>
          <a:p>
            <a:r>
              <a:rPr lang="zh-CN" altLang="en-US"/>
              <a:t>查询</a:t>
            </a:r>
            <a:r>
              <a:rPr lang="en-US" altLang="zh-CN"/>
              <a:t>-</a:t>
            </a:r>
            <a:r>
              <a:rPr lang="zh-CN" altLang="en-US"/>
              <a:t>多条件查询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C9D7C95-DD80-45CA-85EE-1E3EC3C110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4061" y="3205111"/>
            <a:ext cx="3283264" cy="241884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/>
              <a:t>编写接口方法：</a:t>
            </a:r>
            <a:r>
              <a:rPr lang="en-US" altLang="zh-CN"/>
              <a:t> Mapper</a:t>
            </a:r>
            <a:r>
              <a:rPr lang="zh-CN" altLang="en-US"/>
              <a:t>接口</a:t>
            </a:r>
            <a:endParaRPr lang="en-US" altLang="zh-CN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400"/>
              <a:t>参数：所有查询条件</a:t>
            </a:r>
            <a:endParaRPr lang="en-US" altLang="zh-CN" sz="140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400"/>
              <a:t>结果：</a:t>
            </a:r>
            <a:r>
              <a:rPr lang="en-US" altLang="zh-CN" sz="1400"/>
              <a:t>List&lt;Brand&gt;</a:t>
            </a:r>
          </a:p>
          <a:p>
            <a:r>
              <a:rPr lang="en-US" altLang="zh-CN"/>
              <a:t>2.   </a:t>
            </a:r>
            <a:r>
              <a:rPr lang="zh-CN" altLang="en-US"/>
              <a:t>编写 </a:t>
            </a:r>
            <a:r>
              <a:rPr lang="en-US" altLang="zh-CN"/>
              <a:t>SQL</a:t>
            </a:r>
            <a:r>
              <a:rPr lang="zh-CN" altLang="en-US"/>
              <a:t>语句：</a:t>
            </a:r>
            <a:r>
              <a:rPr lang="en-US" altLang="zh-CN"/>
              <a:t> SQL</a:t>
            </a:r>
            <a:r>
              <a:rPr lang="zh-CN" altLang="en-US"/>
              <a:t>映射文件</a:t>
            </a:r>
            <a:endParaRPr lang="en-US" altLang="zh-CN"/>
          </a:p>
          <a:p>
            <a:r>
              <a:rPr lang="en-US" altLang="zh-CN"/>
              <a:t>3.   </a:t>
            </a:r>
            <a:r>
              <a:rPr lang="zh-CN" altLang="en-US"/>
              <a:t>执行方法，测试</a:t>
            </a:r>
            <a:endParaRPr lang="en-US" altLang="zh-CN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234D4C6-E8A1-4B8C-8515-589422D50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88CD8-097C-430A-9C36-167DAD4C9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85E9854-4D83-42DF-A2D7-BC28A0A37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A636CA7-98EB-495A-BEF0-C8CB9817E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0" y="1609425"/>
            <a:ext cx="5883083" cy="14971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3731FC24-F8E2-4EE2-8CC0-2D118661E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C29F7263-306B-4558-AE6A-C99D7AD27ED1}"/>
              </a:ext>
            </a:extLst>
          </p:cNvPr>
          <p:cNvSpPr txBox="1"/>
          <p:nvPr/>
        </p:nvSpPr>
        <p:spPr>
          <a:xfrm>
            <a:off x="4158031" y="4679740"/>
            <a:ext cx="7862950" cy="20621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600">
                <a:solidFill>
                  <a:srgbClr val="0033B3"/>
                </a:solidFill>
                <a:latin typeface="Arial Unicode MS"/>
                <a:ea typeface="JetBrains Mono"/>
              </a:rPr>
              <a:t>select </a:t>
            </a:r>
            <a:r>
              <a:rPr lang="zh-CN" altLang="zh-CN" sz="1600">
                <a:solidFill>
                  <a:srgbClr val="174AD4"/>
                </a:solidFill>
                <a:latin typeface="Arial Unicode MS"/>
                <a:ea typeface="JetBrains Mono"/>
              </a:rPr>
              <a:t>id</a:t>
            </a:r>
            <a:r>
              <a:rPr lang="zh-CN" altLang="zh-CN" sz="1600">
                <a:solidFill>
                  <a:srgbClr val="067D17"/>
                </a:solidFill>
                <a:latin typeface="Arial Unicode MS"/>
                <a:ea typeface="JetBrains Mono"/>
              </a:rPr>
              <a:t>="selectByCondition" </a:t>
            </a:r>
            <a:r>
              <a:rPr lang="zh-CN" altLang="zh-CN" sz="1600">
                <a:solidFill>
                  <a:srgbClr val="174AD4"/>
                </a:solidFill>
                <a:latin typeface="Arial Unicode MS"/>
                <a:ea typeface="JetBrains Mono"/>
              </a:rPr>
              <a:t>resultMap</a:t>
            </a:r>
            <a:r>
              <a:rPr lang="zh-CN" altLang="zh-CN" sz="1600">
                <a:solidFill>
                  <a:srgbClr val="067D17"/>
                </a:solidFill>
                <a:latin typeface="Arial Unicode MS"/>
                <a:ea typeface="JetBrains Mono"/>
              </a:rPr>
              <a:t>="brandResultMap"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    select </a:t>
            </a:r>
            <a:r>
              <a:rPr lang="zh-CN" altLang="zh-CN" sz="1600" i="1">
                <a:solidFill>
                  <a:srgbClr val="080808"/>
                </a:solidFill>
                <a:latin typeface="Arial Unicode MS"/>
                <a:ea typeface="JetBrains Mono"/>
              </a:rPr>
              <a:t>*</a:t>
            </a:r>
            <a:br>
              <a:rPr lang="zh-CN" altLang="zh-CN" sz="1600" i="1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600" i="1">
                <a:solidFill>
                  <a:srgbClr val="080808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from </a:t>
            </a:r>
            <a:r>
              <a:rPr lang="zh-CN" altLang="zh-CN" sz="1600">
                <a:solidFill>
                  <a:srgbClr val="000000"/>
                </a:solidFill>
                <a:latin typeface="Arial Unicode MS"/>
                <a:ea typeface="JetBrains Mono"/>
              </a:rPr>
              <a:t>tb_brand</a:t>
            </a:r>
            <a:br>
              <a:rPr lang="zh-CN" altLang="zh-CN" sz="1600">
                <a:solidFill>
                  <a:srgbClr val="000000"/>
                </a:solidFill>
                <a:latin typeface="Arial Unicode MS"/>
                <a:ea typeface="JetBrains Mono"/>
              </a:rPr>
            </a:br>
            <a:r>
              <a:rPr lang="zh-CN" altLang="zh-CN" sz="1600">
                <a:solidFill>
                  <a:srgbClr val="000000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wher</a:t>
            </a:r>
            <a:r>
              <a:rPr lang="zh-CN" altLang="zh-CN" sz="1600" smtClean="0">
                <a:solidFill>
                  <a:srgbClr val="080808"/>
                </a:solidFill>
                <a:latin typeface="Arial Unicode MS"/>
                <a:ea typeface="JetBrains Mono"/>
              </a:rPr>
              <a:t>e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/>
            </a:r>
            <a:b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600" smtClean="0">
                <a:solidFill>
                  <a:srgbClr val="080808"/>
                </a:solidFill>
                <a:latin typeface="Arial Unicode MS"/>
                <a:ea typeface="JetBrains Mono"/>
              </a:rPr>
              <a:t>          </a:t>
            </a:r>
            <a:r>
              <a:rPr lang="zh-CN" altLang="zh-CN" sz="1600" smtClean="0">
                <a:solidFill>
                  <a:srgbClr val="871094"/>
                </a:solidFill>
                <a:latin typeface="Arial Unicode MS"/>
                <a:ea typeface="JetBrains Mono"/>
              </a:rPr>
              <a:t>status </a:t>
            </a:r>
            <a:r>
              <a:rPr lang="zh-CN" altLang="zh-CN" sz="1600" smtClean="0">
                <a:solidFill>
                  <a:srgbClr val="080808"/>
                </a:solidFill>
                <a:latin typeface="Arial Unicode MS"/>
                <a:ea typeface="JetBrains Mono"/>
              </a:rPr>
              <a:t>= #{status}</a:t>
            </a:r>
            <a:br>
              <a:rPr lang="zh-CN" altLang="zh-CN" sz="1600" smtClean="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600" smtClean="0">
                <a:solidFill>
                  <a:srgbClr val="080808"/>
                </a:solidFill>
                <a:latin typeface="Arial Unicode MS"/>
                <a:ea typeface="JetBrains Mono"/>
              </a:rPr>
              <a:t>          and </a:t>
            </a:r>
            <a:r>
              <a:rPr lang="zh-CN" altLang="zh-CN" sz="1600" smtClean="0">
                <a:solidFill>
                  <a:srgbClr val="871094"/>
                </a:solidFill>
                <a:latin typeface="Arial Unicode MS"/>
                <a:ea typeface="JetBrains Mono"/>
              </a:rPr>
              <a:t>company_nam</a:t>
            </a:r>
            <a:r>
              <a:rPr lang="zh-CN" altLang="zh-CN" sz="1600">
                <a:solidFill>
                  <a:srgbClr val="871094"/>
                </a:solidFill>
                <a:latin typeface="Arial Unicode MS"/>
                <a:ea typeface="JetBrains Mono"/>
              </a:rPr>
              <a:t>e 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like #{companyName}</a:t>
            </a:r>
            <a:b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          and </a:t>
            </a:r>
            <a:r>
              <a:rPr lang="zh-CN" altLang="zh-CN" sz="1600">
                <a:solidFill>
                  <a:srgbClr val="871094"/>
                </a:solidFill>
                <a:latin typeface="Arial Unicode MS"/>
                <a:ea typeface="JetBrains Mono"/>
              </a:rPr>
              <a:t>brand_name 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like #{brandName}</a:t>
            </a:r>
            <a:b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&lt;/</a:t>
            </a:r>
            <a:r>
              <a:rPr lang="zh-CN" altLang="zh-CN" sz="1600">
                <a:solidFill>
                  <a:srgbClr val="0033B3"/>
                </a:solidFill>
                <a:latin typeface="Arial Unicode MS"/>
                <a:ea typeface="JetBrains Mono"/>
              </a:rPr>
              <a:t>select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endParaRPr lang="zh-CN" altLang="zh-CN" sz="2400">
              <a:latin typeface="Arial" panose="020B060402020202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1F7100CD-7BF0-482A-BD3D-97D3D08A6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9D91681B-4DAD-4C0C-929A-DC3FC06AE8C8}"/>
              </a:ext>
            </a:extLst>
          </p:cNvPr>
          <p:cNvSpPr txBox="1"/>
          <p:nvPr/>
        </p:nvSpPr>
        <p:spPr>
          <a:xfrm>
            <a:off x="4158031" y="3205111"/>
            <a:ext cx="7862950" cy="138499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List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Brand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 </a:t>
            </a:r>
            <a:r>
              <a:rPr lang="zh-CN" altLang="zh-CN" sz="1400">
                <a:solidFill>
                  <a:srgbClr val="00627A"/>
                </a:solidFill>
                <a:latin typeface="Arial Unicode MS"/>
                <a:ea typeface="JetBrains Mono"/>
              </a:rPr>
              <a:t>selectByCondition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1400">
                <a:solidFill>
                  <a:srgbClr val="9E880D"/>
                </a:solidFill>
                <a:latin typeface="Arial Unicode MS"/>
                <a:ea typeface="JetBrains Mono"/>
              </a:rPr>
              <a:t>@Param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"status"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)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int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status, </a:t>
            </a:r>
            <a:r>
              <a:rPr lang="zh-CN" altLang="zh-CN" sz="1400">
                <a:solidFill>
                  <a:srgbClr val="9E880D"/>
                </a:solidFill>
                <a:latin typeface="Arial Unicode MS"/>
                <a:ea typeface="JetBrains Mono"/>
              </a:rPr>
              <a:t>@Param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"companyName"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) </a:t>
            </a: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String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companyName, </a:t>
            </a:r>
            <a:r>
              <a:rPr lang="zh-CN" altLang="zh-CN" sz="1400">
                <a:solidFill>
                  <a:srgbClr val="9E880D"/>
                </a:solidFill>
                <a:latin typeface="Arial Unicode MS"/>
                <a:ea typeface="JetBrains Mono"/>
              </a:rPr>
              <a:t>@Param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"brandName"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) </a:t>
            </a: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String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brandName);</a:t>
            </a:r>
            <a:endParaRPr lang="en-US" altLang="zh-CN" sz="1400">
              <a:solidFill>
                <a:srgbClr val="080808"/>
              </a:solidFill>
              <a:latin typeface="Arial Unicode MS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/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List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Brand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 </a:t>
            </a:r>
            <a:r>
              <a:rPr lang="zh-CN" altLang="zh-CN" sz="1400">
                <a:solidFill>
                  <a:srgbClr val="00627A"/>
                </a:solidFill>
                <a:latin typeface="Arial Unicode MS"/>
                <a:ea typeface="JetBrains Mono"/>
              </a:rPr>
              <a:t>selectByCondition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Brand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brand);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endParaRPr lang="en-US" altLang="zh-CN" sz="1400">
              <a:solidFill>
                <a:srgbClr val="080808"/>
              </a:solidFill>
              <a:latin typeface="Arial Unicode MS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List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Brand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 </a:t>
            </a:r>
            <a:r>
              <a:rPr lang="zh-CN" altLang="zh-CN" sz="1400">
                <a:solidFill>
                  <a:srgbClr val="00627A"/>
                </a:solidFill>
                <a:latin typeface="Arial Unicode MS"/>
                <a:ea typeface="JetBrains Mono"/>
              </a:rPr>
              <a:t>selectByCondition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Map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map);</a:t>
            </a: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0F3816E-4346-434D-AC2D-4DB69D381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746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7" name="文本占位符 4">
            <a:extLst>
              <a:ext uri="{FF2B5EF4-FFF2-40B4-BE49-F238E27FC236}">
                <a16:creationId xmlns:a16="http://schemas.microsoft.com/office/drawing/2014/main" id="{0384ACCD-F00B-4845-9790-60AB5486176E}"/>
              </a:ext>
            </a:extLst>
          </p:cNvPr>
          <p:cNvSpPr txBox="1">
            <a:spLocks/>
          </p:cNvSpPr>
          <p:nvPr/>
        </p:nvSpPr>
        <p:spPr>
          <a:xfrm>
            <a:off x="4766554" y="1292757"/>
            <a:ext cx="6978604" cy="4529309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altLang="zh-CN" sz="160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60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>
                <a:ea typeface="阿里巴巴普惠体" panose="00020600040101010101"/>
              </a:rPr>
              <a:t>SQL</a:t>
            </a:r>
            <a:r>
              <a:rPr lang="zh-CN" altLang="en-US" sz="1600">
                <a:ea typeface="阿里巴巴普惠体" panose="00020600040101010101"/>
              </a:rPr>
              <a:t>语句设置多个参数有几种方式？</a:t>
            </a:r>
            <a:endParaRPr lang="en-US" altLang="zh-CN" sz="160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>
                <a:solidFill>
                  <a:srgbClr val="C00000"/>
                </a:solidFill>
                <a:ea typeface="阿里巴巴普惠体" panose="00020600040101010101"/>
              </a:rPr>
              <a:t>   </a:t>
            </a:r>
            <a:r>
              <a:rPr lang="en-US" altLang="zh-CN" sz="1400">
                <a:solidFill>
                  <a:srgbClr val="C00000"/>
                </a:solidFill>
                <a:ea typeface="阿里巴巴普惠体" panose="00020600040101010101"/>
              </a:rPr>
              <a:t>1</a:t>
            </a:r>
            <a:r>
              <a:rPr lang="zh-CN" altLang="en-US" sz="1400">
                <a:solidFill>
                  <a:srgbClr val="C00000"/>
                </a:solidFill>
                <a:ea typeface="阿里巴巴普惠体" panose="00020600040101010101"/>
              </a:rPr>
              <a:t>） 散装参数：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需要使用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@Param("SQL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中的参数名称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")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	*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使用麻烦</a:t>
            </a:r>
            <a:b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</a:br>
            <a:r>
              <a:rPr lang="zh-CN" altLang="en-US" sz="1400">
                <a:solidFill>
                  <a:srgbClr val="C00000"/>
                </a:solidFill>
                <a:ea typeface="阿里巴巴普惠体" panose="00020600040101010101"/>
              </a:rPr>
              <a:t>    </a:t>
            </a:r>
            <a:r>
              <a:rPr lang="en-US" altLang="zh-CN" sz="1400">
                <a:solidFill>
                  <a:srgbClr val="C00000"/>
                </a:solidFill>
                <a:ea typeface="阿里巴巴普惠体" panose="00020600040101010101"/>
              </a:rPr>
              <a:t>2)    </a:t>
            </a:r>
            <a:r>
              <a:rPr lang="zh-CN" altLang="en-US" sz="1400">
                <a:solidFill>
                  <a:srgbClr val="C00000"/>
                </a:solidFill>
                <a:ea typeface="阿里巴巴普惠体" panose="00020600040101010101"/>
              </a:rPr>
              <a:t>实体类封装参数</a:t>
            </a:r>
            <a:br>
              <a:rPr lang="zh-CN" altLang="en-US" sz="1400">
                <a:solidFill>
                  <a:srgbClr val="C00000"/>
                </a:solidFill>
                <a:ea typeface="阿里巴巴普惠体" panose="00020600040101010101"/>
              </a:rPr>
            </a:br>
            <a:r>
              <a:rPr lang="en-US" altLang="zh-CN" sz="1400">
                <a:solidFill>
                  <a:srgbClr val="C00000"/>
                </a:solidFill>
                <a:ea typeface="阿里巴巴普惠体" panose="00020600040101010101"/>
              </a:rPr>
              <a:t>	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* 只需要保证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SQL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中的参数名 和 实体类属性名对应上，即可设置成功</a:t>
            </a:r>
            <a:r>
              <a:rPr lang="zh-CN" altLang="en-US" sz="1400">
                <a:solidFill>
                  <a:srgbClr val="C00000"/>
                </a:solidFill>
                <a:ea typeface="阿里巴巴普惠体" panose="00020600040101010101"/>
              </a:rPr>
              <a:t/>
            </a:r>
            <a:br>
              <a:rPr lang="zh-CN" altLang="en-US" sz="1400">
                <a:solidFill>
                  <a:srgbClr val="C00000"/>
                </a:solidFill>
                <a:ea typeface="阿里巴巴普惠体" panose="00020600040101010101"/>
              </a:rPr>
            </a:br>
            <a:r>
              <a:rPr lang="zh-CN" altLang="en-US" sz="1400">
                <a:solidFill>
                  <a:srgbClr val="C00000"/>
                </a:solidFill>
                <a:ea typeface="阿里巴巴普惠体" panose="00020600040101010101"/>
              </a:rPr>
              <a:t>    </a:t>
            </a:r>
            <a:r>
              <a:rPr lang="en-US" altLang="zh-CN" sz="1400">
                <a:solidFill>
                  <a:srgbClr val="C00000"/>
                </a:solidFill>
                <a:ea typeface="阿里巴巴普惠体" panose="00020600040101010101"/>
              </a:rPr>
              <a:t>3)    map</a:t>
            </a:r>
            <a:r>
              <a:rPr lang="zh-CN" altLang="en-US" sz="1400">
                <a:solidFill>
                  <a:srgbClr val="C00000"/>
                </a:solidFill>
                <a:ea typeface="阿里巴巴普惠体" panose="00020600040101010101"/>
              </a:rPr>
              <a:t>集合</a:t>
            </a:r>
            <a:br>
              <a:rPr lang="zh-CN" altLang="en-US" sz="1400">
                <a:solidFill>
                  <a:srgbClr val="C00000"/>
                </a:solidFill>
                <a:ea typeface="阿里巴巴普惠体" panose="00020600040101010101"/>
              </a:rPr>
            </a:br>
            <a:r>
              <a:rPr lang="en-US" altLang="zh-CN" sz="1400">
                <a:solidFill>
                  <a:srgbClr val="C00000"/>
                </a:solidFill>
                <a:ea typeface="阿里巴巴普惠体" panose="00020600040101010101"/>
              </a:rPr>
              <a:t>	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* 只需要保证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SQL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中的参数名 和 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map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集合的键的名称对应上，即可设置成功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9008B4-5E73-44AF-8F3F-3048C1495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13FD23F-F6EB-4B1F-A099-A20515686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F5F8C23-29EB-4825-BCBB-3768CF0D7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99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4497C11-C37B-4466-A5A0-B9A496C190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8763" y="2152518"/>
            <a:ext cx="5760538" cy="2255736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用户输入条件时，是否所有条件都会填写？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</p:spTree>
    <p:extLst>
      <p:ext uri="{BB962C8B-B14F-4D97-AF65-F5344CB8AC3E}">
        <p14:creationId xmlns:p14="http://schemas.microsoft.com/office/powerpoint/2010/main" val="3943727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3B38406-9F70-4F05-8ADD-37D5ECF387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95450" y="1016160"/>
            <a:ext cx="7394115" cy="517190"/>
          </a:xfrm>
        </p:spPr>
        <p:txBody>
          <a:bodyPr/>
          <a:lstStyle/>
          <a:p>
            <a:r>
              <a:rPr lang="zh-CN" altLang="en-US"/>
              <a:t>查询</a:t>
            </a:r>
            <a:r>
              <a:rPr lang="en-US" altLang="zh-CN"/>
              <a:t>-</a:t>
            </a:r>
            <a:r>
              <a:rPr lang="zh-CN" altLang="en-US"/>
              <a:t>多条件查询</a:t>
            </a:r>
            <a:r>
              <a:rPr lang="en-US" altLang="zh-CN"/>
              <a:t>-</a:t>
            </a:r>
            <a:r>
              <a:rPr lang="zh-CN" altLang="en-US"/>
              <a:t>动态条件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234D4C6-E8A1-4B8C-8515-589422D50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88CD8-097C-430A-9C36-167DAD4C9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85E9854-4D83-42DF-A2D7-BC28A0A37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3731FC24-F8E2-4EE2-8CC0-2D118661E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C29F7263-306B-4558-AE6A-C99D7AD27ED1}"/>
              </a:ext>
            </a:extLst>
          </p:cNvPr>
          <p:cNvSpPr txBox="1"/>
          <p:nvPr/>
        </p:nvSpPr>
        <p:spPr>
          <a:xfrm>
            <a:off x="2527538" y="2200666"/>
            <a:ext cx="5762588" cy="20621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600">
                <a:solidFill>
                  <a:srgbClr val="0033B3"/>
                </a:solidFill>
                <a:latin typeface="Arial Unicode MS"/>
                <a:ea typeface="JetBrains Mono"/>
              </a:rPr>
              <a:t>select </a:t>
            </a:r>
            <a:r>
              <a:rPr lang="zh-CN" altLang="zh-CN" sz="1600">
                <a:solidFill>
                  <a:srgbClr val="174AD4"/>
                </a:solidFill>
                <a:latin typeface="Arial Unicode MS"/>
                <a:ea typeface="JetBrains Mono"/>
              </a:rPr>
              <a:t>id</a:t>
            </a:r>
            <a:r>
              <a:rPr lang="zh-CN" altLang="zh-CN" sz="1600">
                <a:solidFill>
                  <a:srgbClr val="067D17"/>
                </a:solidFill>
                <a:latin typeface="Arial Unicode MS"/>
                <a:ea typeface="JetBrains Mono"/>
              </a:rPr>
              <a:t>="selectByCondition" </a:t>
            </a:r>
            <a:r>
              <a:rPr lang="zh-CN" altLang="zh-CN" sz="1600">
                <a:solidFill>
                  <a:srgbClr val="174AD4"/>
                </a:solidFill>
                <a:latin typeface="Arial Unicode MS"/>
                <a:ea typeface="JetBrains Mono"/>
              </a:rPr>
              <a:t>resultMap</a:t>
            </a:r>
            <a:r>
              <a:rPr lang="zh-CN" altLang="zh-CN" sz="1600">
                <a:solidFill>
                  <a:srgbClr val="067D17"/>
                </a:solidFill>
                <a:latin typeface="Arial Unicode MS"/>
                <a:ea typeface="JetBrains Mono"/>
              </a:rPr>
              <a:t>="brandResultMap"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    select </a:t>
            </a:r>
            <a:r>
              <a:rPr lang="zh-CN" altLang="zh-CN" sz="1600" i="1">
                <a:solidFill>
                  <a:srgbClr val="080808"/>
                </a:solidFill>
                <a:latin typeface="Arial Unicode MS"/>
                <a:ea typeface="JetBrains Mono"/>
              </a:rPr>
              <a:t>*</a:t>
            </a:r>
            <a:br>
              <a:rPr lang="zh-CN" altLang="zh-CN" sz="1600" i="1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600" i="1">
                <a:solidFill>
                  <a:srgbClr val="080808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from </a:t>
            </a:r>
            <a:r>
              <a:rPr lang="zh-CN" altLang="zh-CN" sz="1600">
                <a:solidFill>
                  <a:srgbClr val="000000"/>
                </a:solidFill>
                <a:latin typeface="Arial Unicode MS"/>
                <a:ea typeface="JetBrains Mono"/>
              </a:rPr>
              <a:t>tb_brand</a:t>
            </a:r>
            <a:br>
              <a:rPr lang="zh-CN" altLang="zh-CN" sz="1600">
                <a:solidFill>
                  <a:srgbClr val="000000"/>
                </a:solidFill>
                <a:latin typeface="Arial Unicode MS"/>
                <a:ea typeface="JetBrains Mono"/>
              </a:rPr>
            </a:br>
            <a:r>
              <a:rPr lang="zh-CN" altLang="zh-CN" sz="1600">
                <a:solidFill>
                  <a:srgbClr val="000000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where</a:t>
            </a:r>
            <a:endParaRPr lang="en-US" altLang="zh-CN" sz="1600">
              <a:solidFill>
                <a:srgbClr val="080808"/>
              </a:solidFill>
              <a:latin typeface="Arial Unicode MS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          </a:t>
            </a:r>
            <a:r>
              <a:rPr lang="zh-CN" altLang="zh-CN" sz="1600">
                <a:solidFill>
                  <a:srgbClr val="871094"/>
                </a:solidFill>
                <a:latin typeface="Arial Unicode MS"/>
                <a:ea typeface="JetBrains Mono"/>
              </a:rPr>
              <a:t>status 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= #{status}</a:t>
            </a:r>
            <a:b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          and </a:t>
            </a:r>
            <a:r>
              <a:rPr lang="zh-CN" altLang="zh-CN" sz="1600">
                <a:solidFill>
                  <a:srgbClr val="871094"/>
                </a:solidFill>
                <a:latin typeface="Arial Unicode MS"/>
                <a:ea typeface="JetBrains Mono"/>
              </a:rPr>
              <a:t>company_name 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like #{companyName}</a:t>
            </a:r>
            <a:b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          and </a:t>
            </a:r>
            <a:r>
              <a:rPr lang="zh-CN" altLang="zh-CN" sz="1600">
                <a:solidFill>
                  <a:srgbClr val="871094"/>
                </a:solidFill>
                <a:latin typeface="Arial Unicode MS"/>
                <a:ea typeface="JetBrains Mono"/>
              </a:rPr>
              <a:t>brand_name 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like #{brandName}</a:t>
            </a:r>
            <a:b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&lt;/</a:t>
            </a:r>
            <a:r>
              <a:rPr lang="zh-CN" altLang="zh-CN" sz="1600">
                <a:solidFill>
                  <a:srgbClr val="0033B3"/>
                </a:solidFill>
                <a:latin typeface="Arial Unicode MS"/>
                <a:ea typeface="JetBrains Mono"/>
              </a:rPr>
              <a:t>select</a:t>
            </a:r>
            <a:r>
              <a:rPr lang="zh-CN" altLang="zh-CN" sz="16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endParaRPr lang="zh-CN" altLang="zh-CN" sz="2400">
              <a:latin typeface="Arial" panose="020B060402020202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1F7100CD-7BF0-482A-BD3D-97D3D08A6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D0AC88D2-0E4A-4771-BA43-0B8099111A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95450" y="1656000"/>
            <a:ext cx="9214230" cy="51719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SQL</a:t>
            </a:r>
            <a:r>
              <a:rPr lang="zh-CN" altLang="en-US"/>
              <a:t>语句会随着用户的输入或外部条件的变化而变化，我们称为 </a:t>
            </a:r>
            <a:r>
              <a:rPr lang="zh-CN" altLang="en-US">
                <a:solidFill>
                  <a:srgbClr val="C00000"/>
                </a:solidFill>
              </a:rPr>
              <a:t>动态</a:t>
            </a:r>
            <a:r>
              <a:rPr lang="en-US" altLang="zh-CN">
                <a:solidFill>
                  <a:srgbClr val="C00000"/>
                </a:solidFill>
              </a:rPr>
              <a:t>SQL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6" name="文本占位符 7">
            <a:extLst>
              <a:ext uri="{FF2B5EF4-FFF2-40B4-BE49-F238E27FC236}">
                <a16:creationId xmlns:a16="http://schemas.microsoft.com/office/drawing/2014/main" id="{92EE2A91-6D37-487B-A7C2-E432AE653583}"/>
              </a:ext>
            </a:extLst>
          </p:cNvPr>
          <p:cNvSpPr txBox="1">
            <a:spLocks/>
          </p:cNvSpPr>
          <p:nvPr/>
        </p:nvSpPr>
        <p:spPr>
          <a:xfrm>
            <a:off x="2195450" y="4405131"/>
            <a:ext cx="9214230" cy="221883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MyBatis </a:t>
            </a:r>
            <a:r>
              <a:rPr lang="zh-CN" altLang="en-US"/>
              <a:t>对动态</a:t>
            </a:r>
            <a:r>
              <a:rPr lang="en-US" altLang="zh-CN"/>
              <a:t>SQL</a:t>
            </a:r>
            <a:r>
              <a:rPr lang="zh-CN" altLang="en-US"/>
              <a:t>有很强大的支撑：</a:t>
            </a:r>
            <a:endParaRPr lang="en-US" altLang="zh-CN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b="0" i="0">
                <a:solidFill>
                  <a:srgbClr val="404040"/>
                </a:solidFill>
                <a:effectLst/>
                <a:latin typeface="Helvetica Neue"/>
              </a:rPr>
              <a:t>if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b="0" i="0">
                <a:solidFill>
                  <a:srgbClr val="404040"/>
                </a:solidFill>
                <a:effectLst/>
                <a:latin typeface="Helvetica Neue"/>
              </a:rPr>
              <a:t>choose </a:t>
            </a:r>
            <a:r>
              <a:rPr lang="zh-CN" altLang="en-US" b="0" i="0" smtClean="0">
                <a:solidFill>
                  <a:srgbClr val="404040"/>
                </a:solidFill>
                <a:effectLst/>
                <a:latin typeface="Helvetica Neue"/>
              </a:rPr>
              <a:t>、</a:t>
            </a:r>
            <a:r>
              <a:rPr lang="en-US" altLang="zh-CN" b="0" i="0" smtClean="0">
                <a:solidFill>
                  <a:srgbClr val="404040"/>
                </a:solidFill>
                <a:effectLst/>
                <a:latin typeface="Helvetica Neue"/>
              </a:rPr>
              <a:t>when</a:t>
            </a:r>
            <a:r>
              <a:rPr lang="en-US" altLang="zh-CN" b="0" i="0">
                <a:solidFill>
                  <a:srgbClr val="404040"/>
                </a:solidFill>
                <a:effectLst/>
                <a:latin typeface="Helvetica Neue"/>
              </a:rPr>
              <a:t>, </a:t>
            </a:r>
            <a:r>
              <a:rPr lang="en-US" altLang="zh-CN" b="0" i="0" smtClean="0">
                <a:solidFill>
                  <a:srgbClr val="404040"/>
                </a:solidFill>
                <a:effectLst/>
                <a:latin typeface="Helvetica Neue"/>
              </a:rPr>
              <a:t>otherwise</a:t>
            </a:r>
            <a:endParaRPr lang="en-US" altLang="zh-CN" b="0" i="0">
              <a:solidFill>
                <a:srgbClr val="404040"/>
              </a:solidFill>
              <a:effectLst/>
              <a:latin typeface="Helvetica Neue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b="0" i="0" smtClean="0">
                <a:solidFill>
                  <a:srgbClr val="404040"/>
                </a:solidFill>
                <a:effectLst/>
                <a:latin typeface="Helvetica Neue"/>
              </a:rPr>
              <a:t>where</a:t>
            </a:r>
            <a:r>
              <a:rPr lang="en-US" altLang="zh-CN" b="0" i="0">
                <a:solidFill>
                  <a:srgbClr val="404040"/>
                </a:solidFill>
                <a:effectLst/>
                <a:latin typeface="Helvetica Neue"/>
              </a:rPr>
              <a:t>, </a:t>
            </a:r>
            <a:r>
              <a:rPr lang="en-US" altLang="zh-CN" b="0" i="0" smtClean="0">
                <a:solidFill>
                  <a:srgbClr val="404040"/>
                </a:solidFill>
                <a:effectLst/>
                <a:latin typeface="Helvetica Neue"/>
              </a:rPr>
              <a:t>set</a:t>
            </a:r>
            <a:endParaRPr lang="en-US" altLang="zh-CN" b="0" i="0">
              <a:solidFill>
                <a:srgbClr val="404040"/>
              </a:solidFill>
              <a:effectLst/>
              <a:latin typeface="Helvetica Neue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b="0" i="0">
                <a:solidFill>
                  <a:srgbClr val="404040"/>
                </a:solidFill>
                <a:effectLst/>
                <a:latin typeface="Helvetica Neue"/>
              </a:rPr>
              <a:t>foreach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55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7" name="文本占位符 4">
            <a:extLst>
              <a:ext uri="{FF2B5EF4-FFF2-40B4-BE49-F238E27FC236}">
                <a16:creationId xmlns:a16="http://schemas.microsoft.com/office/drawing/2014/main" id="{0384ACCD-F00B-4845-9790-60AB5486176E}"/>
              </a:ext>
            </a:extLst>
          </p:cNvPr>
          <p:cNvSpPr txBox="1">
            <a:spLocks/>
          </p:cNvSpPr>
          <p:nvPr/>
        </p:nvSpPr>
        <p:spPr>
          <a:xfrm>
            <a:off x="4766554" y="1292757"/>
            <a:ext cx="6978604" cy="3900345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altLang="zh-CN" sz="160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60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>
                <a:ea typeface="阿里巴巴普惠体" panose="00020600040101010101"/>
              </a:rPr>
              <a:t>动态</a:t>
            </a:r>
            <a:r>
              <a:rPr lang="en-US" altLang="zh-CN" sz="1800">
                <a:ea typeface="阿里巴巴普惠体" panose="00020600040101010101"/>
              </a:rPr>
              <a:t>SQL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>
                <a:solidFill>
                  <a:srgbClr val="C00000"/>
                </a:solidFill>
                <a:ea typeface="阿里巴巴普惠体" panose="00020600040101010101"/>
              </a:rPr>
              <a:t>if</a:t>
            </a:r>
            <a:r>
              <a:rPr lang="zh-CN" altLang="en-US" sz="1600">
                <a:solidFill>
                  <a:srgbClr val="C00000"/>
                </a:solidFill>
                <a:ea typeface="阿里巴巴普惠体" panose="00020600040101010101"/>
              </a:rPr>
              <a:t>：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用于判断参数是否有值，使用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test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属性进行条件判断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>
                <a:solidFill>
                  <a:srgbClr val="C00000"/>
                </a:solidFill>
                <a:ea typeface="阿里巴巴普惠体" panose="00020600040101010101"/>
              </a:rPr>
              <a:t>使用</a:t>
            </a:r>
            <a:r>
              <a:rPr lang="en-US" altLang="zh-CN" sz="1600" smtClean="0">
                <a:solidFill>
                  <a:srgbClr val="C00000"/>
                </a:solidFill>
                <a:ea typeface="阿里巴巴普惠体" panose="00020600040101010101"/>
              </a:rPr>
              <a:t>&lt;where</a:t>
            </a:r>
            <a:r>
              <a:rPr lang="en-US" altLang="zh-CN" sz="1600">
                <a:solidFill>
                  <a:srgbClr val="C00000"/>
                </a:solidFill>
                <a:ea typeface="阿里巴巴普惠体" panose="00020600040101010101"/>
              </a:rPr>
              <a:t>&gt;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标签替换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where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关键字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9008B4-5E73-44AF-8F3F-3048C1495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13FD23F-F6EB-4B1F-A099-A20515686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F5F8C23-29EB-4825-BCBB-3768CF0D7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2922931-8ED3-486B-8557-8EA6DA9A6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980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3B38406-9F70-4F05-8ADD-37D5ECF387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95450" y="1016160"/>
            <a:ext cx="7394115" cy="517190"/>
          </a:xfrm>
        </p:spPr>
        <p:txBody>
          <a:bodyPr/>
          <a:lstStyle/>
          <a:p>
            <a:r>
              <a:rPr lang="zh-CN" altLang="en-US"/>
              <a:t>查询</a:t>
            </a:r>
            <a:r>
              <a:rPr lang="en-US" altLang="zh-CN"/>
              <a:t>-</a:t>
            </a:r>
            <a:r>
              <a:rPr lang="zh-CN" altLang="en-US"/>
              <a:t>单条件查询</a:t>
            </a:r>
            <a:r>
              <a:rPr lang="en-US" altLang="zh-CN"/>
              <a:t>-</a:t>
            </a:r>
            <a:r>
              <a:rPr lang="zh-CN" altLang="en-US"/>
              <a:t>动态条件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234D4C6-E8A1-4B8C-8515-589422D50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88CD8-097C-430A-9C36-167DAD4C9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85E9854-4D83-42DF-A2D7-BC28A0A37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3731FC24-F8E2-4EE2-8CC0-2D118661E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C29F7263-306B-4558-AE6A-C99D7AD27ED1}"/>
              </a:ext>
            </a:extLst>
          </p:cNvPr>
          <p:cNvSpPr txBox="1"/>
          <p:nvPr/>
        </p:nvSpPr>
        <p:spPr>
          <a:xfrm>
            <a:off x="939171" y="2572351"/>
            <a:ext cx="6103161" cy="418576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select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id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="selectByConditionSingle"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resultMap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="brandResultMap"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select </a:t>
            </a:r>
            <a:r>
              <a:rPr lang="zh-CN" altLang="zh-CN" sz="1400" i="1">
                <a:solidFill>
                  <a:srgbClr val="080808"/>
                </a:solidFill>
                <a:latin typeface="Arial Unicode MS"/>
                <a:ea typeface="JetBrains Mono"/>
              </a:rPr>
              <a:t>*</a:t>
            </a:r>
            <a:br>
              <a:rPr lang="zh-CN" altLang="zh-CN" sz="1400" i="1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 i="1">
                <a:solidFill>
                  <a:srgbClr val="080808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from </a:t>
            </a: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tb_brand</a:t>
            </a:r>
            <a:b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where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choose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  </a:t>
            </a:r>
            <a:r>
              <a:rPr lang="zh-CN" altLang="zh-CN" sz="1400">
                <a:solidFill>
                  <a:srgbClr val="8C8C8C"/>
                </a:solidFill>
                <a:latin typeface="Arial Unicode MS"/>
                <a:ea typeface="JetBrains Mono"/>
              </a:rPr>
              <a:t>&lt;!--</a:t>
            </a:r>
            <a:r>
              <a:rPr lang="zh-CN" altLang="zh-CN" sz="140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类似于</a:t>
            </a:r>
            <a:r>
              <a:rPr lang="zh-CN" altLang="zh-CN" sz="1400">
                <a:solidFill>
                  <a:srgbClr val="8C8C8C"/>
                </a:solidFill>
                <a:latin typeface="Arial Unicode MS"/>
                <a:ea typeface="JetBrains Mono"/>
              </a:rPr>
              <a:t>switch--&gt;</a:t>
            </a:r>
            <a:br>
              <a:rPr lang="zh-CN" altLang="zh-CN" sz="1400">
                <a:solidFill>
                  <a:srgbClr val="8C8C8C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8C8C8C"/>
                </a:solidFill>
                <a:latin typeface="Arial Unicode MS"/>
                <a:ea typeface="JetBrains Mono"/>
              </a:rPr>
              <a:t>       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when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test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="status != null"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  </a:t>
            </a:r>
            <a:r>
              <a:rPr lang="zh-CN" altLang="zh-CN" sz="1400">
                <a:solidFill>
                  <a:srgbClr val="8C8C8C"/>
                </a:solidFill>
                <a:latin typeface="Arial Unicode MS"/>
                <a:ea typeface="JetBrains Mono"/>
              </a:rPr>
              <a:t>&lt;!--</a:t>
            </a:r>
            <a:r>
              <a:rPr lang="zh-CN" altLang="zh-CN" sz="140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类似于</a:t>
            </a:r>
            <a:r>
              <a:rPr lang="zh-CN" altLang="zh-CN" sz="1400">
                <a:solidFill>
                  <a:srgbClr val="8C8C8C"/>
                </a:solidFill>
                <a:latin typeface="Arial Unicode MS"/>
                <a:ea typeface="JetBrains Mono"/>
              </a:rPr>
              <a:t>case--&gt;</a:t>
            </a:r>
            <a:br>
              <a:rPr lang="zh-CN" altLang="zh-CN" sz="1400">
                <a:solidFill>
                  <a:srgbClr val="8C8C8C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8C8C8C"/>
                </a:solidFill>
                <a:latin typeface="Arial Unicode MS"/>
                <a:ea typeface="JetBrains Mono"/>
              </a:rPr>
              <a:t>           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status = #{status}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when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when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test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="companyName != null and companyName !=''"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    company_name like #{companyName}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when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when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test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="brandName != null and brandName !='' 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    brand_name like #{brandName}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when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otherwise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  </a:t>
            </a:r>
            <a:r>
              <a:rPr lang="zh-CN" altLang="zh-CN" sz="1400">
                <a:solidFill>
                  <a:srgbClr val="8C8C8C"/>
                </a:solidFill>
                <a:latin typeface="Arial Unicode MS"/>
                <a:ea typeface="JetBrains Mono"/>
              </a:rPr>
              <a:t>&lt;!--</a:t>
            </a:r>
            <a:r>
              <a:rPr lang="zh-CN" altLang="zh-CN" sz="1400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类似于</a:t>
            </a:r>
            <a:r>
              <a:rPr lang="zh-CN" altLang="zh-CN" sz="1400">
                <a:solidFill>
                  <a:srgbClr val="8C8C8C"/>
                </a:solidFill>
                <a:latin typeface="Arial Unicode MS"/>
                <a:ea typeface="JetBrains Mono"/>
              </a:rPr>
              <a:t>default--&gt;</a:t>
            </a:r>
            <a:br>
              <a:rPr lang="zh-CN" altLang="zh-CN" sz="1400">
                <a:solidFill>
                  <a:srgbClr val="8C8C8C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8C8C8C"/>
                </a:solidFill>
                <a:latin typeface="Arial Unicode MS"/>
                <a:ea typeface="JetBrains Mono"/>
              </a:rPr>
              <a:t>           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1 = 1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otherwise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choose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select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1F7100CD-7BF0-482A-BD3D-97D3D08A6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文本占位符 7">
            <a:extLst>
              <a:ext uri="{FF2B5EF4-FFF2-40B4-BE49-F238E27FC236}">
                <a16:creationId xmlns:a16="http://schemas.microsoft.com/office/drawing/2014/main" id="{92EE2A91-6D37-487B-A7C2-E432AE653583}"/>
              </a:ext>
            </a:extLst>
          </p:cNvPr>
          <p:cNvSpPr txBox="1">
            <a:spLocks/>
          </p:cNvSpPr>
          <p:nvPr/>
        </p:nvSpPr>
        <p:spPr>
          <a:xfrm>
            <a:off x="841103" y="1667491"/>
            <a:ext cx="9214230" cy="77071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rgbClr val="333333"/>
                </a:solidFill>
                <a:effectLst/>
                <a:latin typeface="Helvetica Neue"/>
              </a:rPr>
              <a:t>从多个条件中选择一个</a:t>
            </a:r>
            <a:endParaRPr lang="en-US" altLang="zh-CN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b="0" i="0">
                <a:solidFill>
                  <a:srgbClr val="404040"/>
                </a:solidFill>
                <a:effectLst/>
                <a:latin typeface="Helvetica Neue"/>
              </a:rPr>
              <a:t>choose (when, otherwise)</a:t>
            </a:r>
            <a:r>
              <a:rPr lang="zh-CN" altLang="en-US" b="0" i="0">
                <a:solidFill>
                  <a:srgbClr val="404040"/>
                </a:solidFill>
                <a:effectLst/>
                <a:latin typeface="Helvetica Neue"/>
              </a:rPr>
              <a:t>：选择，类似于</a:t>
            </a:r>
            <a:r>
              <a:rPr lang="en-US" altLang="zh-CN" b="0" i="0">
                <a:solidFill>
                  <a:srgbClr val="333333"/>
                </a:solidFill>
                <a:effectLst/>
                <a:latin typeface="Helvetica Neue"/>
              </a:rPr>
              <a:t>Java </a:t>
            </a:r>
            <a:r>
              <a:rPr lang="zh-CN" altLang="en-US" b="0" i="0">
                <a:solidFill>
                  <a:srgbClr val="333333"/>
                </a:solidFill>
                <a:effectLst/>
                <a:latin typeface="Helvetica Neue"/>
              </a:rPr>
              <a:t>中的 </a:t>
            </a:r>
            <a:r>
              <a:rPr lang="en-US" altLang="zh-CN" b="0" i="0">
                <a:solidFill>
                  <a:srgbClr val="333333"/>
                </a:solidFill>
                <a:effectLst/>
                <a:latin typeface="Helvetica Neue"/>
              </a:rPr>
              <a:t>switch </a:t>
            </a:r>
            <a:r>
              <a:rPr lang="zh-CN" altLang="en-US" b="0" i="0">
                <a:solidFill>
                  <a:srgbClr val="333333"/>
                </a:solidFill>
                <a:effectLst/>
                <a:latin typeface="Helvetica Neue"/>
              </a:rPr>
              <a:t>语句</a:t>
            </a:r>
            <a:endParaRPr lang="en-US" altLang="zh-CN" b="0" i="0">
              <a:solidFill>
                <a:srgbClr val="404040"/>
              </a:solidFill>
              <a:effectLst/>
              <a:latin typeface="Helvetica Neue"/>
            </a:endParaRPr>
          </a:p>
          <a:p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AEB9CDD1-41FF-4BA4-A387-A1CF2BA48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ACEAA854-D09B-4C78-AB66-0C2A5E1A9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45077C1C-8A50-4F58-B9B8-6CBB616EC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B63382C9-9100-4E6C-89C4-259D067E9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399" y="1533350"/>
            <a:ext cx="4898331" cy="16783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219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3BCC1F-61AC-40BD-9BAD-82779F9156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060207"/>
            <a:ext cx="10748057" cy="5262955"/>
          </a:xfrm>
        </p:spPr>
        <p:txBody>
          <a:bodyPr/>
          <a:lstStyle/>
          <a:p>
            <a:r>
              <a:rPr lang="zh-CN" altLang="en-US"/>
              <a:t>要完成的功能列表清单：</a:t>
            </a:r>
            <a:endParaRPr lang="en-US" altLang="zh-CN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查询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查询所有数据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查看详情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条件查询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>
                <a:solidFill>
                  <a:srgbClr val="C00000"/>
                </a:solidFill>
              </a:rPr>
              <a:t>添加</a:t>
            </a:r>
            <a:endParaRPr lang="en-US" altLang="zh-CN" sz="160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修改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修改全部字段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修改动态字段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删除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删除一个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批量删除</a:t>
            </a:r>
            <a:endParaRPr lang="en-US" altLang="zh-CN" sz="1600"/>
          </a:p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554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0A8980C-5EF6-43B8-BF59-88C3A7A91D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添加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E601DFC2-627A-422E-95E9-D3A67FD95D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3245" y="5328863"/>
            <a:ext cx="8311925" cy="134504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MyBatis</a:t>
            </a:r>
            <a:r>
              <a:rPr lang="zh-CN" altLang="en-US"/>
              <a:t>事务：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/>
              <a:t>openSession()</a:t>
            </a:r>
            <a:r>
              <a:rPr lang="zh-CN" altLang="en-US" sz="1400"/>
              <a:t>：默认开启事务，进行增删改操作后需要使用 </a:t>
            </a:r>
            <a:r>
              <a:rPr lang="en-US" altLang="zh-CN" sz="1400"/>
              <a:t>sqlSession.commit(); </a:t>
            </a:r>
            <a:r>
              <a:rPr lang="zh-CN" altLang="en-US" sz="1400"/>
              <a:t>手动提交事务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/>
              <a:t>openSession(true)</a:t>
            </a:r>
            <a:r>
              <a:rPr lang="zh-CN" altLang="en-US" sz="1400"/>
              <a:t>：可以设置为自动提交事务（关闭事务）</a:t>
            </a:r>
          </a:p>
          <a:p>
            <a:endParaRPr lang="zh-CN" altLang="en-US" sz="140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3CBA228-A2E6-43AB-9A10-FFFF95DD3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94E66F8-0184-4D82-B834-780488B02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F5C79E2-EC4C-48B7-BAF7-AE5961591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8E33E4C-D59F-4370-B7FC-BEACA67F1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88AB344-8E8B-4976-A68C-E75089305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2446" y="1016160"/>
            <a:ext cx="4071667" cy="37411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文本占位符 6">
            <a:extLst>
              <a:ext uri="{FF2B5EF4-FFF2-40B4-BE49-F238E27FC236}">
                <a16:creationId xmlns:a16="http://schemas.microsoft.com/office/drawing/2014/main" id="{22C82814-E698-4DCB-89D8-A19F91C6D3D7}"/>
              </a:ext>
            </a:extLst>
          </p:cNvPr>
          <p:cNvSpPr txBox="1">
            <a:spLocks/>
          </p:cNvSpPr>
          <p:nvPr/>
        </p:nvSpPr>
        <p:spPr>
          <a:xfrm>
            <a:off x="733245" y="1690777"/>
            <a:ext cx="5249547" cy="363808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/>
              <a:t>编写接口方法：</a:t>
            </a:r>
            <a:r>
              <a:rPr lang="en-US" altLang="zh-CN"/>
              <a:t> Mapper</a:t>
            </a:r>
            <a:r>
              <a:rPr lang="zh-CN" altLang="en-US"/>
              <a:t>接口</a:t>
            </a:r>
            <a:endParaRPr lang="en-US" altLang="zh-CN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400"/>
              <a:t>参数：除了</a:t>
            </a:r>
            <a:r>
              <a:rPr lang="en-US" altLang="zh-CN" sz="1400"/>
              <a:t>id</a:t>
            </a:r>
            <a:r>
              <a:rPr lang="zh-CN" altLang="en-US" sz="1400"/>
              <a:t>之外的所有数据</a:t>
            </a:r>
            <a:endParaRPr lang="en-US" altLang="zh-CN" sz="140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400"/>
              <a:t>结果：</a:t>
            </a:r>
            <a:r>
              <a:rPr lang="en-US" altLang="zh-CN" sz="1400"/>
              <a:t>void</a:t>
            </a:r>
          </a:p>
          <a:p>
            <a:pPr marL="342900" indent="-342900">
              <a:buAutoNum type="arabicPeriod" startAt="2"/>
            </a:pPr>
            <a:r>
              <a:rPr lang="zh-CN" altLang="en-US"/>
              <a:t>编写 </a:t>
            </a:r>
            <a:r>
              <a:rPr lang="en-US" altLang="zh-CN"/>
              <a:t>SQL</a:t>
            </a:r>
            <a:r>
              <a:rPr lang="zh-CN" altLang="en-US"/>
              <a:t>语句：</a:t>
            </a:r>
            <a:r>
              <a:rPr lang="en-US" altLang="zh-CN"/>
              <a:t> SQL</a:t>
            </a:r>
            <a:r>
              <a:rPr lang="zh-CN" altLang="en-US"/>
              <a:t>映射文件</a:t>
            </a:r>
            <a:endParaRPr lang="en-US" altLang="zh-CN"/>
          </a:p>
          <a:p>
            <a:pPr marL="342900" indent="-342900">
              <a:buAutoNum type="arabicPeriod" startAt="2"/>
            </a:pPr>
            <a:endParaRPr lang="en-US" altLang="zh-CN"/>
          </a:p>
          <a:p>
            <a:pPr marL="342900" indent="-342900">
              <a:buAutoNum type="arabicPeriod" startAt="2"/>
            </a:pPr>
            <a:endParaRPr lang="en-US" altLang="zh-CN"/>
          </a:p>
          <a:p>
            <a:pPr marL="342900" indent="-342900">
              <a:buAutoNum type="arabicPeriod" startAt="2"/>
            </a:pPr>
            <a:endParaRPr lang="en-US" altLang="zh-CN"/>
          </a:p>
          <a:p>
            <a:endParaRPr lang="en-US" altLang="zh-CN"/>
          </a:p>
          <a:p>
            <a:r>
              <a:rPr lang="en-US" altLang="zh-CN"/>
              <a:t>3.   </a:t>
            </a:r>
            <a:r>
              <a:rPr lang="zh-CN" altLang="en-US"/>
              <a:t>执行方法，测试</a:t>
            </a:r>
            <a:endParaRPr lang="en-US" altLang="zh-CN"/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2E74CE71-171A-4A08-AFF7-99180409FF1C}"/>
              </a:ext>
            </a:extLst>
          </p:cNvPr>
          <p:cNvSpPr txBox="1"/>
          <p:nvPr/>
        </p:nvSpPr>
        <p:spPr>
          <a:xfrm>
            <a:off x="810883" y="3412237"/>
            <a:ext cx="6702725" cy="134504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insert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id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="add"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insert into </a:t>
            </a: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tb_brand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brand_name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, </a:t>
            </a:r>
            <a:r>
              <a:rPr lang="zh-CN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company_name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, </a:t>
            </a:r>
            <a:r>
              <a:rPr lang="zh-CN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ordered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, </a:t>
            </a:r>
            <a:r>
              <a:rPr lang="zh-CN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description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, </a:t>
            </a:r>
            <a:r>
              <a:rPr lang="zh-CN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status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)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values (#{brandName},#{companyName},#{ordered},#{description},#{status});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insert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7A924BFD-C9ED-47B7-B379-D717CF8048BE}"/>
              </a:ext>
            </a:extLst>
          </p:cNvPr>
          <p:cNvSpPr txBox="1"/>
          <p:nvPr/>
        </p:nvSpPr>
        <p:spPr>
          <a:xfrm>
            <a:off x="4038056" y="1797151"/>
            <a:ext cx="3475552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void </a:t>
            </a:r>
            <a:r>
              <a:rPr lang="zh-CN" altLang="zh-CN" sz="1400">
                <a:solidFill>
                  <a:srgbClr val="00627A"/>
                </a:solidFill>
                <a:latin typeface="Arial Unicode MS"/>
                <a:ea typeface="JetBrains Mono"/>
              </a:rPr>
              <a:t>add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Brand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brand);</a:t>
            </a: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335AD95-BC93-4AFD-97A7-0901391EF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86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0A8980C-5EF6-43B8-BF59-88C3A7A91D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添加</a:t>
            </a:r>
            <a:r>
              <a:rPr lang="en-US" altLang="zh-CN"/>
              <a:t> – </a:t>
            </a:r>
            <a:r>
              <a:rPr lang="zh-CN" altLang="en-US"/>
              <a:t>主键返回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59002BC1-EF22-4A5A-AB4C-E2271013EB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30644" y="1766663"/>
            <a:ext cx="5104588" cy="184790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600"/>
              <a:t>在数据添加成功后，需要获取插入数据库数据的主键</a:t>
            </a:r>
            <a:endParaRPr lang="en-US" altLang="zh-CN" sz="160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1600"/>
              <a:t>比如：添加订单和订单项</a:t>
            </a:r>
            <a:endParaRPr lang="en-US" altLang="zh-CN" sz="1600"/>
          </a:p>
          <a:p>
            <a:pPr>
              <a:buFont typeface="+mj-lt"/>
              <a:buAutoNum type="arabicPeriod"/>
            </a:pPr>
            <a:r>
              <a:rPr lang="zh-CN" altLang="en-US" sz="1600"/>
              <a:t>添加订单</a:t>
            </a:r>
            <a:endParaRPr lang="en-US" altLang="zh-CN" sz="1600"/>
          </a:p>
          <a:p>
            <a:pPr>
              <a:buFont typeface="+mj-lt"/>
              <a:buAutoNum type="arabicPeriod"/>
            </a:pPr>
            <a:r>
              <a:rPr lang="zh-CN" altLang="en-US" sz="1600"/>
              <a:t>添加订单项，订单项中需要设置所属订单的</a:t>
            </a:r>
            <a:r>
              <a:rPr lang="en-US" altLang="zh-CN" sz="1600"/>
              <a:t>id</a:t>
            </a:r>
          </a:p>
          <a:p>
            <a:pPr marL="0" indent="0">
              <a:buNone/>
            </a:pPr>
            <a:endParaRPr lang="en-US" altLang="zh-CN" sz="1600"/>
          </a:p>
          <a:p>
            <a:pPr marL="0" indent="0">
              <a:buNone/>
            </a:pPr>
            <a:endParaRPr lang="zh-CN" altLang="en-US"/>
          </a:p>
          <a:p>
            <a:endParaRPr lang="zh-CN" altLang="en-US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164C5E0-3B09-4FED-9BCB-11ABBA1C1264}"/>
              </a:ext>
            </a:extLst>
          </p:cNvPr>
          <p:cNvSpPr txBox="1"/>
          <p:nvPr/>
        </p:nvSpPr>
        <p:spPr>
          <a:xfrm>
            <a:off x="1030644" y="3614570"/>
            <a:ext cx="5784223" cy="134504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insert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id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="addOrder"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useGeneratedKeys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="true"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keyProperty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="id"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insert into </a:t>
            </a: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tb_order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payment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, </a:t>
            </a:r>
            <a:r>
              <a:rPr lang="zh-CN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payment_type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, </a:t>
            </a:r>
            <a:r>
              <a:rPr lang="zh-CN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status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)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values (#{payment},#{paymentType},#{status});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insert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3CBA228-A2E6-43AB-9A10-FFFF95DD3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文本占位符 7">
            <a:extLst>
              <a:ext uri="{FF2B5EF4-FFF2-40B4-BE49-F238E27FC236}">
                <a16:creationId xmlns:a16="http://schemas.microsoft.com/office/drawing/2014/main" id="{DBBBA0ED-7859-4F9C-8D00-1C494BEB8001}"/>
              </a:ext>
            </a:extLst>
          </p:cNvPr>
          <p:cNvSpPr txBox="1">
            <a:spLocks/>
          </p:cNvSpPr>
          <p:nvPr/>
        </p:nvSpPr>
        <p:spPr>
          <a:xfrm>
            <a:off x="2195450" y="1457271"/>
            <a:ext cx="4619418" cy="1971729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2A3C39C-BBD3-4BE0-B28E-202BDF08F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978" y="1672141"/>
            <a:ext cx="5025846" cy="4190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D085F57B-FE8F-4F7B-B1E2-AF35CC0AC1D9}"/>
              </a:ext>
            </a:extLst>
          </p:cNvPr>
          <p:cNvSpPr/>
          <p:nvPr/>
        </p:nvSpPr>
        <p:spPr>
          <a:xfrm>
            <a:off x="8753383" y="3832804"/>
            <a:ext cx="2991774" cy="517190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3C31112-795A-4932-A938-302B30FF4389}"/>
              </a:ext>
            </a:extLst>
          </p:cNvPr>
          <p:cNvSpPr/>
          <p:nvPr/>
        </p:nvSpPr>
        <p:spPr>
          <a:xfrm>
            <a:off x="8753383" y="4391945"/>
            <a:ext cx="2991774" cy="719244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F609BCE-E369-4E7F-8083-5E88A9CEA7C7}"/>
              </a:ext>
            </a:extLst>
          </p:cNvPr>
          <p:cNvCxnSpPr>
            <a:cxnSpLocks/>
          </p:cNvCxnSpPr>
          <p:nvPr/>
        </p:nvCxnSpPr>
        <p:spPr>
          <a:xfrm flipH="1">
            <a:off x="8192655" y="4088094"/>
            <a:ext cx="560728" cy="5825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D966721-761B-4DD5-9F35-484BF3C07839}"/>
              </a:ext>
            </a:extLst>
          </p:cNvPr>
          <p:cNvCxnSpPr>
            <a:stCxn id="10" idx="1"/>
          </p:cNvCxnSpPr>
          <p:nvPr/>
        </p:nvCxnSpPr>
        <p:spPr>
          <a:xfrm flipH="1">
            <a:off x="8192655" y="4751567"/>
            <a:ext cx="560728" cy="557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文本占位符 7">
            <a:extLst>
              <a:ext uri="{FF2B5EF4-FFF2-40B4-BE49-F238E27FC236}">
                <a16:creationId xmlns:a16="http://schemas.microsoft.com/office/drawing/2014/main" id="{B595B6A7-D7C9-4416-9D84-D1ED500373D1}"/>
              </a:ext>
            </a:extLst>
          </p:cNvPr>
          <p:cNvSpPr txBox="1">
            <a:spLocks/>
          </p:cNvSpPr>
          <p:nvPr/>
        </p:nvSpPr>
        <p:spPr>
          <a:xfrm>
            <a:off x="9141310" y="1672141"/>
            <a:ext cx="1193135" cy="432620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 b="1">
                <a:solidFill>
                  <a:srgbClr val="C00000"/>
                </a:solidFill>
              </a:rPr>
              <a:t>订单 </a:t>
            </a:r>
            <a:r>
              <a:rPr lang="en-US" altLang="zh-CN" sz="1400" b="1">
                <a:solidFill>
                  <a:srgbClr val="C00000"/>
                </a:solidFill>
              </a:rPr>
              <a:t>Order</a:t>
            </a:r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16" name="文本占位符 7">
            <a:extLst>
              <a:ext uri="{FF2B5EF4-FFF2-40B4-BE49-F238E27FC236}">
                <a16:creationId xmlns:a16="http://schemas.microsoft.com/office/drawing/2014/main" id="{308044B1-57DE-4438-834A-1365BEB2CAC2}"/>
              </a:ext>
            </a:extLst>
          </p:cNvPr>
          <p:cNvSpPr txBox="1">
            <a:spLocks/>
          </p:cNvSpPr>
          <p:nvPr/>
        </p:nvSpPr>
        <p:spPr>
          <a:xfrm>
            <a:off x="7254814" y="4496269"/>
            <a:ext cx="1248901" cy="719243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 b="1">
                <a:solidFill>
                  <a:srgbClr val="C00000"/>
                </a:solidFill>
              </a:rPr>
              <a:t>   订单项</a:t>
            </a:r>
            <a:endParaRPr lang="en-US" altLang="zh-CN" sz="1400" b="1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sz="1400" b="1">
                <a:solidFill>
                  <a:srgbClr val="C00000"/>
                </a:solidFill>
              </a:rPr>
              <a:t>OrderItem</a:t>
            </a:r>
          </a:p>
          <a:p>
            <a:pPr marL="0" indent="0">
              <a:buNone/>
            </a:pPr>
            <a:endParaRPr lang="en-US" altLang="zh-CN" sz="1400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E943AFF2-C48D-42C9-9896-A3AE086124C8}"/>
              </a:ext>
            </a:extLst>
          </p:cNvPr>
          <p:cNvSpPr txBox="1"/>
          <p:nvPr/>
        </p:nvSpPr>
        <p:spPr>
          <a:xfrm>
            <a:off x="1030644" y="5111782"/>
            <a:ext cx="5784224" cy="134504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insert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id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="addOrderItem"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insert into </a:t>
            </a: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tb_order_item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goods_name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, </a:t>
            </a:r>
            <a:r>
              <a:rPr lang="zh-CN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goods_price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, </a:t>
            </a:r>
            <a:r>
              <a:rPr lang="zh-CN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count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,</a:t>
            </a:r>
            <a:r>
              <a:rPr lang="zh-CN" altLang="zh-CN" sz="1400">
                <a:solidFill>
                  <a:srgbClr val="C00000"/>
                </a:solidFill>
                <a:latin typeface="Arial Unicode MS"/>
                <a:ea typeface="JetBrains Mono"/>
              </a:rPr>
              <a:t>order_id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)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values (#{goodsName},#{goodsPrice},#{count},#{</a:t>
            </a:r>
            <a:r>
              <a:rPr lang="zh-CN" altLang="zh-CN" sz="1400">
                <a:solidFill>
                  <a:srgbClr val="C00000"/>
                </a:solidFill>
                <a:latin typeface="Arial Unicode MS"/>
                <a:ea typeface="JetBrains Mono"/>
              </a:rPr>
              <a:t>orderId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});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insert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7C062125-1A6E-4B59-BBA7-395395666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561B7974-8918-4CDA-92BF-C93F0891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8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7" name="文本占位符 4">
            <a:extLst>
              <a:ext uri="{FF2B5EF4-FFF2-40B4-BE49-F238E27FC236}">
                <a16:creationId xmlns:a16="http://schemas.microsoft.com/office/drawing/2014/main" id="{0384ACCD-F00B-4845-9790-60AB5486176E}"/>
              </a:ext>
            </a:extLst>
          </p:cNvPr>
          <p:cNvSpPr txBox="1">
            <a:spLocks/>
          </p:cNvSpPr>
          <p:nvPr/>
        </p:nvSpPr>
        <p:spPr>
          <a:xfrm>
            <a:off x="4766554" y="1292757"/>
            <a:ext cx="6978604" cy="3900345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altLang="zh-CN" sz="160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60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600">
              <a:ea typeface="阿里巴巴普惠体" panose="00020600040101010101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/>
              <a:t>返回添加数据的主键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>
                <a:solidFill>
                  <a:srgbClr val="174AD4"/>
                </a:solidFill>
                <a:latin typeface="Arial Unicode MS"/>
                <a:ea typeface="JetBrains Mono"/>
              </a:rPr>
              <a:t>&lt;insert  </a:t>
            </a:r>
            <a:r>
              <a:rPr lang="zh-CN" altLang="zh-CN" sz="1800">
                <a:solidFill>
                  <a:srgbClr val="174AD4"/>
                </a:solidFill>
                <a:latin typeface="Arial Unicode MS"/>
                <a:ea typeface="JetBrains Mono"/>
              </a:rPr>
              <a:t>useGeneratedKeys</a:t>
            </a:r>
            <a:r>
              <a:rPr lang="zh-CN" altLang="zh-CN" sz="1800">
                <a:solidFill>
                  <a:srgbClr val="067D17"/>
                </a:solidFill>
                <a:latin typeface="Arial Unicode MS"/>
                <a:ea typeface="JetBrains Mono"/>
              </a:rPr>
              <a:t>="true" </a:t>
            </a:r>
            <a:r>
              <a:rPr lang="zh-CN" altLang="zh-CN" sz="1800">
                <a:solidFill>
                  <a:srgbClr val="174AD4"/>
                </a:solidFill>
                <a:latin typeface="Arial Unicode MS"/>
                <a:ea typeface="JetBrains Mono"/>
              </a:rPr>
              <a:t>keyProperty</a:t>
            </a:r>
            <a:r>
              <a:rPr lang="zh-CN" altLang="zh-CN" sz="1800">
                <a:solidFill>
                  <a:srgbClr val="067D17"/>
                </a:solidFill>
                <a:latin typeface="Arial Unicode MS"/>
                <a:ea typeface="JetBrains Mono"/>
              </a:rPr>
              <a:t>="id"</a:t>
            </a:r>
            <a:r>
              <a:rPr lang="en-US" altLang="zh-CN" sz="1800">
                <a:solidFill>
                  <a:srgbClr val="174AD4"/>
                </a:solidFill>
                <a:latin typeface="Arial Unicode MS"/>
                <a:ea typeface="JetBrains Mono"/>
              </a:rPr>
              <a:t>&gt;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9008B4-5E73-44AF-8F3F-3048C1495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13FD23F-F6EB-4B1F-A099-A20515686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F5F8C23-29EB-4825-BCBB-3768CF0D7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2922931-8ED3-486B-8557-8EA6DA9A6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9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3BCC1F-61AC-40BD-9BAD-82779F9156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060207"/>
            <a:ext cx="10748057" cy="5262955"/>
          </a:xfrm>
        </p:spPr>
        <p:txBody>
          <a:bodyPr/>
          <a:lstStyle/>
          <a:p>
            <a:r>
              <a:rPr lang="zh-CN" altLang="en-US"/>
              <a:t>要完成的功能列表清单：</a:t>
            </a:r>
            <a:endParaRPr lang="en-US" altLang="zh-CN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查询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查询所有数据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查看详情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条件查询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添加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修改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>
                <a:solidFill>
                  <a:srgbClr val="C00000"/>
                </a:solidFill>
              </a:rPr>
              <a:t>修改全部字段</a:t>
            </a:r>
            <a:endParaRPr lang="en-US" altLang="zh-CN" sz="1600">
              <a:solidFill>
                <a:srgbClr val="C00000"/>
              </a:solidFill>
            </a:endParaRPr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修改动态字段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删除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删除一个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批量删除</a:t>
            </a:r>
            <a:endParaRPr lang="en-US" altLang="zh-CN" sz="1600"/>
          </a:p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728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0A8980C-5EF6-43B8-BF59-88C3A7A91D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修改</a:t>
            </a:r>
            <a:r>
              <a:rPr lang="en-US" altLang="zh-CN"/>
              <a:t> – </a:t>
            </a:r>
            <a:r>
              <a:rPr lang="zh-CN" altLang="en-US"/>
              <a:t>修改全部字段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164C5E0-3B09-4FED-9BCB-11ABBA1C1264}"/>
              </a:ext>
            </a:extLst>
          </p:cNvPr>
          <p:cNvSpPr txBox="1"/>
          <p:nvPr/>
        </p:nvSpPr>
        <p:spPr>
          <a:xfrm>
            <a:off x="7821227" y="2369010"/>
            <a:ext cx="3966494" cy="296087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update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id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="update"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update </a:t>
            </a: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tb_brand</a:t>
            </a:r>
            <a:b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set </a:t>
            </a:r>
            <a:r>
              <a:rPr lang="zh-CN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brand_name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= #{</a:t>
            </a:r>
            <a:r>
              <a:rPr lang="en-US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brandName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},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</a:t>
            </a:r>
            <a:r>
              <a:rPr lang="zh-CN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company_name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= #{companyName},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</a:t>
            </a:r>
            <a:r>
              <a:rPr lang="zh-CN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ordered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= #{ordered},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</a:t>
            </a:r>
            <a:r>
              <a:rPr lang="zh-CN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description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= #{description},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</a:t>
            </a:r>
            <a:r>
              <a:rPr lang="zh-CN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status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= #{status}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where </a:t>
            </a:r>
            <a:r>
              <a:rPr lang="zh-CN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id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= #{</a:t>
            </a:r>
            <a:r>
              <a:rPr lang="en-US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id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};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update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3CBA228-A2E6-43AB-9A10-FFFF95DD3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94E66F8-0184-4D82-B834-780488B02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F5C79E2-EC4C-48B7-BAF7-AE5961591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8E33E4C-D59F-4370-B7FC-BEACA67F1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占位符 6">
            <a:extLst>
              <a:ext uri="{FF2B5EF4-FFF2-40B4-BE49-F238E27FC236}">
                <a16:creationId xmlns:a16="http://schemas.microsoft.com/office/drawing/2014/main" id="{22C82814-E698-4DCB-89D8-A19F91C6D3D7}"/>
              </a:ext>
            </a:extLst>
          </p:cNvPr>
          <p:cNvSpPr txBox="1">
            <a:spLocks/>
          </p:cNvSpPr>
          <p:nvPr/>
        </p:nvSpPr>
        <p:spPr>
          <a:xfrm>
            <a:off x="4476699" y="1716132"/>
            <a:ext cx="3344528" cy="204133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/>
              <a:t>编写接口方法：</a:t>
            </a:r>
            <a:r>
              <a:rPr lang="en-US" altLang="zh-CN"/>
              <a:t> Mapper</a:t>
            </a:r>
            <a:r>
              <a:rPr lang="zh-CN" altLang="en-US"/>
              <a:t>接口</a:t>
            </a:r>
            <a:endParaRPr lang="en-US" altLang="zh-CN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400"/>
              <a:t>参数：所有数据</a:t>
            </a:r>
            <a:endParaRPr lang="en-US" altLang="zh-CN" sz="140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400"/>
              <a:t>结果：</a:t>
            </a:r>
            <a:r>
              <a:rPr lang="en-US" altLang="zh-CN" sz="1400"/>
              <a:t>void</a:t>
            </a:r>
          </a:p>
          <a:p>
            <a:pPr marL="342900" indent="-342900">
              <a:buAutoNum type="arabicPeriod" startAt="2"/>
            </a:pPr>
            <a:r>
              <a:rPr lang="zh-CN" altLang="en-US"/>
              <a:t>编写 </a:t>
            </a:r>
            <a:r>
              <a:rPr lang="en-US" altLang="zh-CN"/>
              <a:t>SQL</a:t>
            </a:r>
            <a:r>
              <a:rPr lang="zh-CN" altLang="en-US"/>
              <a:t>语句：</a:t>
            </a:r>
            <a:r>
              <a:rPr lang="en-US" altLang="zh-CN"/>
              <a:t> SQL</a:t>
            </a:r>
            <a:r>
              <a:rPr lang="zh-CN" altLang="en-US"/>
              <a:t>映射文件</a:t>
            </a:r>
            <a:endParaRPr lang="en-US" altLang="zh-CN"/>
          </a:p>
          <a:p>
            <a:r>
              <a:rPr lang="en-US" altLang="zh-CN"/>
              <a:t>3.   </a:t>
            </a:r>
            <a:r>
              <a:rPr lang="zh-CN" altLang="en-US"/>
              <a:t>执行方法，测试</a:t>
            </a:r>
            <a:endParaRPr lang="en-US" altLang="zh-CN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7F8F0A5-10EA-4375-8A1F-AAB031A59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CE3E17F-522B-4E8D-A81A-19E1934A9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07FA301-1E3B-4862-B909-683394AAB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05" y="1798291"/>
            <a:ext cx="3902372" cy="361917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3">
            <a:extLst>
              <a:ext uri="{FF2B5EF4-FFF2-40B4-BE49-F238E27FC236}">
                <a16:creationId xmlns:a16="http://schemas.microsoft.com/office/drawing/2014/main" id="{AC31AF15-BED1-4414-A465-DD92113C4A54}"/>
              </a:ext>
            </a:extLst>
          </p:cNvPr>
          <p:cNvSpPr txBox="1"/>
          <p:nvPr/>
        </p:nvSpPr>
        <p:spPr>
          <a:xfrm>
            <a:off x="7821227" y="1721466"/>
            <a:ext cx="3966494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void </a:t>
            </a:r>
            <a:r>
              <a:rPr lang="zh-CN" altLang="zh-CN" sz="1400">
                <a:solidFill>
                  <a:srgbClr val="00627A"/>
                </a:solidFill>
                <a:latin typeface="Arial Unicode MS"/>
                <a:ea typeface="JetBrains Mono"/>
              </a:rPr>
              <a:t>update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Brand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brand);</a:t>
            </a: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65A5637-5A8E-4100-B071-4256D7F3B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317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3BCC1F-61AC-40BD-9BAD-82779F9156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060207"/>
            <a:ext cx="10748057" cy="5262955"/>
          </a:xfrm>
        </p:spPr>
        <p:txBody>
          <a:bodyPr/>
          <a:lstStyle/>
          <a:p>
            <a:r>
              <a:rPr lang="zh-CN" altLang="en-US"/>
              <a:t>要完成的功能列表清单：</a:t>
            </a:r>
            <a:endParaRPr lang="en-US" altLang="zh-CN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查询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查询所有数据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查看详情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条件查询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添加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修改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修改全部字段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>
                <a:solidFill>
                  <a:srgbClr val="C00000"/>
                </a:solidFill>
              </a:rPr>
              <a:t>修改动态字段</a:t>
            </a:r>
            <a:endParaRPr lang="en-US" altLang="zh-CN" sz="160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删除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删除一个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批量删除</a:t>
            </a:r>
            <a:endParaRPr lang="en-US" altLang="zh-CN" sz="1600"/>
          </a:p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35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0A8980C-5EF6-43B8-BF59-88C3A7A91D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95450" y="1016160"/>
            <a:ext cx="9450210" cy="517190"/>
          </a:xfrm>
        </p:spPr>
        <p:txBody>
          <a:bodyPr/>
          <a:lstStyle/>
          <a:p>
            <a:r>
              <a:rPr lang="zh-CN" altLang="en-US"/>
              <a:t>修改</a:t>
            </a:r>
            <a:r>
              <a:rPr lang="en-US" altLang="zh-CN"/>
              <a:t> – </a:t>
            </a:r>
            <a:r>
              <a:rPr lang="zh-CN" altLang="en-US"/>
              <a:t>修改部分字段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164C5E0-3B09-4FED-9BCB-11ABBA1C1264}"/>
              </a:ext>
            </a:extLst>
          </p:cNvPr>
          <p:cNvSpPr txBox="1"/>
          <p:nvPr/>
        </p:nvSpPr>
        <p:spPr>
          <a:xfrm>
            <a:off x="6635184" y="1168823"/>
            <a:ext cx="5234763" cy="545514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update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id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="update"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update </a:t>
            </a: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tb_brand</a:t>
            </a:r>
            <a:b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set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if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test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="brandName != null and brandName !='' 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    brand_name = #{brandName},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if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if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test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="companyName != null and companyName !=''"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    company_name = #{companyName},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if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if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test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="ordered != null"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    ordered = #{ordered},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if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if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test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="description != null and description !=''"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    description = #{description},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if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if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test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="status != null"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    status = #{status},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if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set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where </a:t>
            </a:r>
            <a:r>
              <a:rPr lang="zh-CN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id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= #{id};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update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3CBA228-A2E6-43AB-9A10-FFFF95DD3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94E66F8-0184-4D82-B834-780488B02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F5C79E2-EC4C-48B7-BAF7-AE5961591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8E33E4C-D59F-4370-B7FC-BEACA67F1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占位符 6">
            <a:extLst>
              <a:ext uri="{FF2B5EF4-FFF2-40B4-BE49-F238E27FC236}">
                <a16:creationId xmlns:a16="http://schemas.microsoft.com/office/drawing/2014/main" id="{22C82814-E698-4DCB-89D8-A19F91C6D3D7}"/>
              </a:ext>
            </a:extLst>
          </p:cNvPr>
          <p:cNvSpPr txBox="1">
            <a:spLocks/>
          </p:cNvSpPr>
          <p:nvPr/>
        </p:nvSpPr>
        <p:spPr>
          <a:xfrm>
            <a:off x="846453" y="1615990"/>
            <a:ext cx="3311479" cy="204133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/>
              <a:t>编写接口方法：</a:t>
            </a:r>
            <a:r>
              <a:rPr lang="en-US" altLang="zh-CN"/>
              <a:t> Mapper</a:t>
            </a:r>
            <a:r>
              <a:rPr lang="zh-CN" altLang="en-US"/>
              <a:t>接口</a:t>
            </a:r>
            <a:endParaRPr lang="en-US" altLang="zh-CN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400"/>
              <a:t>参数：部分数据，封装到对象中</a:t>
            </a:r>
            <a:endParaRPr lang="en-US" altLang="zh-CN" sz="140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400"/>
              <a:t>结果：</a:t>
            </a:r>
            <a:r>
              <a:rPr lang="en-US" altLang="zh-CN" sz="1400"/>
              <a:t>void</a:t>
            </a:r>
          </a:p>
          <a:p>
            <a:pPr marL="342900" indent="-342900">
              <a:buAutoNum type="arabicPeriod" startAt="2"/>
            </a:pPr>
            <a:r>
              <a:rPr lang="zh-CN" altLang="en-US"/>
              <a:t>编写 </a:t>
            </a:r>
            <a:r>
              <a:rPr lang="en-US" altLang="zh-CN"/>
              <a:t>SQL</a:t>
            </a:r>
            <a:r>
              <a:rPr lang="zh-CN" altLang="en-US"/>
              <a:t>语句：</a:t>
            </a:r>
            <a:r>
              <a:rPr lang="en-US" altLang="zh-CN"/>
              <a:t> SQL</a:t>
            </a:r>
            <a:r>
              <a:rPr lang="zh-CN" altLang="en-US"/>
              <a:t>映射文件</a:t>
            </a:r>
            <a:endParaRPr lang="en-US" altLang="zh-CN"/>
          </a:p>
          <a:p>
            <a:r>
              <a:rPr lang="en-US" altLang="zh-CN"/>
              <a:t>3.   </a:t>
            </a:r>
            <a:r>
              <a:rPr lang="zh-CN" altLang="en-US"/>
              <a:t>执行方法，测试</a:t>
            </a:r>
            <a:endParaRPr lang="en-US" altLang="zh-CN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7F8F0A5-10EA-4375-8A1F-AAB031A59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CE3E17F-522B-4E8D-A81A-19E1934A9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C6421E7-765E-4FA6-9296-288109094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970" y="3286384"/>
            <a:ext cx="3612193" cy="32235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DCB77509-32B9-48C8-805C-AB1DFDB58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49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3BCC1F-61AC-40BD-9BAD-82779F9156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060207"/>
            <a:ext cx="10748057" cy="5262955"/>
          </a:xfrm>
        </p:spPr>
        <p:txBody>
          <a:bodyPr/>
          <a:lstStyle/>
          <a:p>
            <a:r>
              <a:rPr lang="zh-CN" altLang="en-US"/>
              <a:t>要完成的功能列表清单：</a:t>
            </a:r>
            <a:endParaRPr lang="en-US" altLang="zh-CN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查询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查询所有数据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查看详情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条件查询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添加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修改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修改全部字段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修改动态字段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删除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>
                <a:solidFill>
                  <a:srgbClr val="C00000"/>
                </a:solidFill>
              </a:rPr>
              <a:t>删除一个</a:t>
            </a:r>
            <a:endParaRPr lang="en-US" altLang="zh-CN" sz="1600">
              <a:solidFill>
                <a:srgbClr val="C00000"/>
              </a:solidFill>
            </a:endParaRPr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批量删除</a:t>
            </a:r>
            <a:endParaRPr lang="en-US" altLang="zh-CN" sz="1600"/>
          </a:p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552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0A8980C-5EF6-43B8-BF59-88C3A7A91D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95450" y="1016160"/>
            <a:ext cx="9450210" cy="517190"/>
          </a:xfrm>
        </p:spPr>
        <p:txBody>
          <a:bodyPr/>
          <a:lstStyle/>
          <a:p>
            <a:r>
              <a:rPr lang="zh-CN" altLang="en-US"/>
              <a:t>删除一个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164C5E0-3B09-4FED-9BCB-11ABBA1C1264}"/>
              </a:ext>
            </a:extLst>
          </p:cNvPr>
          <p:cNvSpPr txBox="1"/>
          <p:nvPr/>
        </p:nvSpPr>
        <p:spPr>
          <a:xfrm>
            <a:off x="5600906" y="4626998"/>
            <a:ext cx="5234763" cy="102188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delete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id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="delete</a:t>
            </a:r>
            <a:r>
              <a:rPr lang="en-US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ById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delete from </a:t>
            </a: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tb_</a:t>
            </a:r>
            <a:r>
              <a:rPr lang="en-US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brand</a:t>
            </a: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where </a:t>
            </a:r>
            <a:r>
              <a:rPr lang="en-US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id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= #{</a:t>
            </a:r>
            <a:r>
              <a:rPr lang="en-US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id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}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delete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3CBA228-A2E6-43AB-9A10-FFFF95DD3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94E66F8-0184-4D82-B834-780488B02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F5C79E2-EC4C-48B7-BAF7-AE5961591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8E33E4C-D59F-4370-B7FC-BEACA67F1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占位符 6">
            <a:extLst>
              <a:ext uri="{FF2B5EF4-FFF2-40B4-BE49-F238E27FC236}">
                <a16:creationId xmlns:a16="http://schemas.microsoft.com/office/drawing/2014/main" id="{22C82814-E698-4DCB-89D8-A19F91C6D3D7}"/>
              </a:ext>
            </a:extLst>
          </p:cNvPr>
          <p:cNvSpPr txBox="1">
            <a:spLocks/>
          </p:cNvSpPr>
          <p:nvPr/>
        </p:nvSpPr>
        <p:spPr>
          <a:xfrm>
            <a:off x="2195450" y="3557237"/>
            <a:ext cx="3334435" cy="215642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/>
              <a:t>编写接口方法：</a:t>
            </a:r>
            <a:r>
              <a:rPr lang="en-US" altLang="zh-CN"/>
              <a:t> Mapper</a:t>
            </a:r>
            <a:r>
              <a:rPr lang="zh-CN" altLang="en-US"/>
              <a:t>接口</a:t>
            </a:r>
            <a:endParaRPr lang="en-US" altLang="zh-CN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400"/>
              <a:t>参数：</a:t>
            </a:r>
            <a:r>
              <a:rPr lang="en-US" altLang="zh-CN" sz="1400"/>
              <a:t>id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400"/>
              <a:t>结果：</a:t>
            </a:r>
            <a:r>
              <a:rPr lang="en-US" altLang="zh-CN" sz="1400"/>
              <a:t>void</a:t>
            </a:r>
          </a:p>
          <a:p>
            <a:pPr marL="342900" indent="-342900">
              <a:buAutoNum type="arabicPeriod" startAt="2"/>
            </a:pPr>
            <a:r>
              <a:rPr lang="zh-CN" altLang="en-US"/>
              <a:t>编写 </a:t>
            </a:r>
            <a:r>
              <a:rPr lang="en-US" altLang="zh-CN"/>
              <a:t>SQL</a:t>
            </a:r>
            <a:r>
              <a:rPr lang="zh-CN" altLang="en-US"/>
              <a:t>语句：</a:t>
            </a:r>
            <a:r>
              <a:rPr lang="en-US" altLang="zh-CN"/>
              <a:t> SQL</a:t>
            </a:r>
            <a:r>
              <a:rPr lang="zh-CN" altLang="en-US"/>
              <a:t>映射文件</a:t>
            </a:r>
            <a:endParaRPr lang="en-US" altLang="zh-CN"/>
          </a:p>
          <a:p>
            <a:pPr marL="342900" indent="-342900">
              <a:buAutoNum type="arabicPeriod" startAt="3"/>
            </a:pPr>
            <a:r>
              <a:rPr lang="zh-CN" altLang="en-US"/>
              <a:t>执行方法，测试</a:t>
            </a:r>
            <a:endParaRPr lang="en-US" altLang="zh-CN"/>
          </a:p>
          <a:p>
            <a:endParaRPr lang="en-US" altLang="zh-CN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7F8F0A5-10EA-4375-8A1F-AAB031A59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CE3E17F-522B-4E8D-A81A-19E1934A9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DCB77509-32B9-48C8-805C-AB1DFDB58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A0FCB9E-4A8A-4F56-9AF5-EE2DE5A1E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450" y="1533350"/>
            <a:ext cx="5441191" cy="17674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3">
            <a:extLst>
              <a:ext uri="{FF2B5EF4-FFF2-40B4-BE49-F238E27FC236}">
                <a16:creationId xmlns:a16="http://schemas.microsoft.com/office/drawing/2014/main" id="{65B7ED5A-9C8A-4279-A8C4-F1984E36FC56}"/>
              </a:ext>
            </a:extLst>
          </p:cNvPr>
          <p:cNvSpPr txBox="1"/>
          <p:nvPr/>
        </p:nvSpPr>
        <p:spPr>
          <a:xfrm>
            <a:off x="5600906" y="3664065"/>
            <a:ext cx="5234763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void </a:t>
            </a:r>
            <a:r>
              <a:rPr lang="zh-CN" altLang="zh-CN" sz="1400">
                <a:solidFill>
                  <a:srgbClr val="00627A"/>
                </a:solidFill>
                <a:latin typeface="Arial Unicode MS"/>
                <a:ea typeface="JetBrains Mono"/>
              </a:rPr>
              <a:t>deleteById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1400">
                <a:solidFill>
                  <a:srgbClr val="9E880D"/>
                </a:solidFill>
                <a:latin typeface="Arial Unicode MS"/>
                <a:ea typeface="JetBrains Mono"/>
              </a:rPr>
              <a:t>@Param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"id"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) 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int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id);</a:t>
            </a: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EF55400-8FB0-4FEB-BD15-6A4B28A7D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47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3BCC1F-61AC-40BD-9BAD-82779F9156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060207"/>
            <a:ext cx="10748057" cy="5262955"/>
          </a:xfrm>
        </p:spPr>
        <p:txBody>
          <a:bodyPr/>
          <a:lstStyle/>
          <a:p>
            <a:r>
              <a:rPr lang="zh-CN" altLang="en-US"/>
              <a:t>要完成的功能列表清单：</a:t>
            </a:r>
            <a:endParaRPr lang="en-US" altLang="zh-CN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查询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查询所有数据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查看详情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条件查询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添加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修改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修改全部字段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修改动态字段</a:t>
            </a:r>
            <a:endParaRPr lang="en-US" altLang="zh-CN" sz="160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删除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/>
              <a:t>删除一个</a:t>
            </a:r>
            <a:endParaRPr lang="en-US" altLang="zh-CN" sz="1600"/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>
                <a:solidFill>
                  <a:srgbClr val="C00000"/>
                </a:solidFill>
              </a:rPr>
              <a:t>批量删除</a:t>
            </a:r>
            <a:endParaRPr lang="en-US" altLang="zh-CN" sz="160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47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配置文件完成增删改查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0A8980C-5EF6-43B8-BF59-88C3A7A91D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95450" y="1016160"/>
            <a:ext cx="9450210" cy="517190"/>
          </a:xfrm>
        </p:spPr>
        <p:txBody>
          <a:bodyPr/>
          <a:lstStyle/>
          <a:p>
            <a:r>
              <a:rPr lang="zh-CN" altLang="en-US"/>
              <a:t>批量删除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164C5E0-3B09-4FED-9BCB-11ABBA1C1264}"/>
              </a:ext>
            </a:extLst>
          </p:cNvPr>
          <p:cNvSpPr txBox="1"/>
          <p:nvPr/>
        </p:nvSpPr>
        <p:spPr>
          <a:xfrm>
            <a:off x="5638317" y="4317854"/>
            <a:ext cx="5769490" cy="231454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delete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id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="deleteByIds"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delete from </a:t>
            </a: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tb_brand</a:t>
            </a:r>
            <a:b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00000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where </a:t>
            </a:r>
            <a:r>
              <a:rPr lang="zh-CN" altLang="zh-CN" sz="1400">
                <a:solidFill>
                  <a:srgbClr val="871094"/>
                </a:solidFill>
                <a:latin typeface="Arial Unicode MS"/>
                <a:ea typeface="JetBrains Mono"/>
              </a:rPr>
              <a:t>id 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in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&lt;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foreach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collection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="ids"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item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="id"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separator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=","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open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="(" </a:t>
            </a:r>
            <a:r>
              <a:rPr lang="zh-CN" altLang="zh-CN" sz="1400">
                <a:solidFill>
                  <a:srgbClr val="174AD4"/>
                </a:solidFill>
                <a:latin typeface="Arial Unicode MS"/>
                <a:ea typeface="JetBrains Mono"/>
              </a:rPr>
              <a:t>close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=")"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    #{id}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    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foreach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b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&lt;/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delete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3CBA228-A2E6-43AB-9A10-FFFF95DD3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94E66F8-0184-4D82-B834-780488B02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F5C79E2-EC4C-48B7-BAF7-AE5961591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8E33E4C-D59F-4370-B7FC-BEACA67F1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占位符 6">
            <a:extLst>
              <a:ext uri="{FF2B5EF4-FFF2-40B4-BE49-F238E27FC236}">
                <a16:creationId xmlns:a16="http://schemas.microsoft.com/office/drawing/2014/main" id="{22C82814-E698-4DCB-89D8-A19F91C6D3D7}"/>
              </a:ext>
            </a:extLst>
          </p:cNvPr>
          <p:cNvSpPr txBox="1">
            <a:spLocks/>
          </p:cNvSpPr>
          <p:nvPr/>
        </p:nvSpPr>
        <p:spPr>
          <a:xfrm>
            <a:off x="2195450" y="3595006"/>
            <a:ext cx="3653259" cy="218679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/>
              <a:t>编写接口方法：</a:t>
            </a:r>
            <a:r>
              <a:rPr lang="en-US" altLang="zh-CN"/>
              <a:t> Mapper</a:t>
            </a:r>
            <a:r>
              <a:rPr lang="zh-CN" altLang="en-US"/>
              <a:t>接口</a:t>
            </a:r>
            <a:endParaRPr lang="en-US" altLang="zh-CN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400"/>
              <a:t>参数：</a:t>
            </a:r>
            <a:r>
              <a:rPr lang="en-US" altLang="zh-CN" sz="1400"/>
              <a:t>id</a:t>
            </a:r>
            <a:r>
              <a:rPr lang="zh-CN" altLang="en-US" sz="1400"/>
              <a:t>数组</a:t>
            </a:r>
            <a:endParaRPr lang="en-US" altLang="zh-CN" sz="140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400"/>
              <a:t>结果：</a:t>
            </a:r>
            <a:r>
              <a:rPr lang="en-US" altLang="zh-CN" sz="1400"/>
              <a:t>void</a:t>
            </a:r>
          </a:p>
          <a:p>
            <a:pPr marL="342900" indent="-342900">
              <a:buAutoNum type="arabicPeriod" startAt="2"/>
            </a:pPr>
            <a:r>
              <a:rPr lang="zh-CN" altLang="en-US"/>
              <a:t>编写 </a:t>
            </a:r>
            <a:r>
              <a:rPr lang="en-US" altLang="zh-CN"/>
              <a:t>SQL</a:t>
            </a:r>
            <a:r>
              <a:rPr lang="zh-CN" altLang="en-US"/>
              <a:t>语句：</a:t>
            </a:r>
            <a:r>
              <a:rPr lang="en-US" altLang="zh-CN"/>
              <a:t> SQL</a:t>
            </a:r>
            <a:r>
              <a:rPr lang="zh-CN" altLang="en-US"/>
              <a:t>映射文件</a:t>
            </a:r>
            <a:endParaRPr lang="en-US" altLang="zh-CN"/>
          </a:p>
          <a:p>
            <a:pPr marL="342900" indent="-342900">
              <a:buAutoNum type="arabicPeriod" startAt="3"/>
            </a:pPr>
            <a:r>
              <a:rPr lang="zh-CN" altLang="en-US"/>
              <a:t>执行方法，测试</a:t>
            </a:r>
            <a:endParaRPr lang="en-US" altLang="zh-CN"/>
          </a:p>
          <a:p>
            <a:endParaRPr lang="en-US" altLang="zh-CN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7F8F0A5-10EA-4375-8A1F-AAB031A59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CE3E17F-522B-4E8D-A81A-19E1934A9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DCB77509-32B9-48C8-805C-AB1DFDB58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99F3B29-E076-4EFC-B3E0-D972F3CF9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450" y="1586280"/>
            <a:ext cx="4658360" cy="17897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810B2D76-568B-45D3-85A4-9B63006D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1F720B10-FAFA-4EF3-88B5-3109E12246BC}"/>
              </a:ext>
            </a:extLst>
          </p:cNvPr>
          <p:cNvSpPr txBox="1"/>
          <p:nvPr/>
        </p:nvSpPr>
        <p:spPr>
          <a:xfrm>
            <a:off x="5638316" y="3693074"/>
            <a:ext cx="5769490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void </a:t>
            </a:r>
            <a:r>
              <a:rPr lang="zh-CN" altLang="zh-CN" sz="1400">
                <a:solidFill>
                  <a:srgbClr val="00627A"/>
                </a:solidFill>
                <a:latin typeface="Arial Unicode MS"/>
                <a:ea typeface="JetBrains Mono"/>
              </a:rPr>
              <a:t>deleteByIds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1400">
                <a:solidFill>
                  <a:srgbClr val="9E880D"/>
                </a:solidFill>
                <a:latin typeface="Arial Unicode MS"/>
                <a:ea typeface="JetBrains Mono"/>
              </a:rPr>
              <a:t>@Param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1400">
                <a:solidFill>
                  <a:srgbClr val="067D17"/>
                </a:solidFill>
                <a:latin typeface="Arial Unicode MS"/>
                <a:ea typeface="JetBrains Mono"/>
              </a:rPr>
              <a:t>"ids"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) </a:t>
            </a:r>
            <a:r>
              <a:rPr lang="zh-CN" altLang="zh-CN" sz="1400">
                <a:solidFill>
                  <a:srgbClr val="0033B3"/>
                </a:solidFill>
                <a:latin typeface="Arial Unicode MS"/>
                <a:ea typeface="JetBrains Mono"/>
              </a:rPr>
              <a:t>int</a:t>
            </a:r>
            <a:r>
              <a:rPr lang="zh-CN" altLang="zh-CN" sz="1400">
                <a:solidFill>
                  <a:srgbClr val="080808"/>
                </a:solidFill>
                <a:latin typeface="Arial Unicode MS"/>
                <a:ea typeface="JetBrains Mono"/>
              </a:rPr>
              <a:t>[] ids);</a:t>
            </a: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F04A3EE-F34A-4DCF-A078-81EFFFD6D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510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64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58536</TotalTime>
  <Words>2544</Words>
  <Application>Microsoft Office PowerPoint</Application>
  <PresentationFormat>宽屏</PresentationFormat>
  <Paragraphs>303</Paragraphs>
  <Slides>31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31</vt:i4>
      </vt:variant>
    </vt:vector>
  </HeadingPairs>
  <TitlesOfParts>
    <vt:vector size="54" baseType="lpstr">
      <vt:lpstr>Alibaba PuHuiTi B</vt:lpstr>
      <vt:lpstr>Alibaba PuHuiTi M</vt:lpstr>
      <vt:lpstr>Alibaba PuHuiTi R</vt:lpstr>
      <vt:lpstr>Arial Unicode MS</vt:lpstr>
      <vt:lpstr>Helvetica Neue</vt:lpstr>
      <vt:lpstr>JetBrains Mono</vt:lpstr>
      <vt:lpstr>阿里巴巴普惠体</vt:lpstr>
      <vt:lpstr>等线</vt:lpstr>
      <vt:lpstr>黑体</vt:lpstr>
      <vt:lpstr>宋体</vt:lpstr>
      <vt:lpstr>微软雅黑</vt:lpstr>
      <vt:lpstr>Arial</vt:lpstr>
      <vt:lpstr>Calibri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MyBatis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配置文件完成增删改查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win7w</cp:lastModifiedBy>
  <cp:revision>1333</cp:revision>
  <dcterms:created xsi:type="dcterms:W3CDTF">2020-03-31T02:23:27Z</dcterms:created>
  <dcterms:modified xsi:type="dcterms:W3CDTF">2022-11-27T10:18:29Z</dcterms:modified>
</cp:coreProperties>
</file>