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74" r:id="rId7"/>
  </p:sldMasterIdLst>
  <p:notesMasterIdLst>
    <p:notesMasterId r:id="rId47"/>
  </p:notesMasterIdLst>
  <p:handoutMasterIdLst>
    <p:handoutMasterId r:id="rId48"/>
  </p:handoutMasterIdLst>
  <p:sldIdLst>
    <p:sldId id="462" r:id="rId8"/>
    <p:sldId id="463" r:id="rId9"/>
    <p:sldId id="620" r:id="rId10"/>
    <p:sldId id="640" r:id="rId11"/>
    <p:sldId id="641" r:id="rId12"/>
    <p:sldId id="642" r:id="rId13"/>
    <p:sldId id="643" r:id="rId14"/>
    <p:sldId id="645" r:id="rId15"/>
    <p:sldId id="646" r:id="rId16"/>
    <p:sldId id="647" r:id="rId17"/>
    <p:sldId id="648" r:id="rId18"/>
    <p:sldId id="649" r:id="rId19"/>
    <p:sldId id="650" r:id="rId20"/>
    <p:sldId id="651" r:id="rId21"/>
    <p:sldId id="652" r:id="rId22"/>
    <p:sldId id="653" r:id="rId23"/>
    <p:sldId id="654" r:id="rId24"/>
    <p:sldId id="655" r:id="rId25"/>
    <p:sldId id="656" r:id="rId26"/>
    <p:sldId id="467" r:id="rId27"/>
    <p:sldId id="602" r:id="rId28"/>
    <p:sldId id="603" r:id="rId29"/>
    <p:sldId id="604" r:id="rId30"/>
    <p:sldId id="605" r:id="rId31"/>
    <p:sldId id="606" r:id="rId32"/>
    <p:sldId id="607" r:id="rId33"/>
    <p:sldId id="608" r:id="rId34"/>
    <p:sldId id="609" r:id="rId35"/>
    <p:sldId id="610" r:id="rId36"/>
    <p:sldId id="611" r:id="rId37"/>
    <p:sldId id="612" r:id="rId38"/>
    <p:sldId id="613" r:id="rId39"/>
    <p:sldId id="614" r:id="rId40"/>
    <p:sldId id="657" r:id="rId41"/>
    <p:sldId id="616" r:id="rId42"/>
    <p:sldId id="617" r:id="rId43"/>
    <p:sldId id="618" r:id="rId44"/>
    <p:sldId id="619" r:id="rId45"/>
    <p:sldId id="591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504F"/>
    <a:srgbClr val="B60206"/>
    <a:srgbClr val="AD2B26"/>
    <a:srgbClr val="B70006"/>
    <a:srgbClr val="FFFFE4"/>
    <a:srgbClr val="919191"/>
    <a:srgbClr val="333333"/>
    <a:srgbClr val="FFFFFF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929F9F4-4A8F-4326-A1B4-22849713DDAB}" styleName="深色样式 1 - 强调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4" autoAdjust="0"/>
    <p:restoredTop sz="95306" autoAdjust="0"/>
  </p:normalViewPr>
  <p:slideViewPr>
    <p:cSldViewPr snapToGrid="0">
      <p:cViewPr varScale="1">
        <p:scale>
          <a:sx n="83" d="100"/>
          <a:sy n="83" d="100"/>
        </p:scale>
        <p:origin x="61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slide" Target="slides/slide3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1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2022/9/2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2022/9/2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00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673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518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740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224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1522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652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712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49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4774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380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9891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5889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1431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1294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9935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0934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6368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4177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9301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3613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5980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5402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724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6165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0714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3067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8978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9577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913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3523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0870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7675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087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smtClean="0"/>
              <a:t>Mybatis</a:t>
            </a:r>
            <a:endParaRPr kumimoji="1" lang="zh-CN" alt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45393" y="833755"/>
            <a:ext cx="5973761" cy="4256405"/>
          </a:xfrm>
        </p:spPr>
        <p:txBody>
          <a:bodyPr/>
          <a:lstStyle/>
          <a:p>
            <a:r>
              <a:rPr kumimoji="1" lang="en-US" altLang="zh-CN" dirty="0" err="1">
                <a:solidFill>
                  <a:srgbClr val="C00000"/>
                </a:solidFill>
              </a:rPr>
              <a:t>mybatis</a:t>
            </a:r>
            <a:r>
              <a:rPr kumimoji="1" lang="zh-CN" altLang="en-US" dirty="0">
                <a:solidFill>
                  <a:srgbClr val="C00000"/>
                </a:solidFill>
              </a:rPr>
              <a:t>高级查询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zh-CN" altLang="en-US" dirty="0">
                <a:solidFill>
                  <a:srgbClr val="C00000"/>
                </a:solidFill>
              </a:rPr>
              <a:t>掌握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</a:p>
          <a:p>
            <a:r>
              <a:rPr lang="en-US" altLang="zh-CN" dirty="0" err="1">
                <a:solidFill>
                  <a:schemeClr val="tx1"/>
                </a:solidFill>
              </a:rPr>
              <a:t>mybatis</a:t>
            </a:r>
            <a:r>
              <a:rPr lang="zh-CN" altLang="en-US" dirty="0">
                <a:solidFill>
                  <a:schemeClr val="tx1"/>
                </a:solidFill>
              </a:rPr>
              <a:t>注解开发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zh-CN" dirty="0" err="1"/>
              <a:t>mybatis</a:t>
            </a:r>
            <a:r>
              <a:rPr lang="zh-CN" altLang="en-US" dirty="0"/>
              <a:t>基于注解实现动态</a:t>
            </a:r>
            <a:r>
              <a:rPr lang="en-US" altLang="zh-CN" dirty="0"/>
              <a:t>SQL</a:t>
            </a:r>
            <a:r>
              <a:rPr lang="zh-CN" altLang="en-US" dirty="0"/>
              <a:t>（理解）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2988284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高级查询</a:t>
            </a:r>
          </a:p>
        </p:txBody>
      </p:sp>
      <p:sp>
        <p:nvSpPr>
          <p:cNvPr id="15" name="矩形 14"/>
          <p:cNvSpPr/>
          <p:nvPr/>
        </p:nvSpPr>
        <p:spPr>
          <a:xfrm>
            <a:off x="710880" y="761379"/>
            <a:ext cx="29692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1 </a:t>
            </a:r>
            <a:r>
              <a:rPr lang="en-US" altLang="zh-CN" b="1" dirty="0" err="1"/>
              <a:t>mybatis</a:t>
            </a:r>
            <a:r>
              <a:rPr lang="zh-CN" altLang="en-US" b="1" dirty="0"/>
              <a:t>高级查询环境准备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43388" y="1130711"/>
            <a:ext cx="10386611" cy="10772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表与表的关系: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一对一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: ab两表的关系,由任意一张表维护(外键) 比如:b表维护ab的管理,那么在b表中创建一个字段aid;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一对多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:ab两张表 比如:从a看是一个a对应b的多条数据,但是从b看是一个b只能对应一个a的数据;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多对多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:ab两张表 比如:从a看是一个a对应b的多条数据,同时从b看是一个b对应a表的多条数据;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10880" y="2207929"/>
            <a:ext cx="20457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【1】</a:t>
            </a:r>
            <a:r>
              <a:rPr lang="zh-CN" altLang="en-US"/>
              <a:t>导入</a:t>
            </a:r>
            <a:r>
              <a:rPr lang="en-US" altLang="zh-CN"/>
              <a:t>SQL</a:t>
            </a:r>
            <a:r>
              <a:rPr lang="zh-CN" altLang="en-US"/>
              <a:t>脚本</a:t>
            </a:r>
          </a:p>
        </p:txBody>
      </p:sp>
      <p:sp>
        <p:nvSpPr>
          <p:cNvPr id="5" name="矩形 4"/>
          <p:cNvSpPr/>
          <p:nvPr/>
        </p:nvSpPr>
        <p:spPr>
          <a:xfrm>
            <a:off x="817834" y="2577261"/>
            <a:ext cx="35830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运行资料中的</a:t>
            </a:r>
            <a:r>
              <a:rPr lang="en-US" altLang="zh-CN"/>
              <a:t>sql</a:t>
            </a:r>
            <a:r>
              <a:rPr lang="zh-CN" altLang="en-US"/>
              <a:t>脚本：</a:t>
            </a:r>
            <a:r>
              <a:rPr lang="en-US" altLang="zh-CN" b="1"/>
              <a:t>mybatis.sql</a:t>
            </a:r>
            <a:endParaRPr lang="zh-CN" altLang="en-US" b="1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09" y="2946593"/>
            <a:ext cx="6386946" cy="379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8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2988284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高级查询</a:t>
            </a:r>
          </a:p>
        </p:txBody>
      </p:sp>
      <p:sp>
        <p:nvSpPr>
          <p:cNvPr id="15" name="矩形 14"/>
          <p:cNvSpPr/>
          <p:nvPr/>
        </p:nvSpPr>
        <p:spPr>
          <a:xfrm>
            <a:off x="710880" y="761379"/>
            <a:ext cx="29692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1 </a:t>
            </a:r>
            <a:r>
              <a:rPr lang="en-US" altLang="zh-CN" b="1" dirty="0" err="1"/>
              <a:t>mybatis</a:t>
            </a:r>
            <a:r>
              <a:rPr lang="zh-CN" altLang="en-US" b="1" dirty="0"/>
              <a:t>高级查询环境准备</a:t>
            </a:r>
          </a:p>
        </p:txBody>
      </p:sp>
      <p:sp>
        <p:nvSpPr>
          <p:cNvPr id="4" name="矩形 3"/>
          <p:cNvSpPr/>
          <p:nvPr/>
        </p:nvSpPr>
        <p:spPr>
          <a:xfrm>
            <a:off x="563597" y="1130711"/>
            <a:ext cx="19175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【2】</a:t>
            </a:r>
            <a:r>
              <a:rPr lang="zh-CN" altLang="en-US"/>
              <a:t>工程包结构</a:t>
            </a:r>
          </a:p>
        </p:txBody>
      </p:sp>
      <p:sp>
        <p:nvSpPr>
          <p:cNvPr id="7" name="矩形 6"/>
          <p:cNvSpPr/>
          <p:nvPr/>
        </p:nvSpPr>
        <p:spPr>
          <a:xfrm>
            <a:off x="1122218" y="1500043"/>
            <a:ext cx="76477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 创建</a:t>
            </a:r>
            <a:r>
              <a:rPr lang="en-US" altLang="zh-CN" dirty="0"/>
              <a:t>java</a:t>
            </a:r>
            <a:r>
              <a:rPr lang="zh-CN" altLang="en-US" dirty="0"/>
              <a:t>项目，导入</a:t>
            </a:r>
            <a:r>
              <a:rPr lang="zh-CN" altLang="en-US"/>
              <a:t>依赖和配置文件</a:t>
            </a:r>
            <a:r>
              <a:rPr lang="zh-CN" altLang="en-US" dirty="0"/>
              <a:t>；</a:t>
            </a:r>
          </a:p>
        </p:txBody>
      </p:sp>
      <p:sp>
        <p:nvSpPr>
          <p:cNvPr id="8" name="矩形 7"/>
          <p:cNvSpPr/>
          <p:nvPr/>
        </p:nvSpPr>
        <p:spPr>
          <a:xfrm>
            <a:off x="563597" y="1869375"/>
            <a:ext cx="41841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【3】</a:t>
            </a:r>
            <a:r>
              <a:rPr lang="zh-CN" altLang="en-US"/>
              <a:t>创建实体来包，导入资料中的</a:t>
            </a:r>
            <a:r>
              <a:rPr lang="en-US" altLang="zh-CN"/>
              <a:t>pojo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778" y="2238707"/>
            <a:ext cx="3308639" cy="3078568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554293" y="5317275"/>
            <a:ext cx="43917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【4】</a:t>
            </a:r>
            <a:r>
              <a:rPr lang="zh-CN" altLang="en-US"/>
              <a:t>配置</a:t>
            </a:r>
            <a:r>
              <a:rPr lang="en-US" altLang="zh-CN"/>
              <a:t>UserMapper.xml</a:t>
            </a:r>
            <a:r>
              <a:rPr lang="zh-CN" altLang="en-US"/>
              <a:t>映射文件和接口</a:t>
            </a:r>
          </a:p>
        </p:txBody>
      </p:sp>
      <p:sp>
        <p:nvSpPr>
          <p:cNvPr id="11" name="矩形 10"/>
          <p:cNvSpPr/>
          <p:nvPr/>
        </p:nvSpPr>
        <p:spPr>
          <a:xfrm>
            <a:off x="1122218" y="5686607"/>
            <a:ext cx="12827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1.</a:t>
            </a:r>
            <a:r>
              <a:rPr lang="zh-CN" altLang="en-US"/>
              <a:t>定义接口</a:t>
            </a: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1318778" y="6055939"/>
            <a:ext cx="4932329" cy="69249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interface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User</a:t>
            </a:r>
            <a:r>
              <a:rPr kumimoji="0" lang="en-US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Mapper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{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/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User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findByUserId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(@Param(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"id"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Long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id);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12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/>
      <p:bldP spid="11" grpId="0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2988284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高级查询</a:t>
            </a:r>
          </a:p>
        </p:txBody>
      </p:sp>
      <p:sp>
        <p:nvSpPr>
          <p:cNvPr id="15" name="矩形 14"/>
          <p:cNvSpPr/>
          <p:nvPr/>
        </p:nvSpPr>
        <p:spPr>
          <a:xfrm>
            <a:off x="710880" y="761379"/>
            <a:ext cx="29692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1 </a:t>
            </a:r>
            <a:r>
              <a:rPr lang="en-US" altLang="zh-CN" b="1" dirty="0" err="1"/>
              <a:t>mybatis</a:t>
            </a:r>
            <a:r>
              <a:rPr lang="zh-CN" altLang="en-US" b="1" dirty="0"/>
              <a:t>高级查询环境准备</a:t>
            </a:r>
          </a:p>
        </p:txBody>
      </p:sp>
      <p:sp>
        <p:nvSpPr>
          <p:cNvPr id="10" name="矩形 9"/>
          <p:cNvSpPr/>
          <p:nvPr/>
        </p:nvSpPr>
        <p:spPr>
          <a:xfrm>
            <a:off x="609711" y="1130711"/>
            <a:ext cx="43917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【4】</a:t>
            </a:r>
            <a:r>
              <a:rPr lang="zh-CN" altLang="en-US"/>
              <a:t>配置</a:t>
            </a:r>
            <a:r>
              <a:rPr lang="en-US" altLang="zh-CN"/>
              <a:t>UserMapper.xml</a:t>
            </a:r>
            <a:r>
              <a:rPr lang="zh-CN" altLang="en-US"/>
              <a:t>映射文件和接口</a:t>
            </a:r>
          </a:p>
        </p:txBody>
      </p:sp>
      <p:sp>
        <p:nvSpPr>
          <p:cNvPr id="11" name="矩形 10"/>
          <p:cNvSpPr/>
          <p:nvPr/>
        </p:nvSpPr>
        <p:spPr>
          <a:xfrm>
            <a:off x="1177636" y="1500043"/>
            <a:ext cx="17443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2.</a:t>
            </a:r>
            <a:r>
              <a:rPr lang="zh-CN" altLang="en-US"/>
              <a:t>配置映射文件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357745" y="1869375"/>
            <a:ext cx="4793673" cy="229293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&lt;?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xml version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="1.0"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encoding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="UTF-8"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?&gt;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&lt;!DOCTYPE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mapper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"-//mybatis.org//DTD Mapper 3.0//EN"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        "http://mybatis.org/dtd/mybatis-3-mapper.dtd"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mapper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namespace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="com.heima.mapper.UserMapper"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/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&lt;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select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id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="findByUserId"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resultType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="user"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select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*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from tb_user where id=#{id}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&lt;/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select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/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&lt;/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mapper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67107" y="4162310"/>
            <a:ext cx="16866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【5】</a:t>
            </a:r>
            <a:r>
              <a:rPr lang="zh-CN" altLang="en-US"/>
              <a:t>单元测试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357745" y="4531642"/>
            <a:ext cx="6317673" cy="203132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class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TestAll2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Arial Unicode MS"/>
                <a:ea typeface="JetBrains Mono"/>
              </a:rPr>
              <a:t>@Test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void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test1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(){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UserMapper mapper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MybatisUtil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getMapper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UserMapper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class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User user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mapper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.findByUserId(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1l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user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MybatisUtil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close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}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75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2" grpId="0" animBg="1"/>
      <p:bldP spid="5" grpId="0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2988284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高级查询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9039" y="6281499"/>
            <a:ext cx="505689" cy="505689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710880" y="761379"/>
            <a:ext cx="29692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1 </a:t>
            </a:r>
            <a:r>
              <a:rPr lang="en-US" altLang="zh-CN" b="1" dirty="0" err="1"/>
              <a:t>mybatis</a:t>
            </a:r>
            <a:r>
              <a:rPr lang="zh-CN" altLang="en-US" b="1" dirty="0"/>
              <a:t>高级查询环境准备</a:t>
            </a:r>
          </a:p>
        </p:txBody>
      </p:sp>
      <p:sp>
        <p:nvSpPr>
          <p:cNvPr id="5" name="矩形 4"/>
          <p:cNvSpPr/>
          <p:nvPr/>
        </p:nvSpPr>
        <p:spPr>
          <a:xfrm>
            <a:off x="710879" y="1093903"/>
            <a:ext cx="19175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【5】</a:t>
            </a:r>
            <a:r>
              <a:rPr lang="zh-CN" altLang="en-US"/>
              <a:t>工程总结构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737" y="1463235"/>
            <a:ext cx="2760574" cy="525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68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2988284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高级查询</a:t>
            </a:r>
          </a:p>
        </p:txBody>
      </p:sp>
      <p:sp>
        <p:nvSpPr>
          <p:cNvPr id="15" name="矩形 14"/>
          <p:cNvSpPr/>
          <p:nvPr/>
        </p:nvSpPr>
        <p:spPr>
          <a:xfrm>
            <a:off x="710880" y="761379"/>
            <a:ext cx="1399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 </a:t>
            </a:r>
            <a:r>
              <a:rPr lang="zh-CN" altLang="en-US" b="1" dirty="0"/>
              <a:t>一对一查询</a:t>
            </a:r>
          </a:p>
        </p:txBody>
      </p:sp>
      <p:sp>
        <p:nvSpPr>
          <p:cNvPr id="2" name="矩形 1"/>
          <p:cNvSpPr/>
          <p:nvPr/>
        </p:nvSpPr>
        <p:spPr>
          <a:xfrm>
            <a:off x="710880" y="1130711"/>
            <a:ext cx="23775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一对一映射语法格式</a:t>
            </a:r>
            <a:r>
              <a:rPr lang="en-US" altLang="zh-CN"/>
              <a:t>: </a:t>
            </a:r>
            <a:endParaRPr lang="zh-CN" alt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10880" y="1500043"/>
            <a:ext cx="8627084" cy="169277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resultMap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id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=“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映射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ID”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type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=“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主表实体名称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”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autoMapping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=“true”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&lt;!--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添加主表</a:t>
            </a:r>
            <a:r>
              <a:rPr kumimoji="0" lang="zh-CN" altLang="en-US" sz="13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主表实体映射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--&gt;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......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&lt;!--association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：配置关联对象（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User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）的映射关系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一般与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resultMap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标签联合使用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--&gt;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association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property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主表实体中对应从表的属性名称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javaType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从表实体类型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autoMapping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="true"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&lt;!--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添加从表中字段与实体属性映射关系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--&gt;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&lt;/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association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&lt;/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resultMap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710879" y="3269759"/>
            <a:ext cx="703381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需求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：通过订单编号20140921003查询出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订单信息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，并查询出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下单人信息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。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说明:一个订单只能对应一个用户信息;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86188" y="3854534"/>
            <a:ext cx="181938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>
                <a:solidFill>
                  <a:srgbClr val="333333"/>
                </a:solidFill>
                <a:ea typeface="Open Sans"/>
              </a:rPr>
              <a:t>【1】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需求分析</a:t>
            </a: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: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801006" y="4193088"/>
            <a:ext cx="6528050" cy="24622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--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方式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1: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分步查询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-- 1.1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根据订单编号查询订单信息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select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*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from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tb_order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where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order_number=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'20140921003'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-- user_id:1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-- 1.2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根据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user_id=1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查询下单人信息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select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*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from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tb_user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where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id=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--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方式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2: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关联查询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select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tb_order.id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as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order_id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,tb_order.order_number,tb_user.* 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from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tb_order,tb_user 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where 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tb_user.id=tb_order.user_id 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and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tb_order.order_number=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'20140921003'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12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2988284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高级查询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9039" y="6281499"/>
            <a:ext cx="505689" cy="505689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710880" y="761379"/>
            <a:ext cx="1399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 </a:t>
            </a:r>
            <a:r>
              <a:rPr lang="zh-CN" altLang="en-US" b="1" dirty="0"/>
              <a:t>一对一查询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48533" y="1130711"/>
            <a:ext cx="287052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/>
              <a:t>【2】</a:t>
            </a:r>
            <a:r>
              <a:rPr lang="zh-CN" altLang="en-US" sz="1600"/>
              <a:t>订单实体添加属性映射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233054" y="1500043"/>
            <a:ext cx="2881746" cy="224676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class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Order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/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private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Integer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id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/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private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String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orderNumber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/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private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User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orderUser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//getter  setter toString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3647" y="3885311"/>
            <a:ext cx="2895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【3】</a:t>
            </a:r>
            <a:r>
              <a:rPr lang="zh-CN" altLang="en-US"/>
              <a:t>添加</a:t>
            </a:r>
            <a:r>
              <a:rPr lang="en-US" altLang="zh-CN"/>
              <a:t>order</a:t>
            </a:r>
            <a:r>
              <a:rPr lang="zh-CN" altLang="en-US"/>
              <a:t>接口及方法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233054" y="4408531"/>
            <a:ext cx="6497782" cy="203132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interface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OrderMapper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/**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    *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根据订单编号查询订单信息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包含下单人信息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* @param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Arial Unicode MS"/>
                <a:ea typeface="JetBrains Mono"/>
              </a:rPr>
              <a:t>orderNumber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Arial Unicode MS"/>
                <a:ea typeface="JetBrains Mono"/>
              </a:rPr>
              <a:t> 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* @return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    */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Order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findOrderByOrderNumber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(@Param(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"orderNumber"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String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orderNumber);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989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 animBg="1"/>
      <p:bldP spid="7" grpId="0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2988284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高级查询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9039" y="6281499"/>
            <a:ext cx="505689" cy="505689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710880" y="761379"/>
            <a:ext cx="1399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 </a:t>
            </a:r>
            <a:r>
              <a:rPr lang="zh-CN" altLang="en-US" b="1" dirty="0"/>
              <a:t>一对一查询</a:t>
            </a:r>
          </a:p>
        </p:txBody>
      </p:sp>
      <p:sp>
        <p:nvSpPr>
          <p:cNvPr id="12" name="矩形 11"/>
          <p:cNvSpPr/>
          <p:nvPr/>
        </p:nvSpPr>
        <p:spPr>
          <a:xfrm>
            <a:off x="710880" y="1130711"/>
            <a:ext cx="35959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【4】 </a:t>
            </a:r>
            <a:r>
              <a:rPr lang="zh-CN" altLang="en-US"/>
              <a:t>创建</a:t>
            </a:r>
            <a:r>
              <a:rPr lang="en-US" altLang="zh-CN"/>
              <a:t>order</a:t>
            </a:r>
            <a:r>
              <a:rPr lang="zh-CN" altLang="en-US"/>
              <a:t>映射文件</a:t>
            </a:r>
            <a:r>
              <a:rPr lang="en-US" altLang="zh-CN"/>
              <a:t>,</a:t>
            </a:r>
            <a:r>
              <a:rPr lang="zh-CN" altLang="en-US"/>
              <a:t>编写</a:t>
            </a:r>
            <a:r>
              <a:rPr lang="en-US" altLang="zh-CN"/>
              <a:t>SQL</a:t>
            </a:r>
            <a:endParaRPr lang="zh-CN" alt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52946" y="1447265"/>
            <a:ext cx="6553199" cy="533992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&lt;?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xml version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="1.0"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encoding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="UTF-8"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?&gt;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&lt;!DOCTYPE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mapper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"-//mybatis.org//DTD Mapper 3.0//EN"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        "http://mybatis.org/dtd/mybatis-3-mapper.dtd"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mapper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namespace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="com.heima.mapper.OrderMapper"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&lt;!--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自定义映射规则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--&gt;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resultMap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="orderMap"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type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="Order"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autoMapping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="true"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id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column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="order_id"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property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="id"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/&gt;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result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column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="order_number"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property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="orderNumber"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/&gt;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&lt;!--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          association: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表示一对一映射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 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          property="orderUser":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表示指定映射的属性名称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/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          javaType="User":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指定映射属性的类型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/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          autoMapping="true":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开启自动映射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查询字段名称与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pojo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类中属性名称一致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可以不写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        --&gt;</a:t>
            </a:r>
            <a:b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association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property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="orderUser"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javaType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="User"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autoMapping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="true"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id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column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="id"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property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="id"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/&gt;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result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column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="user_name"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property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="userName"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/&gt;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association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resultMap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&lt;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select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="findOrderByOrderNumber"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resultMap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="orderMap"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select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tb_order.id as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order_id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tb_order.order_number,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tb_user.*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from tb_order,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tb_user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where tb_user.id = tb_order.user_id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and tb_order.order_number = #{orderNumber}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select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&lt;/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mapper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endParaRPr kumimoji="0" lang="zh-CN" altLang="zh-CN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48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2988284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高级查询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9039" y="6281499"/>
            <a:ext cx="505689" cy="505689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710880" y="761379"/>
            <a:ext cx="1399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 </a:t>
            </a:r>
            <a:r>
              <a:rPr lang="zh-CN" altLang="en-US" b="1" dirty="0"/>
              <a:t>一对一查询</a:t>
            </a:r>
          </a:p>
        </p:txBody>
      </p:sp>
      <p:sp>
        <p:nvSpPr>
          <p:cNvPr id="12" name="矩形 11"/>
          <p:cNvSpPr/>
          <p:nvPr/>
        </p:nvSpPr>
        <p:spPr>
          <a:xfrm>
            <a:off x="710880" y="1130711"/>
            <a:ext cx="12779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【5】 </a:t>
            </a:r>
            <a:r>
              <a:rPr lang="zh-CN" altLang="en-US"/>
              <a:t>测试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45127" y="1500043"/>
            <a:ext cx="5791200" cy="14927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Arial Unicode MS"/>
                <a:ea typeface="JetBrains Mono"/>
              </a:rPr>
              <a:t>@Test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void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test2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OrderMapper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mapper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MybatisUtil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getMapper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(OrderMapper.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class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Order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order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mapper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.findOrderByOrderNumber(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"20140921003"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order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MybatisUtil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close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2439" y="3034486"/>
            <a:ext cx="12250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【6】</a:t>
            </a:r>
            <a:r>
              <a:rPr lang="zh-CN" altLang="en-US"/>
              <a:t>效果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27" y="3463592"/>
            <a:ext cx="10286712" cy="294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62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" grpId="0" animBg="1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2988284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高级查询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9039" y="6281499"/>
            <a:ext cx="505689" cy="505689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710880" y="761379"/>
            <a:ext cx="1399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 </a:t>
            </a:r>
            <a:r>
              <a:rPr lang="zh-CN" altLang="en-US" b="1" dirty="0"/>
              <a:t>一对一查询</a:t>
            </a:r>
          </a:p>
        </p:txBody>
      </p:sp>
      <p:sp>
        <p:nvSpPr>
          <p:cNvPr id="7" name="矩形 6"/>
          <p:cNvSpPr/>
          <p:nvPr/>
        </p:nvSpPr>
        <p:spPr>
          <a:xfrm>
            <a:off x="710880" y="1130711"/>
            <a:ext cx="18630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一对一查询总结</a:t>
            </a:r>
            <a:r>
              <a:rPr lang="en-US" altLang="zh-CN"/>
              <a:t>:</a:t>
            </a:r>
            <a:endParaRPr lang="zh-CN" altLang="en-US"/>
          </a:p>
        </p:txBody>
      </p:sp>
      <p:pic>
        <p:nvPicPr>
          <p:cNvPr id="10" name="图片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2591" y="3855893"/>
            <a:ext cx="2724150" cy="1130300"/>
          </a:xfrm>
          <a:prstGeom prst="rect">
            <a:avLst/>
          </a:prstGeom>
          <a:noFill/>
          <a:ln w="9525">
            <a:solidFill>
              <a:srgbClr val="0C1C1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891" y="4098781"/>
            <a:ext cx="5400675" cy="561975"/>
          </a:xfrm>
          <a:prstGeom prst="rect">
            <a:avLst/>
          </a:prstGeom>
          <a:noFill/>
          <a:ln w="9525">
            <a:solidFill>
              <a:srgbClr val="0C1C1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右箭头 12"/>
          <p:cNvSpPr/>
          <p:nvPr/>
        </p:nvSpPr>
        <p:spPr>
          <a:xfrm>
            <a:off x="8106329" y="4294043"/>
            <a:ext cx="512762" cy="215900"/>
          </a:xfrm>
          <a:prstGeom prst="rightArrow">
            <a:avLst/>
          </a:prstGeom>
          <a:solidFill>
            <a:srgbClr val="000000"/>
          </a:solidFill>
          <a:ln w="12700" cap="flat" cmpd="sng" algn="ctr">
            <a:solidFill>
              <a:srgbClr val="000000">
                <a:shade val="50000"/>
              </a:srgbClr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8042829" y="4098781"/>
            <a:ext cx="5762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映射</a:t>
            </a:r>
            <a:r>
              <a:rPr lang="en-US" altLang="zh-CN" sz="12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?</a:t>
            </a:r>
          </a:p>
        </p:txBody>
      </p:sp>
      <p:pic>
        <p:nvPicPr>
          <p:cNvPr id="16" name="图片 1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8016" y="1500043"/>
            <a:ext cx="5935663" cy="2011363"/>
          </a:xfrm>
          <a:prstGeom prst="rect">
            <a:avLst/>
          </a:prstGeom>
          <a:noFill/>
          <a:ln w="9525">
            <a:solidFill>
              <a:srgbClr val="0C1C1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/>
          <p:cNvSpPr/>
          <p:nvPr/>
        </p:nvSpPr>
        <p:spPr>
          <a:xfrm>
            <a:off x="2715179" y="4090843"/>
            <a:ext cx="1927225" cy="649288"/>
          </a:xfrm>
          <a:prstGeom prst="rect">
            <a:avLst/>
          </a:prstGeom>
          <a:solidFill>
            <a:srgbClr val="000000">
              <a:alpha val="0"/>
            </a:srgbClr>
          </a:solidFill>
          <a:ln w="285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3234291" y="4725843"/>
            <a:ext cx="8318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Order</a:t>
            </a:r>
          </a:p>
        </p:txBody>
      </p:sp>
      <p:sp>
        <p:nvSpPr>
          <p:cNvPr id="19" name="矩形 18"/>
          <p:cNvSpPr/>
          <p:nvPr/>
        </p:nvSpPr>
        <p:spPr>
          <a:xfrm>
            <a:off x="4709079" y="4078143"/>
            <a:ext cx="3333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285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5628241" y="4740131"/>
            <a:ext cx="1241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一个</a:t>
            </a:r>
            <a:r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User</a:t>
            </a:r>
            <a:r>
              <a:rPr lang="zh-CN" altLang="en-US" sz="1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对象</a:t>
            </a:r>
          </a:p>
        </p:txBody>
      </p:sp>
      <p:sp>
        <p:nvSpPr>
          <p:cNvPr id="22" name="矩形 21"/>
          <p:cNvSpPr/>
          <p:nvPr/>
        </p:nvSpPr>
        <p:spPr>
          <a:xfrm>
            <a:off x="5163104" y="1712768"/>
            <a:ext cx="792162" cy="215900"/>
          </a:xfrm>
          <a:prstGeom prst="rect">
            <a:avLst/>
          </a:prstGeom>
          <a:solidFill>
            <a:srgbClr val="000000">
              <a:alpha val="0"/>
            </a:srgbClr>
          </a:solidFill>
          <a:ln w="19050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775504" y="4157518"/>
            <a:ext cx="792162" cy="215900"/>
          </a:xfrm>
          <a:prstGeom prst="rect">
            <a:avLst/>
          </a:prstGeom>
          <a:solidFill>
            <a:srgbClr val="000000">
              <a:alpha val="0"/>
            </a:srgbClr>
          </a:solidFill>
          <a:ln w="19050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869666" y="1712768"/>
            <a:ext cx="344488" cy="215900"/>
          </a:xfrm>
          <a:prstGeom prst="rect">
            <a:avLst/>
          </a:prstGeom>
          <a:solidFill>
            <a:srgbClr val="000000">
              <a:alpha val="0"/>
            </a:srgbClr>
          </a:solidFill>
          <a:ln w="19050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357404" y="4078143"/>
            <a:ext cx="296862" cy="215900"/>
          </a:xfrm>
          <a:prstGeom prst="rect">
            <a:avLst/>
          </a:prstGeom>
          <a:solidFill>
            <a:srgbClr val="000000">
              <a:alpha val="0"/>
            </a:srgbClr>
          </a:solidFill>
          <a:ln w="19050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cxnSp>
        <p:nvCxnSpPr>
          <p:cNvPr id="26" name="肘形连接符 25"/>
          <p:cNvCxnSpPr>
            <a:stCxn id="22" idx="1"/>
            <a:endCxn id="23" idx="0"/>
          </p:cNvCxnSpPr>
          <p:nvPr/>
        </p:nvCxnSpPr>
        <p:spPr>
          <a:xfrm rot="10800000" flipV="1">
            <a:off x="3171586" y="1820718"/>
            <a:ext cx="1991519" cy="2336800"/>
          </a:xfrm>
          <a:prstGeom prst="bentConnector2">
            <a:avLst/>
          </a:prstGeom>
          <a:noFill/>
          <a:ln w="19050" cap="flat" cmpd="sng" algn="ctr">
            <a:solidFill>
              <a:srgbClr val="FF0000"/>
            </a:solidFill>
            <a:prstDash val="dash"/>
            <a:miter lim="800000"/>
            <a:tailEnd type="arrow"/>
          </a:ln>
          <a:effectLst/>
        </p:spPr>
      </p:cxnSp>
      <p:cxnSp>
        <p:nvCxnSpPr>
          <p:cNvPr id="27" name="肘形连接符 26"/>
          <p:cNvCxnSpPr>
            <a:stCxn id="24" idx="3"/>
            <a:endCxn id="25" idx="0"/>
          </p:cNvCxnSpPr>
          <p:nvPr/>
        </p:nvCxnSpPr>
        <p:spPr>
          <a:xfrm>
            <a:off x="7214154" y="1820718"/>
            <a:ext cx="3291681" cy="2257425"/>
          </a:xfrm>
          <a:prstGeom prst="bentConnector2">
            <a:avLst/>
          </a:prstGeom>
          <a:noFill/>
          <a:ln w="19050" cap="flat" cmpd="sng" algn="ctr">
            <a:solidFill>
              <a:srgbClr val="FF0000"/>
            </a:solidFill>
            <a:prstDash val="dash"/>
            <a:miter lim="800000"/>
            <a:tailEnd type="arrow"/>
          </a:ln>
          <a:effectLst/>
        </p:spPr>
      </p:cxnSp>
      <p:pic>
        <p:nvPicPr>
          <p:cNvPr id="28" name="图片 2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2591" y="5265593"/>
            <a:ext cx="2724150" cy="1371600"/>
          </a:xfrm>
          <a:prstGeom prst="rect">
            <a:avLst/>
          </a:prstGeom>
          <a:noFill/>
          <a:ln w="9525">
            <a:solidFill>
              <a:srgbClr val="0D0D0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矩形 28"/>
          <p:cNvSpPr/>
          <p:nvPr/>
        </p:nvSpPr>
        <p:spPr>
          <a:xfrm>
            <a:off x="4642404" y="4157518"/>
            <a:ext cx="296862" cy="215900"/>
          </a:xfrm>
          <a:prstGeom prst="rect">
            <a:avLst/>
          </a:prstGeom>
          <a:solidFill>
            <a:srgbClr val="000000">
              <a:alpha val="0"/>
            </a:srgbClr>
          </a:solidFill>
          <a:ln w="19050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509179" y="2627168"/>
            <a:ext cx="382587" cy="215900"/>
          </a:xfrm>
          <a:prstGeom prst="rect">
            <a:avLst/>
          </a:prstGeom>
          <a:solidFill>
            <a:srgbClr val="000000">
              <a:alpha val="0"/>
            </a:srgbClr>
          </a:solidFill>
          <a:ln w="19050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706154" y="2627168"/>
            <a:ext cx="382587" cy="215900"/>
          </a:xfrm>
          <a:prstGeom prst="rect">
            <a:avLst/>
          </a:prstGeom>
          <a:solidFill>
            <a:srgbClr val="000000">
              <a:alpha val="0"/>
            </a:srgbClr>
          </a:solidFill>
          <a:ln w="19050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9763679" y="5446568"/>
            <a:ext cx="274637" cy="217488"/>
          </a:xfrm>
          <a:prstGeom prst="rect">
            <a:avLst/>
          </a:prstGeom>
          <a:solidFill>
            <a:srgbClr val="000000">
              <a:alpha val="0"/>
            </a:srgbClr>
          </a:solidFill>
          <a:ln w="19050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cxnSp>
        <p:nvCxnSpPr>
          <p:cNvPr id="33" name="肘形连接符 32"/>
          <p:cNvCxnSpPr>
            <a:stCxn id="30" idx="2"/>
            <a:endCxn id="29" idx="0"/>
          </p:cNvCxnSpPr>
          <p:nvPr/>
        </p:nvCxnSpPr>
        <p:spPr>
          <a:xfrm rot="5400000">
            <a:off x="4588429" y="3045474"/>
            <a:ext cx="1314450" cy="909638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FF0000"/>
            </a:solidFill>
            <a:prstDash val="dash"/>
            <a:miter lim="800000"/>
            <a:tailEnd type="arrow"/>
          </a:ln>
          <a:effectLst/>
        </p:spPr>
      </p:cxnSp>
      <p:cxnSp>
        <p:nvCxnSpPr>
          <p:cNvPr id="34" name="肘形连接符 33"/>
          <p:cNvCxnSpPr>
            <a:stCxn id="31" idx="3"/>
            <a:endCxn id="32" idx="0"/>
          </p:cNvCxnSpPr>
          <p:nvPr/>
        </p:nvCxnSpPr>
        <p:spPr>
          <a:xfrm>
            <a:off x="7088741" y="2735118"/>
            <a:ext cx="2812257" cy="2711450"/>
          </a:xfrm>
          <a:prstGeom prst="bentConnector2">
            <a:avLst/>
          </a:prstGeom>
          <a:noFill/>
          <a:ln w="19050" cap="flat" cmpd="sng" algn="ctr">
            <a:solidFill>
              <a:srgbClr val="FF0000"/>
            </a:solidFill>
            <a:prstDash val="dash"/>
            <a:miter lim="800000"/>
            <a:tailEnd type="arrow"/>
          </a:ln>
          <a:effectLst/>
        </p:spPr>
      </p:cxnSp>
      <p:pic>
        <p:nvPicPr>
          <p:cNvPr id="35" name="图片 3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641" y="4060681"/>
            <a:ext cx="5524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矩形 35"/>
          <p:cNvSpPr/>
          <p:nvPr/>
        </p:nvSpPr>
        <p:spPr>
          <a:xfrm>
            <a:off x="6183866" y="2396981"/>
            <a:ext cx="384175" cy="217487"/>
          </a:xfrm>
          <a:prstGeom prst="rect">
            <a:avLst/>
          </a:prstGeom>
          <a:solidFill>
            <a:srgbClr val="000000">
              <a:alpha val="0"/>
            </a:srgbClr>
          </a:solidFill>
          <a:ln w="19050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0122454" y="4740131"/>
            <a:ext cx="382587" cy="215900"/>
          </a:xfrm>
          <a:prstGeom prst="rect">
            <a:avLst/>
          </a:prstGeom>
          <a:solidFill>
            <a:srgbClr val="000000">
              <a:alpha val="0"/>
            </a:srgbClr>
          </a:solidFill>
          <a:ln w="19050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cxnSp>
        <p:nvCxnSpPr>
          <p:cNvPr id="38" name="肘形连接符 37"/>
          <p:cNvCxnSpPr>
            <a:stCxn id="31" idx="3"/>
            <a:endCxn id="32" idx="0"/>
          </p:cNvCxnSpPr>
          <p:nvPr/>
        </p:nvCxnSpPr>
        <p:spPr>
          <a:xfrm>
            <a:off x="7088741" y="2735118"/>
            <a:ext cx="2812257" cy="2711450"/>
          </a:xfrm>
          <a:prstGeom prst="bentConnector2">
            <a:avLst/>
          </a:prstGeom>
          <a:noFill/>
          <a:ln w="19050" cap="flat" cmpd="sng" algn="ctr">
            <a:solidFill>
              <a:srgbClr val="FF0000"/>
            </a:solidFill>
            <a:prstDash val="dash"/>
            <a:miter lim="800000"/>
            <a:tailEnd type="arrow"/>
          </a:ln>
          <a:effectLst/>
        </p:spPr>
      </p:cxnSp>
      <p:sp>
        <p:nvSpPr>
          <p:cNvPr id="39" name="矩形 38"/>
          <p:cNvSpPr/>
          <p:nvPr/>
        </p:nvSpPr>
        <p:spPr>
          <a:xfrm>
            <a:off x="7660241" y="3328843"/>
            <a:ext cx="1404938" cy="276225"/>
          </a:xfrm>
          <a:prstGeom prst="rect">
            <a:avLst/>
          </a:prstGeom>
          <a:noFill/>
          <a:ln w="19050" cap="flat" cmpd="sng" algn="ctr">
            <a:noFill/>
            <a:prstDash val="dash"/>
            <a:miter lim="800000"/>
            <a:tailEnd type="arrow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关联一对一属性</a:t>
            </a:r>
          </a:p>
        </p:txBody>
      </p:sp>
      <p:sp>
        <p:nvSpPr>
          <p:cNvPr id="40" name="矩形 39"/>
          <p:cNvSpPr/>
          <p:nvPr/>
        </p:nvSpPr>
        <p:spPr>
          <a:xfrm>
            <a:off x="4274104" y="2398568"/>
            <a:ext cx="995362" cy="2159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78668" y="2816583"/>
            <a:ext cx="13756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/>
              <a:t>1.</a:t>
            </a:r>
            <a:r>
              <a:rPr lang="zh-CN" altLang="en-US"/>
              <a:t>一对一查询映射规律</a:t>
            </a:r>
            <a:r>
              <a:rPr lang="en-US" altLang="zh-CN"/>
              <a:t>?</a:t>
            </a:r>
            <a:endParaRPr lang="zh-CN" altLang="en-US"/>
          </a:p>
        </p:txBody>
      </p:sp>
      <p:sp>
        <p:nvSpPr>
          <p:cNvPr id="44" name="右箭头 43"/>
          <p:cNvSpPr/>
          <p:nvPr/>
        </p:nvSpPr>
        <p:spPr>
          <a:xfrm>
            <a:off x="2004677" y="2958253"/>
            <a:ext cx="914400" cy="29668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539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7" grpId="0" animBg="1"/>
      <p:bldP spid="18" grpId="0"/>
      <p:bldP spid="19" grpId="0" animBg="1"/>
      <p:bldP spid="21" grpId="0"/>
      <p:bldP spid="22" grpId="0" animBg="1"/>
      <p:bldP spid="23" grpId="0" animBg="1"/>
      <p:bldP spid="24" grpId="0" animBg="1"/>
      <p:bldP spid="25" grpId="0" animBg="1"/>
      <p:bldP spid="29" grpId="0" animBg="1"/>
      <p:bldP spid="30" grpId="0" animBg="1"/>
      <p:bldP spid="31" grpId="0" animBg="1"/>
      <p:bldP spid="32" grpId="0" animBg="1"/>
      <p:bldP spid="36" grpId="0" animBg="1"/>
      <p:bldP spid="37" grpId="0" animBg="1"/>
      <p:bldP spid="39" grpId="0" animBg="1"/>
      <p:bldP spid="40" grpId="0" bldLvl="0" animBg="1"/>
      <p:bldP spid="4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2988284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高级查询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9039" y="6281499"/>
            <a:ext cx="505689" cy="505689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710880" y="761379"/>
            <a:ext cx="1399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 </a:t>
            </a:r>
            <a:r>
              <a:rPr lang="zh-CN" altLang="en-US" b="1" dirty="0"/>
              <a:t>一对一查询</a:t>
            </a:r>
          </a:p>
        </p:txBody>
      </p:sp>
      <p:sp>
        <p:nvSpPr>
          <p:cNvPr id="7" name="矩形 6"/>
          <p:cNvSpPr/>
          <p:nvPr/>
        </p:nvSpPr>
        <p:spPr>
          <a:xfrm>
            <a:off x="710880" y="1130711"/>
            <a:ext cx="18630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一对一查询总结</a:t>
            </a:r>
            <a:r>
              <a:rPr lang="en-US" altLang="zh-CN"/>
              <a:t>:</a:t>
            </a:r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702047" y="1500043"/>
            <a:ext cx="3005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2.</a:t>
            </a:r>
            <a:r>
              <a:rPr lang="zh-CN" altLang="en-US"/>
              <a:t>一对一关联查询实现步骤</a:t>
            </a:r>
            <a:r>
              <a:rPr lang="en-US" altLang="zh-CN"/>
              <a:t>?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27521" y="2067480"/>
            <a:ext cx="9688080" cy="369331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/>
              <a:t>1)</a:t>
            </a:r>
            <a:r>
              <a:rPr lang="zh-CN" altLang="en-US"/>
              <a:t>维护</a:t>
            </a:r>
            <a:r>
              <a:rPr lang="en-US" altLang="zh-CN"/>
              <a:t>pojo</a:t>
            </a:r>
            <a:r>
              <a:rPr lang="zh-CN" altLang="en-US"/>
              <a:t>对象之间一对一的关系</a:t>
            </a:r>
            <a:r>
              <a:rPr lang="en-US" altLang="zh-CN"/>
              <a:t>:</a:t>
            </a:r>
          </a:p>
          <a:p>
            <a:r>
              <a:rPr lang="en-US" altLang="zh-CN"/>
              <a:t>     eg:Order </a:t>
            </a:r>
            <a:r>
              <a:rPr lang="zh-CN" altLang="en-US"/>
              <a:t>包含属性</a:t>
            </a:r>
            <a:r>
              <a:rPr lang="en-US" altLang="zh-CN"/>
              <a:t>:User</a:t>
            </a:r>
            <a:r>
              <a:rPr lang="zh-CN" altLang="en-US"/>
              <a:t>类型的变量</a:t>
            </a:r>
            <a:endParaRPr lang="en-US" altLang="zh-CN"/>
          </a:p>
          <a:p>
            <a:endParaRPr lang="zh-CN" altLang="en-US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/>
              <a:t>2)</a:t>
            </a:r>
            <a:r>
              <a:rPr lang="zh-CN" altLang="en-US"/>
              <a:t>配置一对一的映射关系：</a:t>
            </a:r>
          </a:p>
          <a:p>
            <a:r>
              <a:rPr lang="en-US" altLang="zh-CN"/>
              <a:t>&lt;resultMap id="</a:t>
            </a:r>
            <a:r>
              <a:rPr lang="zh-CN" altLang="en-US"/>
              <a:t>唯一标识</a:t>
            </a:r>
            <a:r>
              <a:rPr lang="en-US" altLang="zh-CN"/>
              <a:t>" type="</a:t>
            </a:r>
            <a:r>
              <a:rPr lang="zh-CN" altLang="en-US"/>
              <a:t>映射的类</a:t>
            </a:r>
            <a:r>
              <a:rPr lang="en-US" altLang="zh-CN"/>
              <a:t>" autoMapping="true"&gt;</a:t>
            </a:r>
          </a:p>
          <a:p>
            <a:r>
              <a:rPr lang="en-US" altLang="zh-CN"/>
              <a:t>	&lt;id column="</a:t>
            </a:r>
            <a:r>
              <a:rPr lang="zh-CN" altLang="en-US"/>
              <a:t>主键字段</a:t>
            </a:r>
            <a:r>
              <a:rPr lang="en-US" altLang="zh-CN"/>
              <a:t>" property="</a:t>
            </a:r>
            <a:r>
              <a:rPr lang="zh-CN" altLang="en-US"/>
              <a:t>映射类中属性名称</a:t>
            </a:r>
            <a:r>
              <a:rPr lang="en-US" altLang="zh-CN"/>
              <a:t>"/&gt;</a:t>
            </a:r>
          </a:p>
          <a:p>
            <a:r>
              <a:rPr lang="en-US" altLang="zh-CN"/>
              <a:t>	&lt;result column="</a:t>
            </a:r>
            <a:r>
              <a:rPr lang="zh-CN" altLang="en-US"/>
              <a:t>非主键字段</a:t>
            </a:r>
            <a:r>
              <a:rPr lang="en-US" altLang="zh-CN"/>
              <a:t>" property="</a:t>
            </a:r>
            <a:r>
              <a:rPr lang="zh-CN" altLang="en-US"/>
              <a:t>映射类中属性名称</a:t>
            </a:r>
            <a:r>
              <a:rPr lang="en-US" altLang="zh-CN"/>
              <a:t>"/&gt;</a:t>
            </a:r>
          </a:p>
          <a:p>
            <a:r>
              <a:rPr lang="en-US" altLang="zh-CN"/>
              <a:t>	&lt;!--</a:t>
            </a:r>
            <a:r>
              <a:rPr lang="zh-CN" altLang="en-US"/>
              <a:t>一对一映射</a:t>
            </a:r>
            <a:r>
              <a:rPr lang="en-US" altLang="zh-CN"/>
              <a:t>--&gt;</a:t>
            </a:r>
          </a:p>
          <a:p>
            <a:r>
              <a:rPr lang="en-US" altLang="zh-CN"/>
              <a:t>	&lt;association property="</a:t>
            </a:r>
            <a:r>
              <a:rPr lang="zh-CN" altLang="en-US"/>
              <a:t>映射的类中属性名称</a:t>
            </a:r>
            <a:r>
              <a:rPr lang="en-US" altLang="zh-CN"/>
              <a:t>" javaType="java</a:t>
            </a:r>
            <a:r>
              <a:rPr lang="zh-CN" altLang="en-US"/>
              <a:t>类型</a:t>
            </a:r>
            <a:r>
              <a:rPr lang="en-US" altLang="zh-CN"/>
              <a:t>" autoMapping="true"&gt;</a:t>
            </a:r>
          </a:p>
          <a:p>
            <a:r>
              <a:rPr lang="en-US" altLang="zh-CN"/>
              <a:t>	        &lt;id column="</a:t>
            </a:r>
            <a:r>
              <a:rPr lang="zh-CN" altLang="en-US"/>
              <a:t>主键字段</a:t>
            </a:r>
            <a:r>
              <a:rPr lang="en-US" altLang="zh-CN"/>
              <a:t>" property="java</a:t>
            </a:r>
            <a:r>
              <a:rPr lang="zh-CN" altLang="en-US"/>
              <a:t>类型中属性名称</a:t>
            </a:r>
            <a:r>
              <a:rPr lang="en-US" altLang="zh-CN"/>
              <a:t>"/&gt;</a:t>
            </a:r>
          </a:p>
          <a:p>
            <a:r>
              <a:rPr lang="en-US" altLang="zh-CN"/>
              <a:t>	        &lt;result column="</a:t>
            </a:r>
            <a:r>
              <a:rPr lang="zh-CN" altLang="en-US"/>
              <a:t>非主键字段</a:t>
            </a:r>
            <a:r>
              <a:rPr lang="en-US" altLang="zh-CN"/>
              <a:t>" property="java</a:t>
            </a:r>
            <a:r>
              <a:rPr lang="zh-CN" altLang="en-US"/>
              <a:t>类型中属性名称</a:t>
            </a:r>
            <a:r>
              <a:rPr lang="en-US" altLang="zh-CN"/>
              <a:t>"/&gt;</a:t>
            </a:r>
          </a:p>
          <a:p>
            <a:r>
              <a:rPr lang="en-US" altLang="zh-CN"/>
              <a:t>	&lt;/association&gt;</a:t>
            </a:r>
          </a:p>
          <a:p>
            <a:r>
              <a:rPr lang="en-US" altLang="zh-CN"/>
              <a:t>&lt;/resultMap&gt;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11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2988284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高级查询</a:t>
            </a:r>
          </a:p>
        </p:txBody>
      </p:sp>
      <p:sp>
        <p:nvSpPr>
          <p:cNvPr id="15" name="矩形 14"/>
          <p:cNvSpPr/>
          <p:nvPr/>
        </p:nvSpPr>
        <p:spPr>
          <a:xfrm>
            <a:off x="710880" y="761379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一对多查询</a:t>
            </a:r>
          </a:p>
        </p:txBody>
      </p:sp>
      <p:sp>
        <p:nvSpPr>
          <p:cNvPr id="5" name="矩形 4"/>
          <p:cNvSpPr/>
          <p:nvPr/>
        </p:nvSpPr>
        <p:spPr>
          <a:xfrm>
            <a:off x="710879" y="1093903"/>
            <a:ext cx="27863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一对多核心映射配置语法</a:t>
            </a:r>
            <a:r>
              <a:rPr lang="en-US" altLang="zh-CN"/>
              <a:t>:</a:t>
            </a:r>
            <a:endParaRPr lang="zh-CN" alt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821716" y="1463235"/>
            <a:ext cx="6964539" cy="229293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&lt;!--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配置一对多关系映射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--&gt;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resultMap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id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="xx"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type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="xx"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autoMapping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="true"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&lt;!--user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表主键映射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--&gt;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id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column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="xx"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property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="xx"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/&gt;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&lt;!--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映射实体类中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List&lt;Order&gt;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集合使用功能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Collection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标签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--&gt;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collection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property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="xxx"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javaType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="list"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ofType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="xxx"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autoMapping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="true"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&lt;!--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主键映射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--&gt;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id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column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="xx"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property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="xx"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/&gt;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&lt;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result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column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="xx"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property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="xx"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/&gt;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&lt;/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collection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&lt;/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resultMap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0879" y="3904028"/>
            <a:ext cx="37705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需求</a:t>
            </a:r>
            <a:r>
              <a:rPr lang="en-US" altLang="zh-CN"/>
              <a:t>:</a:t>
            </a:r>
            <a:r>
              <a:rPr lang="zh-CN" altLang="en-US"/>
              <a:t>查询</a:t>
            </a:r>
            <a:r>
              <a:rPr lang="en-US" altLang="zh-CN"/>
              <a:t>id</a:t>
            </a:r>
            <a:r>
              <a:rPr lang="zh-CN" altLang="en-US"/>
              <a:t>为</a:t>
            </a:r>
            <a:r>
              <a:rPr lang="en-US" altLang="zh-CN"/>
              <a:t>1</a:t>
            </a:r>
            <a:r>
              <a:rPr lang="zh-CN" altLang="en-US"/>
              <a:t>的用户及其订单信息</a:t>
            </a:r>
          </a:p>
        </p:txBody>
      </p:sp>
      <p:sp>
        <p:nvSpPr>
          <p:cNvPr id="9" name="矩形 8"/>
          <p:cNvSpPr/>
          <p:nvPr/>
        </p:nvSpPr>
        <p:spPr>
          <a:xfrm>
            <a:off x="710879" y="427336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【</a:t>
            </a:r>
            <a:r>
              <a:rPr lang="zh-CN" altLang="en-US"/>
              <a:t>分析</a:t>
            </a:r>
            <a:r>
              <a:rPr lang="en-US" altLang="zh-CN"/>
              <a:t>】</a:t>
            </a:r>
            <a:endParaRPr lang="zh-CN" altLang="en-US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132584" y="4359662"/>
            <a:ext cx="3265743" cy="235449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-- </a:t>
            </a: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方式</a:t>
            </a: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1:</a:t>
            </a: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分步查询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-- 1.1 </a:t>
            </a: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根据</a:t>
            </a: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id</a:t>
            </a: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查询用户信息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select </a:t>
            </a: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*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from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tb_user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where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id=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 </a:t>
            </a: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-- id=1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-- 1.2 </a:t>
            </a: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根据用户</a:t>
            </a: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id</a:t>
            </a: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查询订单集合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select </a:t>
            </a: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*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from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tb_order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where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user_id=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-- </a:t>
            </a: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方式</a:t>
            </a: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1:</a:t>
            </a:r>
            <a: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一步查询</a:t>
            </a:r>
            <a:br>
              <a:rPr kumimoji="0" lang="zh-CN" altLang="zh-CN" sz="105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select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tb_user.*,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tb_order.id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as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order_id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tb_order.order_number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from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tb_user,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tb_order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where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tb_user.id = tb_order.user_id</a:t>
            </a:r>
            <a:b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and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tb_user.id = 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zh-CN" altLang="zh-CN" sz="105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endParaRPr kumimoji="0" lang="zh-CN" altLang="zh-CN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264877" y="5167575"/>
            <a:ext cx="2608451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一个用户可以有多个订单。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一个订单只能属于一个用户。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用户(1)-----订单(n)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686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2988284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高级查询</a:t>
            </a:r>
          </a:p>
        </p:txBody>
      </p:sp>
      <p:sp>
        <p:nvSpPr>
          <p:cNvPr id="15" name="矩形 14"/>
          <p:cNvSpPr/>
          <p:nvPr/>
        </p:nvSpPr>
        <p:spPr>
          <a:xfrm>
            <a:off x="710880" y="761379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一对多查询</a:t>
            </a:r>
          </a:p>
        </p:txBody>
      </p:sp>
      <p:sp>
        <p:nvSpPr>
          <p:cNvPr id="9" name="矩形 8"/>
          <p:cNvSpPr/>
          <p:nvPr/>
        </p:nvSpPr>
        <p:spPr>
          <a:xfrm>
            <a:off x="710879" y="109390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【</a:t>
            </a:r>
            <a:r>
              <a:rPr lang="zh-CN" altLang="en-US"/>
              <a:t>步骤</a:t>
            </a:r>
            <a:r>
              <a:rPr lang="en-US" altLang="zh-CN"/>
              <a:t>】</a:t>
            </a:r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014797" y="1463235"/>
            <a:ext cx="2202872" cy="116955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400"/>
              <a:t>第一步：查询</a:t>
            </a:r>
            <a:r>
              <a:rPr lang="en-US" altLang="zh-CN" sz="1400"/>
              <a:t>SQL</a:t>
            </a:r>
            <a:r>
              <a:rPr lang="zh-CN" altLang="en-US" sz="1400"/>
              <a:t>分析；</a:t>
            </a:r>
          </a:p>
          <a:p>
            <a:r>
              <a:rPr lang="zh-CN" altLang="en-US" sz="1400"/>
              <a:t>第二步：添加关联关系；</a:t>
            </a:r>
          </a:p>
          <a:p>
            <a:r>
              <a:rPr lang="zh-CN" altLang="en-US" sz="1400"/>
              <a:t>第三步：编写接口方法；</a:t>
            </a:r>
          </a:p>
          <a:p>
            <a:r>
              <a:rPr lang="zh-CN" altLang="en-US" sz="1400"/>
              <a:t>第四步：编写映射文件；</a:t>
            </a:r>
          </a:p>
          <a:p>
            <a:r>
              <a:rPr lang="zh-CN" altLang="en-US" sz="1400"/>
              <a:t>第五步：测试</a:t>
            </a:r>
          </a:p>
        </p:txBody>
      </p:sp>
      <p:sp>
        <p:nvSpPr>
          <p:cNvPr id="4" name="矩形 3"/>
          <p:cNvSpPr/>
          <p:nvPr/>
        </p:nvSpPr>
        <p:spPr>
          <a:xfrm>
            <a:off x="710879" y="263278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【</a:t>
            </a:r>
            <a:r>
              <a:rPr lang="zh-CN" altLang="en-US"/>
              <a:t>实现</a:t>
            </a:r>
            <a:r>
              <a:rPr lang="en-US" altLang="zh-CN"/>
              <a:t>】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62353" y="2965310"/>
            <a:ext cx="26368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1.User</a:t>
            </a:r>
            <a:r>
              <a:rPr lang="zh-CN" altLang="en-US"/>
              <a:t>实体添加映射关系</a:t>
            </a: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1389568" y="3334642"/>
            <a:ext cx="3958287" cy="309315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class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User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implements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Serializable{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private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List&lt;Order&gt;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orders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private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Long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id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//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用户名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private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String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userName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//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密码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private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String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password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//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姓名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private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String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name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//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年龄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private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Integer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age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//0-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女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 1-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男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private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Integer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sex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// getter  and setter and toString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675070" y="3002118"/>
            <a:ext cx="12827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2.</a:t>
            </a:r>
            <a:r>
              <a:rPr lang="zh-CN" altLang="en-US"/>
              <a:t>编写接口</a:t>
            </a: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5675071" y="3371450"/>
            <a:ext cx="4743548" cy="129266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/**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*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根据用户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id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查询用户信息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包含订单集合信息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* @param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Arial Unicode MS"/>
                <a:ea typeface="JetBrains Mono"/>
              </a:rPr>
              <a:t>id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3D3D3D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* @return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*/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User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findUserAndOrdersByUserId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(@Param(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"id"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Long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id);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07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 animBg="1"/>
      <p:bldP spid="4" grpId="0"/>
      <p:bldP spid="7" grpId="0"/>
      <p:bldP spid="12" grpId="0" animBg="1"/>
      <p:bldP spid="13" grpId="0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2988284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高级查询</a:t>
            </a:r>
          </a:p>
        </p:txBody>
      </p:sp>
      <p:sp>
        <p:nvSpPr>
          <p:cNvPr id="15" name="矩形 14"/>
          <p:cNvSpPr/>
          <p:nvPr/>
        </p:nvSpPr>
        <p:spPr>
          <a:xfrm>
            <a:off x="710880" y="761379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一对多查询</a:t>
            </a:r>
          </a:p>
        </p:txBody>
      </p:sp>
      <p:sp>
        <p:nvSpPr>
          <p:cNvPr id="5" name="矩形 4"/>
          <p:cNvSpPr/>
          <p:nvPr/>
        </p:nvSpPr>
        <p:spPr>
          <a:xfrm>
            <a:off x="716651" y="1130711"/>
            <a:ext cx="3393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3.</a:t>
            </a:r>
            <a:r>
              <a:rPr lang="zh-CN" altLang="en-US"/>
              <a:t>编写</a:t>
            </a:r>
            <a:r>
              <a:rPr lang="en-US" altLang="zh-CN"/>
              <a:t>sql</a:t>
            </a:r>
            <a:r>
              <a:rPr lang="zh-CN" altLang="en-US"/>
              <a:t>映射文件关联订单集合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955965" y="1500043"/>
            <a:ext cx="7841671" cy="483209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&lt;!--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定义一对多的映射规则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--&gt;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resultMap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id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="userMap"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type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="user"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autoMapping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="true"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&lt;!--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映射主表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--&gt;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id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column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="id"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property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="id"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/&gt;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&lt;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result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column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="user_name"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property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="userName"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/&gt;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&lt;!--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配置一对多映射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--&gt;</a:t>
            </a:r>
            <a:b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collection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property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="orders"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javaType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="list"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ofType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="order"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autoMapping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="true"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&lt;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id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column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="order_id"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property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="id"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/&gt;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&lt;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result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column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="order_number"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property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="orderNumber"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/&gt;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&lt;/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collection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&lt;/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resultMap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/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select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id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="findUserAndOrdersByUserId"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resultMap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="userMap"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select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tb_user.*,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tb_order.id as order_id,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tb_order.order_number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from tb_user,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tb_order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where tb_user.id = tb_order.user_id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and tb_user.id = #{id}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&lt;/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select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083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2988284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高级查询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9039" y="6281499"/>
            <a:ext cx="505689" cy="505689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710880" y="761379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一对多查询</a:t>
            </a:r>
          </a:p>
        </p:txBody>
      </p:sp>
      <p:sp>
        <p:nvSpPr>
          <p:cNvPr id="5" name="矩形 4"/>
          <p:cNvSpPr/>
          <p:nvPr/>
        </p:nvSpPr>
        <p:spPr>
          <a:xfrm>
            <a:off x="716651" y="1130711"/>
            <a:ext cx="8835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4.</a:t>
            </a:r>
            <a:r>
              <a:rPr lang="zh-CN" altLang="en-US"/>
              <a:t>测试</a:t>
            </a:r>
            <a:r>
              <a:rPr lang="en-US" altLang="zh-CN"/>
              <a:t>:</a:t>
            </a:r>
            <a:endParaRPr lang="zh-CN" alt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72836" y="1500043"/>
            <a:ext cx="5708073" cy="14927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Arial Unicode MS"/>
                <a:ea typeface="JetBrains Mono"/>
              </a:rPr>
              <a:t>@Test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void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test3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UserMapper mapper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MybatisUtil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getMapper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UserMapper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class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User user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mapper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.findUserAndOrdersByUserId(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1l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user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MybatisUtil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close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79167" y="2992759"/>
            <a:ext cx="8210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5.</a:t>
            </a:r>
            <a:r>
              <a:rPr lang="zh-CN" altLang="en-US"/>
              <a:t>效果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6" y="3362091"/>
            <a:ext cx="10279495" cy="326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4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8583" y="5593126"/>
            <a:ext cx="2724150" cy="1130300"/>
          </a:xfrm>
          <a:prstGeom prst="rect">
            <a:avLst/>
          </a:prstGeom>
          <a:noFill/>
          <a:ln w="9525">
            <a:solidFill>
              <a:srgbClr val="0C1C1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2988284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高级查询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9039" y="6281499"/>
            <a:ext cx="505689" cy="505689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794059" y="659949"/>
            <a:ext cx="14109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/>
              <a:t>一对多总结</a:t>
            </a:r>
            <a:r>
              <a:rPr lang="en-US" altLang="zh-CN" b="1"/>
              <a:t>:</a:t>
            </a:r>
            <a:endParaRPr lang="zh-CN" altLang="en-US" b="1"/>
          </a:p>
        </p:txBody>
      </p:sp>
      <p:pic>
        <p:nvPicPr>
          <p:cNvPr id="9" name="图片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0979" y="4443846"/>
            <a:ext cx="5180013" cy="631825"/>
          </a:xfrm>
          <a:prstGeom prst="rect">
            <a:avLst/>
          </a:prstGeom>
          <a:noFill/>
          <a:ln w="9525">
            <a:solidFill>
              <a:srgbClr val="0C1C1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029" y="4018396"/>
            <a:ext cx="3106738" cy="1482725"/>
          </a:xfrm>
          <a:prstGeom prst="rect">
            <a:avLst/>
          </a:prstGeom>
          <a:noFill/>
          <a:ln w="9525">
            <a:solidFill>
              <a:srgbClr val="0C1C1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6642" y="1666515"/>
            <a:ext cx="6638925" cy="1801813"/>
          </a:xfrm>
          <a:prstGeom prst="rect">
            <a:avLst/>
          </a:prstGeom>
          <a:noFill/>
          <a:ln w="9525">
            <a:solidFill>
              <a:srgbClr val="0C1C1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/>
          <p:cNvSpPr/>
          <p:nvPr/>
        </p:nvSpPr>
        <p:spPr>
          <a:xfrm>
            <a:off x="2695142" y="4656571"/>
            <a:ext cx="3168650" cy="503238"/>
          </a:xfrm>
          <a:prstGeom prst="rect">
            <a:avLst/>
          </a:prstGeom>
          <a:solidFill>
            <a:srgbClr val="000000">
              <a:alpha val="0"/>
            </a:srgbClr>
          </a:solidFill>
          <a:ln w="19050" cap="flat" cmpd="sng" algn="ctr">
            <a:solidFill>
              <a:srgbClr val="00B050"/>
            </a:solidFill>
            <a:prstDash val="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65392" y="4656571"/>
            <a:ext cx="1625600" cy="503238"/>
          </a:xfrm>
          <a:prstGeom prst="rect">
            <a:avLst/>
          </a:prstGeom>
          <a:solidFill>
            <a:srgbClr val="000000">
              <a:alpha val="0"/>
            </a:srgbClr>
          </a:solidFill>
          <a:ln w="19050" cap="flat" cmpd="sng" algn="ctr">
            <a:solidFill>
              <a:srgbClr val="00B050"/>
            </a:solidFill>
            <a:prstDash val="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3480954" y="5159809"/>
            <a:ext cx="11541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一个</a:t>
            </a:r>
            <a:r>
              <a:rPr lang="en-US" altLang="zh-CN" sz="12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User</a:t>
            </a: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对象</a:t>
            </a:r>
          </a:p>
        </p:txBody>
      </p:sp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5965392" y="5224896"/>
            <a:ext cx="17256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一个</a:t>
            </a:r>
            <a:r>
              <a:rPr lang="en-US" altLang="zh-CN" sz="12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List&lt;Order&gt;</a:t>
            </a: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对象</a:t>
            </a:r>
          </a:p>
        </p:txBody>
      </p:sp>
      <p:sp>
        <p:nvSpPr>
          <p:cNvPr id="17" name="矩形 16"/>
          <p:cNvSpPr/>
          <p:nvPr/>
        </p:nvSpPr>
        <p:spPr>
          <a:xfrm>
            <a:off x="5574867" y="1818915"/>
            <a:ext cx="288925" cy="288925"/>
          </a:xfrm>
          <a:prstGeom prst="rect">
            <a:avLst/>
          </a:prstGeom>
          <a:solidFill>
            <a:srgbClr val="000000">
              <a:alpha val="0"/>
            </a:srgbClr>
          </a:solidFill>
          <a:ln w="28575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474729" y="1818915"/>
            <a:ext cx="287338" cy="288925"/>
          </a:xfrm>
          <a:prstGeom prst="rect">
            <a:avLst/>
          </a:prstGeom>
          <a:solidFill>
            <a:srgbClr val="000000">
              <a:alpha val="0"/>
            </a:srgbClr>
          </a:solidFill>
          <a:ln w="28575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750704" y="4494646"/>
            <a:ext cx="287338" cy="231775"/>
          </a:xfrm>
          <a:prstGeom prst="rect">
            <a:avLst/>
          </a:prstGeom>
          <a:solidFill>
            <a:srgbClr val="000000">
              <a:alpha val="0"/>
            </a:srgbClr>
          </a:solidFill>
          <a:ln w="28575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472179" y="4156509"/>
            <a:ext cx="287338" cy="212725"/>
          </a:xfrm>
          <a:prstGeom prst="rect">
            <a:avLst/>
          </a:prstGeom>
          <a:solidFill>
            <a:srgbClr val="000000">
              <a:alpha val="0"/>
            </a:srgbClr>
          </a:solidFill>
          <a:ln w="28575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cxnSp>
        <p:nvCxnSpPr>
          <p:cNvPr id="22" name="肘形连接符 21"/>
          <p:cNvCxnSpPr>
            <a:stCxn id="18" idx="1"/>
            <a:endCxn id="19" idx="0"/>
          </p:cNvCxnSpPr>
          <p:nvPr/>
        </p:nvCxnSpPr>
        <p:spPr>
          <a:xfrm rot="10800000" flipV="1">
            <a:off x="2894373" y="1963378"/>
            <a:ext cx="1580356" cy="2531268"/>
          </a:xfrm>
          <a:prstGeom prst="bentConnector2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23" name="肘形连接符 22"/>
          <p:cNvCxnSpPr>
            <a:stCxn id="17" idx="3"/>
            <a:endCxn id="21" idx="0"/>
          </p:cNvCxnSpPr>
          <p:nvPr/>
        </p:nvCxnSpPr>
        <p:spPr>
          <a:xfrm>
            <a:off x="5863792" y="1963378"/>
            <a:ext cx="3752056" cy="2193131"/>
          </a:xfrm>
          <a:prstGeom prst="bentConnector2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miter lim="800000"/>
            <a:tailEnd type="arrow"/>
          </a:ln>
          <a:effectLst/>
        </p:spPr>
      </p:cxnSp>
      <p:sp>
        <p:nvSpPr>
          <p:cNvPr id="24" name="矩形 23"/>
          <p:cNvSpPr/>
          <p:nvPr/>
        </p:nvSpPr>
        <p:spPr>
          <a:xfrm>
            <a:off x="3638117" y="2469790"/>
            <a:ext cx="836612" cy="193675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287529" y="2469790"/>
            <a:ext cx="576263" cy="193675"/>
          </a:xfrm>
          <a:prstGeom prst="rect">
            <a:avLst/>
          </a:prstGeom>
          <a:solidFill>
            <a:srgbClr val="000000">
              <a:alpha val="0"/>
            </a:srgbClr>
          </a:solidFill>
          <a:ln w="28575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967479" y="5266171"/>
            <a:ext cx="576263" cy="193675"/>
          </a:xfrm>
          <a:prstGeom prst="rect">
            <a:avLst/>
          </a:prstGeom>
          <a:solidFill>
            <a:srgbClr val="000000">
              <a:alpha val="0"/>
            </a:srgbClr>
          </a:solidFill>
          <a:ln w="28575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cxnSp>
        <p:nvCxnSpPr>
          <p:cNvPr id="27" name="肘形连接符 26"/>
          <p:cNvCxnSpPr>
            <a:stCxn id="25" idx="2"/>
            <a:endCxn id="26" idx="0"/>
          </p:cNvCxnSpPr>
          <p:nvPr/>
        </p:nvCxnSpPr>
        <p:spPr>
          <a:xfrm rot="16200000" flipH="1">
            <a:off x="6614283" y="1624843"/>
            <a:ext cx="2602706" cy="4679950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FF0000"/>
            </a:solidFill>
            <a:prstDash val="sysDot"/>
            <a:miter lim="800000"/>
            <a:tailEnd type="arrow"/>
          </a:ln>
          <a:effectLst/>
        </p:spPr>
      </p:cxnSp>
      <p:sp>
        <p:nvSpPr>
          <p:cNvPr id="28" name="文本框 27"/>
          <p:cNvSpPr txBox="1">
            <a:spLocks noChangeArrowheads="1"/>
          </p:cNvSpPr>
          <p:nvPr/>
        </p:nvSpPr>
        <p:spPr bwMode="auto">
          <a:xfrm>
            <a:off x="6482917" y="3581834"/>
            <a:ext cx="17256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关联一对多属性</a:t>
            </a:r>
          </a:p>
        </p:txBody>
      </p:sp>
      <p:sp>
        <p:nvSpPr>
          <p:cNvPr id="30" name="矩形 29"/>
          <p:cNvSpPr/>
          <p:nvPr/>
        </p:nvSpPr>
        <p:spPr>
          <a:xfrm>
            <a:off x="5863792" y="4443846"/>
            <a:ext cx="617537" cy="231775"/>
          </a:xfrm>
          <a:prstGeom prst="rect">
            <a:avLst/>
          </a:prstGeom>
          <a:solidFill>
            <a:srgbClr val="000000">
              <a:alpha val="0"/>
            </a:srgbClr>
          </a:solidFill>
          <a:ln w="28575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858904" y="2663465"/>
            <a:ext cx="619125" cy="230188"/>
          </a:xfrm>
          <a:prstGeom prst="rect">
            <a:avLst/>
          </a:prstGeom>
          <a:solidFill>
            <a:srgbClr val="000000">
              <a:alpha val="0"/>
            </a:srgbClr>
          </a:solidFill>
          <a:ln w="28575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276542" y="2663465"/>
            <a:ext cx="352425" cy="230188"/>
          </a:xfrm>
          <a:prstGeom prst="rect">
            <a:avLst/>
          </a:prstGeom>
          <a:solidFill>
            <a:srgbClr val="000000">
              <a:alpha val="0"/>
            </a:srgbClr>
          </a:solidFill>
          <a:ln w="28575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9967479" y="5819414"/>
            <a:ext cx="287338" cy="231775"/>
          </a:xfrm>
          <a:prstGeom prst="rect">
            <a:avLst/>
          </a:prstGeom>
          <a:solidFill>
            <a:srgbClr val="000000">
              <a:alpha val="0"/>
            </a:srgbClr>
          </a:solidFill>
          <a:ln w="28575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cxnSp>
        <p:nvCxnSpPr>
          <p:cNvPr id="34" name="肘形连接符 33"/>
          <p:cNvCxnSpPr>
            <a:stCxn id="31" idx="2"/>
            <a:endCxn id="30" idx="1"/>
          </p:cNvCxnSpPr>
          <p:nvPr/>
        </p:nvCxnSpPr>
        <p:spPr>
          <a:xfrm rot="16200000" flipH="1">
            <a:off x="4683089" y="3379030"/>
            <a:ext cx="1666081" cy="695325"/>
          </a:xfrm>
          <a:prstGeom prst="bentConnector2">
            <a:avLst/>
          </a:prstGeom>
          <a:noFill/>
          <a:ln w="19050" cap="flat" cmpd="sng" algn="ctr">
            <a:solidFill>
              <a:srgbClr val="FF0000"/>
            </a:solidFill>
            <a:prstDash val="sysDash"/>
            <a:miter lim="800000"/>
            <a:tailEnd type="arrow"/>
          </a:ln>
          <a:effectLst/>
        </p:spPr>
      </p:cxnSp>
      <p:cxnSp>
        <p:nvCxnSpPr>
          <p:cNvPr id="35" name="肘形连接符 34"/>
          <p:cNvCxnSpPr>
            <a:stCxn id="32" idx="3"/>
            <a:endCxn id="33" idx="1"/>
          </p:cNvCxnSpPr>
          <p:nvPr/>
        </p:nvCxnSpPr>
        <p:spPr>
          <a:xfrm>
            <a:off x="6628967" y="2778559"/>
            <a:ext cx="3338512" cy="3156743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FF0000"/>
            </a:solidFill>
            <a:prstDash val="sysDash"/>
            <a:miter lim="800000"/>
            <a:tailEnd type="arrow"/>
          </a:ln>
          <a:effectLst/>
        </p:spPr>
      </p:cxnSp>
      <p:sp>
        <p:nvSpPr>
          <p:cNvPr id="36" name="文本框 35"/>
          <p:cNvSpPr txBox="1">
            <a:spLocks noChangeArrowheads="1"/>
          </p:cNvSpPr>
          <p:nvPr/>
        </p:nvSpPr>
        <p:spPr bwMode="auto">
          <a:xfrm>
            <a:off x="5589154" y="1390290"/>
            <a:ext cx="17272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定义映射规则</a:t>
            </a:r>
          </a:p>
        </p:txBody>
      </p:sp>
      <p:sp>
        <p:nvSpPr>
          <p:cNvPr id="37" name="文本框 36"/>
          <p:cNvSpPr txBox="1">
            <a:spLocks noChangeArrowheads="1"/>
          </p:cNvSpPr>
          <p:nvPr/>
        </p:nvSpPr>
        <p:spPr bwMode="auto">
          <a:xfrm>
            <a:off x="3266642" y="4124759"/>
            <a:ext cx="17256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查询结果集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436319" y="2893651"/>
            <a:ext cx="1046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一对多映射流程？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4" name="右箭头 43"/>
          <p:cNvSpPr/>
          <p:nvPr/>
        </p:nvSpPr>
        <p:spPr>
          <a:xfrm>
            <a:off x="1483085" y="3075709"/>
            <a:ext cx="721938" cy="26323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523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  <p:bldP spid="16" grpId="0"/>
      <p:bldP spid="17" grpId="0" animBg="1"/>
      <p:bldP spid="18" grpId="0" animBg="1"/>
      <p:bldP spid="19" grpId="0" animBg="1"/>
      <p:bldP spid="21" grpId="0" animBg="1"/>
      <p:bldP spid="24" grpId="0" animBg="1"/>
      <p:bldP spid="25" grpId="0" animBg="1"/>
      <p:bldP spid="26" grpId="0" animBg="1"/>
      <p:bldP spid="28" grpId="0"/>
      <p:bldP spid="30" grpId="0" animBg="1"/>
      <p:bldP spid="31" grpId="0" animBg="1"/>
      <p:bldP spid="32" grpId="0" animBg="1"/>
      <p:bldP spid="33" grpId="0" animBg="1"/>
      <p:bldP spid="36" grpId="0"/>
      <p:bldP spid="37" grpId="0"/>
      <p:bldP spid="4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2988284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高级查询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9039" y="6281499"/>
            <a:ext cx="505689" cy="505689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794059" y="659949"/>
            <a:ext cx="14109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/>
              <a:t>一对多总结</a:t>
            </a:r>
            <a:r>
              <a:rPr lang="en-US" altLang="zh-CN" b="1"/>
              <a:t>:</a:t>
            </a:r>
            <a:endParaRPr lang="zh-CN" altLang="en-US" b="1"/>
          </a:p>
        </p:txBody>
      </p:sp>
      <p:sp>
        <p:nvSpPr>
          <p:cNvPr id="2" name="矩形 1"/>
          <p:cNvSpPr/>
          <p:nvPr/>
        </p:nvSpPr>
        <p:spPr>
          <a:xfrm>
            <a:off x="794058" y="1029281"/>
            <a:ext cx="80867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/>
              <a:t>1.</a:t>
            </a:r>
            <a:r>
              <a:rPr lang="zh-CN" altLang="en-US"/>
              <a:t>在一对多的场景中</a:t>
            </a:r>
            <a:r>
              <a:rPr lang="en-US" altLang="zh-CN"/>
              <a:t>,</a:t>
            </a:r>
            <a:r>
              <a:rPr lang="zh-CN" altLang="en-US"/>
              <a:t>一般主表中通过创建一个集合属性来包含从表的数据；</a:t>
            </a:r>
          </a:p>
        </p:txBody>
      </p:sp>
      <p:sp>
        <p:nvSpPr>
          <p:cNvPr id="4" name="矩形 3"/>
          <p:cNvSpPr/>
          <p:nvPr/>
        </p:nvSpPr>
        <p:spPr>
          <a:xfrm>
            <a:off x="1236744" y="1398613"/>
            <a:ext cx="3600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 如</a:t>
            </a:r>
            <a:r>
              <a:rPr lang="en-US" altLang="zh-CN"/>
              <a:t>:user</a:t>
            </a:r>
            <a:r>
              <a:rPr lang="zh-CN" altLang="en-US"/>
              <a:t>类包含</a:t>
            </a:r>
            <a:r>
              <a:rPr lang="en-US" altLang="zh-CN"/>
              <a:t>List&lt;Order&gt; orders);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94058" y="1952611"/>
            <a:ext cx="50702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2.</a:t>
            </a:r>
            <a:r>
              <a:rPr lang="zh-CN" altLang="en-US"/>
              <a:t>如何使用</a:t>
            </a:r>
            <a:r>
              <a:rPr lang="en-US" altLang="zh-CN"/>
              <a:t>collection</a:t>
            </a:r>
            <a:r>
              <a:rPr lang="zh-CN" altLang="en-US"/>
              <a:t>标签建立对集合的关联映射</a:t>
            </a:r>
            <a:r>
              <a:rPr lang="en-US" altLang="zh-CN"/>
              <a:t>?</a:t>
            </a:r>
            <a:endParaRPr lang="zh-CN" alt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955963" y="2330728"/>
            <a:ext cx="8562110" cy="209288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&lt;!--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一对多映射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--&gt;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resultMap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id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唯一标识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type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映射的类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autoMapping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="true"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&lt;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id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column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主键字段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property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映射类中属性名称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/&gt;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&lt;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result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column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非主键字段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property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映射类中属性名称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/&gt;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&lt;!--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一对一映射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--&gt;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collection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property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映射的类中属性名称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javaType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="list"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ofType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集合泛型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autoMapping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="true"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&lt;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id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column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主键字段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property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="java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类型中属性名称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/&gt;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&lt;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result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column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非主键字段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/>
                <a:ea typeface="JetBrains Mono"/>
              </a:rPr>
              <a:t>property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="java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类型中属性名称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/&gt;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&lt;/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collection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&lt;/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resultMap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406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45393" y="833755"/>
            <a:ext cx="5973761" cy="4256405"/>
          </a:xfrm>
        </p:spPr>
        <p:txBody>
          <a:bodyPr/>
          <a:lstStyle/>
          <a:p>
            <a:r>
              <a:rPr kumimoji="1" lang="en-US" altLang="zh-CN" dirty="0" err="1">
                <a:solidFill>
                  <a:schemeClr val="tx1"/>
                </a:solidFill>
              </a:rPr>
              <a:t>mybatis</a:t>
            </a:r>
            <a:r>
              <a:rPr kumimoji="1" lang="zh-CN" altLang="en-US" dirty="0">
                <a:solidFill>
                  <a:schemeClr val="tx1"/>
                </a:solidFill>
              </a:rPr>
              <a:t>高级查询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zh-CN" dirty="0" err="1">
                <a:solidFill>
                  <a:srgbClr val="C00000"/>
                </a:solidFill>
              </a:rPr>
              <a:t>mybatis</a:t>
            </a:r>
            <a:r>
              <a:rPr lang="zh-CN" altLang="en-US" dirty="0">
                <a:solidFill>
                  <a:srgbClr val="C00000"/>
                </a:solidFill>
              </a:rPr>
              <a:t>注解开发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zh-CN" altLang="en-US" dirty="0">
                <a:solidFill>
                  <a:srgbClr val="C00000"/>
                </a:solidFill>
              </a:rPr>
              <a:t>掌握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</a:p>
          <a:p>
            <a:r>
              <a:rPr lang="en-US" altLang="zh-CN" dirty="0" err="1"/>
              <a:t>mybatis</a:t>
            </a:r>
            <a:r>
              <a:rPr lang="zh-CN" altLang="en-US" dirty="0"/>
              <a:t>基于注解实现动态</a:t>
            </a:r>
            <a:r>
              <a:rPr lang="en-US" altLang="zh-CN" dirty="0"/>
              <a:t>SQL</a:t>
            </a:r>
            <a:r>
              <a:rPr lang="zh-CN" altLang="en-US" dirty="0"/>
              <a:t>（理解）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26628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4221338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注解开发</a:t>
            </a:r>
            <a:r>
              <a:rPr kumimoji="1" lang="en-US" altLang="zh-CN" dirty="0"/>
              <a:t>【</a:t>
            </a:r>
            <a:r>
              <a:rPr kumimoji="1" lang="zh-CN" altLang="en-US" dirty="0"/>
              <a:t>掌握</a:t>
            </a:r>
            <a:r>
              <a:rPr kumimoji="1" lang="en-US" altLang="zh-CN" dirty="0"/>
              <a:t>】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778002" y="788467"/>
            <a:ext cx="13555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/>
              <a:t>1.1</a:t>
            </a:r>
            <a:r>
              <a:rPr lang="zh-CN" altLang="en-US" b="1"/>
              <a:t>、概述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52946" y="1216237"/>
            <a:ext cx="10695709" cy="132343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     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上述我们已经学习mybatis的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SQL映射文件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可以使用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xml的方式配置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，但是我们发现不同的用户模块接口都对应一个映射文件，并且在映射文件中书写sql语句也比较麻烦。所以Mybatis为用户提供了快速的开发方式，因为有时候大量的XML配置文件的编写时非常繁琐的，因此Mybatis也提供了更加简便的基于注解(Annnotation)的配置方式。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Open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注解配置的方式在很多情况下能够取代mybatis的映射文件，提高开发效率。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10881" y="2562502"/>
            <a:ext cx="2190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/>
              <a:t>1.2</a:t>
            </a:r>
            <a:r>
              <a:rPr lang="zh-CN" altLang="en-US" b="1"/>
              <a:t>、</a:t>
            </a:r>
            <a:r>
              <a:rPr lang="en-US" altLang="zh-CN" b="1"/>
              <a:t>CRUD</a:t>
            </a:r>
            <a:r>
              <a:rPr lang="zh-CN" altLang="en-US" b="1"/>
              <a:t>相关注解</a:t>
            </a:r>
          </a:p>
        </p:txBody>
      </p:sp>
      <p:sp>
        <p:nvSpPr>
          <p:cNvPr id="7" name="矩形 6"/>
          <p:cNvSpPr/>
          <p:nvPr/>
        </p:nvSpPr>
        <p:spPr>
          <a:xfrm>
            <a:off x="1052946" y="2994535"/>
            <a:ext cx="8007928" cy="304698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/>
              <a:t>@Insert</a:t>
            </a:r>
            <a:r>
              <a:rPr lang="zh-CN" altLang="en-US" sz="1600"/>
              <a:t>：保存  </a:t>
            </a:r>
          </a:p>
          <a:p>
            <a:r>
              <a:rPr lang="zh-CN" altLang="en-US" sz="1600"/>
              <a:t>         </a:t>
            </a:r>
            <a:r>
              <a:rPr lang="en-US" altLang="zh-CN" sz="1600"/>
              <a:t>Value</a:t>
            </a:r>
            <a:r>
              <a:rPr lang="zh-CN" altLang="en-US" sz="1600"/>
              <a:t>：</a:t>
            </a:r>
            <a:r>
              <a:rPr lang="en-US" altLang="zh-CN" sz="1600"/>
              <a:t>sql</a:t>
            </a:r>
            <a:r>
              <a:rPr lang="zh-CN" altLang="en-US" sz="1600"/>
              <a:t>语句（和</a:t>
            </a:r>
            <a:r>
              <a:rPr lang="en-US" altLang="zh-CN" sz="1600"/>
              <a:t>xml</a:t>
            </a:r>
            <a:r>
              <a:rPr lang="zh-CN" altLang="en-US" sz="1600"/>
              <a:t>的配置方式一模一样）</a:t>
            </a:r>
          </a:p>
          <a:p>
            <a:r>
              <a:rPr lang="en-US" altLang="zh-CN" sz="1600"/>
              <a:t>@Update</a:t>
            </a:r>
            <a:r>
              <a:rPr lang="zh-CN" altLang="en-US" sz="1600"/>
              <a:t>：更新 </a:t>
            </a:r>
          </a:p>
          <a:p>
            <a:r>
              <a:rPr lang="zh-CN" altLang="en-US" sz="1600"/>
              <a:t>         </a:t>
            </a:r>
            <a:r>
              <a:rPr lang="en-US" altLang="zh-CN" sz="1600"/>
              <a:t>Value</a:t>
            </a:r>
            <a:r>
              <a:rPr lang="zh-CN" altLang="en-US" sz="1600"/>
              <a:t>：</a:t>
            </a:r>
            <a:r>
              <a:rPr lang="en-US" altLang="zh-CN" sz="1600"/>
              <a:t>sql</a:t>
            </a:r>
            <a:r>
              <a:rPr lang="zh-CN" altLang="en-US" sz="1600"/>
              <a:t>语句      </a:t>
            </a:r>
          </a:p>
          <a:p>
            <a:r>
              <a:rPr lang="en-US" altLang="zh-CN" sz="1600"/>
              <a:t>@Delete: </a:t>
            </a:r>
            <a:r>
              <a:rPr lang="zh-CN" altLang="en-US" sz="1600"/>
              <a:t>删除</a:t>
            </a:r>
          </a:p>
          <a:p>
            <a:r>
              <a:rPr lang="zh-CN" altLang="en-US" sz="1600"/>
              <a:t>         </a:t>
            </a:r>
            <a:r>
              <a:rPr lang="en-US" altLang="zh-CN" sz="1600"/>
              <a:t>Value</a:t>
            </a:r>
            <a:r>
              <a:rPr lang="zh-CN" altLang="en-US" sz="1600"/>
              <a:t>：</a:t>
            </a:r>
            <a:r>
              <a:rPr lang="en-US" altLang="zh-CN" sz="1600"/>
              <a:t>sql</a:t>
            </a:r>
            <a:r>
              <a:rPr lang="zh-CN" altLang="en-US" sz="1600"/>
              <a:t>语句     </a:t>
            </a:r>
          </a:p>
          <a:p>
            <a:r>
              <a:rPr lang="en-US" altLang="zh-CN" sz="1600"/>
              <a:t>@Select: </a:t>
            </a:r>
            <a:r>
              <a:rPr lang="zh-CN" altLang="en-US" sz="1600"/>
              <a:t>查询</a:t>
            </a:r>
          </a:p>
          <a:p>
            <a:r>
              <a:rPr lang="zh-CN" altLang="en-US" sz="1600"/>
              <a:t>         </a:t>
            </a:r>
            <a:r>
              <a:rPr lang="en-US" altLang="zh-CN" sz="1600"/>
              <a:t>Value</a:t>
            </a:r>
            <a:r>
              <a:rPr lang="zh-CN" altLang="en-US" sz="1600"/>
              <a:t>：</a:t>
            </a:r>
            <a:r>
              <a:rPr lang="en-US" altLang="zh-CN" sz="1600"/>
              <a:t>sql</a:t>
            </a:r>
            <a:r>
              <a:rPr lang="zh-CN" altLang="en-US" sz="1600"/>
              <a:t>语句  </a:t>
            </a:r>
          </a:p>
          <a:p>
            <a:r>
              <a:rPr lang="en-US" altLang="zh-CN" sz="1600"/>
              <a:t>@Options</a:t>
            </a:r>
            <a:r>
              <a:rPr lang="zh-CN" altLang="en-US" sz="1600"/>
              <a:t>：可选配置（获取主键）</a:t>
            </a:r>
          </a:p>
          <a:p>
            <a:r>
              <a:rPr lang="zh-CN" altLang="en-US" sz="1600"/>
              <a:t>         </a:t>
            </a:r>
            <a:r>
              <a:rPr lang="en-US" altLang="zh-CN" sz="1600"/>
              <a:t>userGeneratedKeys</a:t>
            </a:r>
            <a:r>
              <a:rPr lang="zh-CN" altLang="en-US" sz="1600"/>
              <a:t>：开关</a:t>
            </a:r>
            <a:r>
              <a:rPr lang="en-US" altLang="zh-CN" sz="1600"/>
              <a:t>,</a:t>
            </a:r>
            <a:r>
              <a:rPr lang="zh-CN" altLang="en-US" sz="1600"/>
              <a:t>值为</a:t>
            </a:r>
            <a:r>
              <a:rPr lang="en-US" altLang="zh-CN" sz="1600"/>
              <a:t>true</a:t>
            </a:r>
            <a:r>
              <a:rPr lang="zh-CN" altLang="en-US" sz="1600"/>
              <a:t>表示可以获取主键  相当于</a:t>
            </a:r>
            <a:r>
              <a:rPr lang="en-US" altLang="zh-CN" sz="1600"/>
              <a:t>select last_insert_id()</a:t>
            </a:r>
          </a:p>
          <a:p>
            <a:r>
              <a:rPr lang="en-US" altLang="zh-CN" sz="1600"/>
              <a:t>         keyProperty     </a:t>
            </a:r>
            <a:r>
              <a:rPr lang="zh-CN" altLang="en-US" sz="1600"/>
              <a:t>：对象属性</a:t>
            </a:r>
          </a:p>
          <a:p>
            <a:r>
              <a:rPr lang="zh-CN" altLang="en-US" sz="1600"/>
              <a:t>         </a:t>
            </a:r>
            <a:r>
              <a:rPr lang="en-US" altLang="zh-CN" sz="1600"/>
              <a:t>keyColumn       : </a:t>
            </a:r>
            <a:r>
              <a:rPr lang="zh-CN" altLang="en-US" sz="1600"/>
              <a:t>列名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4221338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注解开发</a:t>
            </a:r>
            <a:r>
              <a:rPr kumimoji="1" lang="en-US" altLang="zh-CN" dirty="0"/>
              <a:t>【</a:t>
            </a:r>
            <a:r>
              <a:rPr kumimoji="1" lang="zh-CN" altLang="en-US" dirty="0"/>
              <a:t>掌握</a:t>
            </a:r>
            <a:r>
              <a:rPr kumimoji="1" lang="en-US" altLang="zh-CN" dirty="0"/>
              <a:t>】</a:t>
            </a:r>
            <a:endParaRPr kumimoji="1"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10881" y="761379"/>
            <a:ext cx="3398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1.3 </a:t>
            </a:r>
            <a:r>
              <a:rPr lang="zh-CN" altLang="en-US" b="1" dirty="0"/>
              <a:t>搭建注解开发的</a:t>
            </a:r>
            <a:r>
              <a:rPr lang="en-US" altLang="zh-CN" b="1" dirty="0" err="1"/>
              <a:t>Mybatis</a:t>
            </a:r>
            <a:r>
              <a:rPr lang="zh-CN" altLang="en-US" b="1" dirty="0"/>
              <a:t>环境</a:t>
            </a:r>
          </a:p>
        </p:txBody>
      </p:sp>
      <p:sp>
        <p:nvSpPr>
          <p:cNvPr id="4" name="矩形 3"/>
          <p:cNvSpPr/>
          <p:nvPr/>
        </p:nvSpPr>
        <p:spPr>
          <a:xfrm>
            <a:off x="710881" y="1278569"/>
            <a:ext cx="99432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/>
              <a:t>【</a:t>
            </a:r>
            <a:r>
              <a:rPr lang="zh-CN" altLang="en-US"/>
              <a:t>第一步</a:t>
            </a:r>
            <a:r>
              <a:rPr lang="en-US" altLang="zh-CN"/>
              <a:t>】</a:t>
            </a:r>
            <a:r>
              <a:rPr lang="zh-CN" altLang="en-US"/>
              <a:t>将</a:t>
            </a:r>
            <a:r>
              <a:rPr lang="en-US" altLang="zh-CN"/>
              <a:t>mybatis</a:t>
            </a:r>
            <a:r>
              <a:rPr lang="zh-CN" altLang="en-US"/>
              <a:t>全局配置文件</a:t>
            </a:r>
            <a:r>
              <a:rPr lang="en-US" altLang="zh-CN"/>
              <a:t>mybatis-config.xml</a:t>
            </a:r>
            <a:r>
              <a:rPr lang="zh-CN" altLang="en-US"/>
              <a:t>中的</a:t>
            </a:r>
            <a:r>
              <a:rPr lang="en-US" altLang="zh-CN"/>
              <a:t>mapper</a:t>
            </a:r>
            <a:r>
              <a:rPr lang="zh-CN" altLang="en-US"/>
              <a:t>路径</a:t>
            </a:r>
            <a:r>
              <a:rPr lang="zh-CN" altLang="en-US" b="1">
                <a:solidFill>
                  <a:srgbClr val="FF0000"/>
                </a:solidFill>
              </a:rPr>
              <a:t>改为包扫描或者</a:t>
            </a:r>
            <a:r>
              <a:rPr lang="en-US" altLang="zh-CN" b="1">
                <a:solidFill>
                  <a:srgbClr val="FF0000"/>
                </a:solidFill>
              </a:rPr>
              <a:t>class</a:t>
            </a:r>
            <a:r>
              <a:rPr lang="zh-CN" altLang="en-US" b="1">
                <a:solidFill>
                  <a:srgbClr val="FF0000"/>
                </a:solidFill>
              </a:rPr>
              <a:t>路径</a:t>
            </a:r>
            <a:r>
              <a:rPr lang="zh-CN" altLang="en-US"/>
              <a:t>；</a:t>
            </a:r>
          </a:p>
        </p:txBody>
      </p:sp>
      <p:sp>
        <p:nvSpPr>
          <p:cNvPr id="8" name="矩形 7"/>
          <p:cNvSpPr/>
          <p:nvPr/>
        </p:nvSpPr>
        <p:spPr>
          <a:xfrm>
            <a:off x="1736963" y="1694067"/>
            <a:ext cx="8709364" cy="64633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/>
              <a:t>说明：因为没有了映射文件，所以我们这里采用加载接口方式，需要告知</a:t>
            </a:r>
            <a:r>
              <a:rPr lang="en-US" altLang="zh-CN"/>
              <a:t>mybatis</a:t>
            </a:r>
            <a:r>
              <a:rPr lang="zh-CN" altLang="en-US"/>
              <a:t>哪个接口的方法上的注解需要被执行。</a:t>
            </a:r>
          </a:p>
        </p:txBody>
      </p:sp>
      <p:sp>
        <p:nvSpPr>
          <p:cNvPr id="10" name="矩形 9"/>
          <p:cNvSpPr/>
          <p:nvPr/>
        </p:nvSpPr>
        <p:spPr>
          <a:xfrm>
            <a:off x="710881" y="2432731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【</a:t>
            </a:r>
            <a:r>
              <a:rPr lang="zh-CN" altLang="en-US"/>
              <a:t>第二步</a:t>
            </a:r>
            <a:r>
              <a:rPr lang="en-US" altLang="zh-CN"/>
              <a:t>】</a:t>
            </a:r>
            <a:r>
              <a:rPr lang="zh-CN" altLang="en-US"/>
              <a:t>编写接口和注解；</a:t>
            </a:r>
          </a:p>
        </p:txBody>
      </p:sp>
      <p:sp>
        <p:nvSpPr>
          <p:cNvPr id="11" name="矩形 10"/>
          <p:cNvSpPr/>
          <p:nvPr/>
        </p:nvSpPr>
        <p:spPr>
          <a:xfrm>
            <a:off x="710881" y="3125228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【</a:t>
            </a:r>
            <a:r>
              <a:rPr lang="zh-CN" altLang="en-US"/>
              <a:t>第三步</a:t>
            </a:r>
            <a:r>
              <a:rPr lang="en-US" altLang="zh-CN"/>
              <a:t>】</a:t>
            </a:r>
            <a:r>
              <a:rPr lang="zh-CN" altLang="en-US"/>
              <a:t>测试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9039" y="6281499"/>
            <a:ext cx="505689" cy="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91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10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4221338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注解开发</a:t>
            </a:r>
            <a:r>
              <a:rPr kumimoji="1" lang="en-US" altLang="zh-CN" dirty="0"/>
              <a:t>【</a:t>
            </a:r>
            <a:r>
              <a:rPr kumimoji="1" lang="zh-CN" altLang="en-US" dirty="0"/>
              <a:t>掌握</a:t>
            </a:r>
            <a:r>
              <a:rPr kumimoji="1" lang="en-US" altLang="zh-CN" dirty="0"/>
              <a:t>】</a:t>
            </a:r>
            <a:endParaRPr kumimoji="1"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10881" y="761379"/>
            <a:ext cx="1757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/>
              <a:t>1.4 </a:t>
            </a:r>
            <a:r>
              <a:rPr lang="zh-CN" altLang="en-US" b="1"/>
              <a:t>新增</a:t>
            </a:r>
            <a:r>
              <a:rPr lang="en-US" altLang="zh-CN" b="1"/>
              <a:t>@Insert</a:t>
            </a:r>
            <a:endParaRPr lang="zh-CN" altLang="en-US" b="1"/>
          </a:p>
        </p:txBody>
      </p:sp>
      <p:sp>
        <p:nvSpPr>
          <p:cNvPr id="2" name="矩形 1"/>
          <p:cNvSpPr/>
          <p:nvPr/>
        </p:nvSpPr>
        <p:spPr>
          <a:xfrm>
            <a:off x="712324" y="113071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步骤：</a:t>
            </a:r>
          </a:p>
        </p:txBody>
      </p:sp>
      <p:sp>
        <p:nvSpPr>
          <p:cNvPr id="5" name="矩形 4"/>
          <p:cNvSpPr/>
          <p:nvPr/>
        </p:nvSpPr>
        <p:spPr>
          <a:xfrm>
            <a:off x="710881" y="1500043"/>
            <a:ext cx="5288137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600"/>
              <a:t>第一步：</a:t>
            </a:r>
            <a:r>
              <a:rPr lang="en-US" altLang="zh-CN" sz="1600"/>
              <a:t>UserMapper</a:t>
            </a:r>
            <a:r>
              <a:rPr lang="zh-CN" altLang="en-US" sz="1600"/>
              <a:t>接口中新增用户方法上面编写注解；</a:t>
            </a:r>
          </a:p>
          <a:p>
            <a:r>
              <a:rPr lang="zh-CN" altLang="en-US" sz="1600"/>
              <a:t>第二步：测试；</a:t>
            </a:r>
          </a:p>
        </p:txBody>
      </p:sp>
      <p:sp>
        <p:nvSpPr>
          <p:cNvPr id="7" name="矩形 6"/>
          <p:cNvSpPr/>
          <p:nvPr/>
        </p:nvSpPr>
        <p:spPr>
          <a:xfrm>
            <a:off x="710881" y="2084818"/>
            <a:ext cx="2555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/>
              <a:t>实现</a:t>
            </a:r>
            <a:r>
              <a:rPr lang="en-US" altLang="zh-CN" b="1"/>
              <a:t>:</a:t>
            </a:r>
            <a:r>
              <a:rPr lang="zh-CN" altLang="en-US" b="1"/>
              <a:t>完成用户添加功能</a:t>
            </a:r>
          </a:p>
        </p:txBody>
      </p:sp>
      <p:sp>
        <p:nvSpPr>
          <p:cNvPr id="9" name="矩形 8"/>
          <p:cNvSpPr/>
          <p:nvPr/>
        </p:nvSpPr>
        <p:spPr>
          <a:xfrm>
            <a:off x="710881" y="3999795"/>
            <a:ext cx="1295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2)</a:t>
            </a:r>
            <a:r>
              <a:rPr lang="zh-CN" altLang="en-US"/>
              <a:t>定义接口</a:t>
            </a: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946046" y="4392616"/>
            <a:ext cx="7463663" cy="156966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public interface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UserMapper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{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/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@Insert(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"insert into tb_user values(null,#{userName},#{password},#{name},"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+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       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"#{age},#{sex})"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Integer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Arial Unicode MS" charset="0"/>
                <a:ea typeface="JetBrains Mono"/>
              </a:rPr>
              <a:t>addUser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user);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}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10881" y="2454150"/>
            <a:ext cx="23791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1</a:t>
            </a:r>
            <a:r>
              <a:rPr lang="zh-CN" altLang="en-US"/>
              <a:t>）配置核心配置文件</a:t>
            </a:r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932192" y="2847665"/>
            <a:ext cx="4748171" cy="10772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&lt;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mappers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&gt;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6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  <a:t>&lt;!--</a:t>
            </a:r>
            <a:r>
              <a:rPr kumimoji="0" lang="zh-CN" altLang="zh-CN" sz="16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基于扫包方式加载</a:t>
            </a:r>
            <a:r>
              <a:rPr kumimoji="0" lang="zh-CN" altLang="zh-CN" sz="16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  <a:t>mapper</a:t>
            </a:r>
            <a:r>
              <a:rPr kumimoji="0" lang="zh-CN" altLang="zh-CN" sz="16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接口</a:t>
            </a:r>
            <a:r>
              <a:rPr kumimoji="0" lang="zh-CN" altLang="zh-CN" sz="16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  <a:t>--&gt;</a:t>
            </a:r>
            <a:br>
              <a:rPr kumimoji="0" lang="zh-CN" altLang="zh-CN" sz="16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&lt;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package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Arial Unicode MS" charset="0"/>
                <a:ea typeface="JetBrains Mono"/>
              </a:rPr>
              <a:t>name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="com.day08.mapper"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/&gt;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&lt;/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mappers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&gt;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422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7" grpId="0"/>
      <p:bldP spid="9" grpId="0"/>
      <p:bldP spid="13" grpId="0" animBg="1"/>
      <p:bldP spid="15" grpId="0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4221338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注解开发</a:t>
            </a:r>
            <a:r>
              <a:rPr kumimoji="1" lang="en-US" altLang="zh-CN" dirty="0"/>
              <a:t>【</a:t>
            </a:r>
            <a:r>
              <a:rPr kumimoji="1" lang="zh-CN" altLang="en-US" dirty="0"/>
              <a:t>掌握</a:t>
            </a:r>
            <a:r>
              <a:rPr kumimoji="1" lang="en-US" altLang="zh-CN" dirty="0"/>
              <a:t>】</a:t>
            </a:r>
            <a:endParaRPr kumimoji="1"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10881" y="761379"/>
            <a:ext cx="1757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/>
              <a:t>1.4 </a:t>
            </a:r>
            <a:r>
              <a:rPr lang="zh-CN" altLang="en-US" b="1"/>
              <a:t>新增</a:t>
            </a:r>
            <a:r>
              <a:rPr lang="en-US" altLang="zh-CN" b="1"/>
              <a:t>@Insert</a:t>
            </a:r>
            <a:endParaRPr lang="zh-CN" altLang="en-US" b="1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9039" y="6281499"/>
            <a:ext cx="505689" cy="505689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935713" y="1130711"/>
            <a:ext cx="833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3)</a:t>
            </a:r>
            <a:r>
              <a:rPr lang="zh-CN" altLang="en-US"/>
              <a:t>测试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08363" y="1500043"/>
            <a:ext cx="5472546" cy="269304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Arial Unicode MS" charset="0"/>
                <a:ea typeface="JetBrains Mono"/>
              </a:rPr>
              <a:t>@Test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public void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Arial Unicode MS" charset="0"/>
                <a:ea typeface="JetBrains Mono"/>
              </a:rPr>
              <a:t>test1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(){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UserMapper mapper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MybatisUtil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getMapper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UserMapper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class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 user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new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User();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.setAge(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 charset="0"/>
                <a:ea typeface="JetBrains Mono"/>
              </a:rPr>
              <a:t>18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.setName(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"liuyan"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.setSex(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 charset="0"/>
                <a:ea typeface="JetBrains Mono"/>
              </a:rPr>
              <a:t>0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.setUserName(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柳岩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.setPassword(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"666"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mapper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.addUser(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MybatisUtil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commit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MybatisUtil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close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}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35713" y="4193088"/>
            <a:ext cx="9941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4</a:t>
            </a:r>
            <a:r>
              <a:rPr lang="zh-CN" altLang="en-US"/>
              <a:t>）效果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363" y="4562420"/>
            <a:ext cx="5985164" cy="217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828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 animBg="1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4221338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注解开发</a:t>
            </a:r>
            <a:r>
              <a:rPr kumimoji="1" lang="en-US" altLang="zh-CN" dirty="0"/>
              <a:t>【</a:t>
            </a:r>
            <a:r>
              <a:rPr kumimoji="1" lang="zh-CN" altLang="en-US" dirty="0"/>
              <a:t>掌握</a:t>
            </a:r>
            <a:r>
              <a:rPr kumimoji="1" lang="en-US" altLang="zh-CN" dirty="0"/>
              <a:t>】</a:t>
            </a:r>
            <a:endParaRPr kumimoji="1"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10881" y="761379"/>
            <a:ext cx="18281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/>
              <a:t>1.5 </a:t>
            </a:r>
            <a:r>
              <a:rPr lang="zh-CN" altLang="en-US" b="1"/>
              <a:t>删除</a:t>
            </a:r>
            <a:r>
              <a:rPr lang="en-US" altLang="zh-CN" b="1"/>
              <a:t>@Delete</a:t>
            </a:r>
            <a:endParaRPr lang="zh-CN" altLang="en-US" b="1"/>
          </a:p>
        </p:txBody>
      </p:sp>
      <p:sp>
        <p:nvSpPr>
          <p:cNvPr id="14" name="矩形 13"/>
          <p:cNvSpPr/>
          <p:nvPr/>
        </p:nvSpPr>
        <p:spPr>
          <a:xfrm>
            <a:off x="935713" y="1130711"/>
            <a:ext cx="4601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练习：使用注解</a:t>
            </a:r>
            <a:r>
              <a:rPr lang="en-US" altLang="zh-CN" b="1"/>
              <a:t>@Delete</a:t>
            </a:r>
            <a:r>
              <a:rPr lang="zh-CN" altLang="en-US"/>
              <a:t>删除</a:t>
            </a:r>
            <a:r>
              <a:rPr lang="en-US" altLang="zh-CN"/>
              <a:t>id</a:t>
            </a:r>
            <a:r>
              <a:rPr lang="zh-CN" altLang="en-US"/>
              <a:t>值为</a:t>
            </a:r>
            <a:r>
              <a:rPr lang="en-US" altLang="zh-CN"/>
              <a:t>6</a:t>
            </a:r>
            <a:r>
              <a:rPr lang="zh-CN" altLang="en-US"/>
              <a:t>的数据</a:t>
            </a:r>
            <a:r>
              <a:rPr lang="en-US" altLang="zh-CN"/>
              <a:t>;</a:t>
            </a:r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935713" y="1500043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步骤：</a:t>
            </a:r>
          </a:p>
        </p:txBody>
      </p:sp>
      <p:sp>
        <p:nvSpPr>
          <p:cNvPr id="5" name="矩形 4"/>
          <p:cNvSpPr/>
          <p:nvPr/>
        </p:nvSpPr>
        <p:spPr>
          <a:xfrm>
            <a:off x="1046550" y="1869375"/>
            <a:ext cx="5381959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600"/>
              <a:t>第一步：在根据</a:t>
            </a:r>
            <a:r>
              <a:rPr lang="en-US" altLang="zh-CN" sz="1600"/>
              <a:t>id</a:t>
            </a:r>
            <a:r>
              <a:rPr lang="zh-CN" altLang="en-US" sz="1600"/>
              <a:t>删除数据的方法上面编写注解</a:t>
            </a:r>
            <a:r>
              <a:rPr lang="en-US" altLang="zh-CN" sz="1600"/>
              <a:t>@Delete;</a:t>
            </a:r>
          </a:p>
          <a:p>
            <a:r>
              <a:rPr lang="zh-CN" altLang="en-US" sz="1600"/>
              <a:t>第二步：测试</a:t>
            </a:r>
          </a:p>
        </p:txBody>
      </p:sp>
      <p:sp>
        <p:nvSpPr>
          <p:cNvPr id="7" name="矩形 6"/>
          <p:cNvSpPr/>
          <p:nvPr/>
        </p:nvSpPr>
        <p:spPr>
          <a:xfrm>
            <a:off x="935713" y="2454150"/>
            <a:ext cx="1295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1)</a:t>
            </a:r>
            <a:r>
              <a:rPr lang="zh-CN" altLang="en-US"/>
              <a:t>定义接口</a:t>
            </a: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046550" y="2823482"/>
            <a:ext cx="4847220" cy="58477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@Delete(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"delete from tb_user where id=#{id}"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Integer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Arial Unicode MS" charset="0"/>
                <a:ea typeface="JetBrains Mono"/>
              </a:rPr>
              <a:t>deleteByUserId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(@Param(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"id"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Integer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id);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35713" y="3592923"/>
            <a:ext cx="833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2)</a:t>
            </a:r>
            <a:r>
              <a:rPr lang="zh-CN" altLang="en-US"/>
              <a:t>测试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46550" y="3962255"/>
            <a:ext cx="6434905" cy="206210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Arial Unicode MS" charset="0"/>
                <a:ea typeface="JetBrains Mono"/>
              </a:rPr>
              <a:t>@Test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public void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Arial Unicode MS" charset="0"/>
                <a:ea typeface="JetBrains Mono"/>
              </a:rPr>
              <a:t>test2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(){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UserMapper mapper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=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MybatisUtil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getMapper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UserMapper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class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Integer count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=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mapper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.deleteByUserId(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 charset="0"/>
                <a:ea typeface="JetBrains Mono"/>
              </a:rPr>
              <a:t>6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System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6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 charset="0"/>
                <a:ea typeface="JetBrains Mono"/>
              </a:rPr>
              <a:t>out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.println(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count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MybatisUtil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commit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();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MybatisUtil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close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();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}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993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" grpId="0"/>
      <p:bldP spid="5" grpId="0" animBg="1"/>
      <p:bldP spid="7" grpId="0"/>
      <p:bldP spid="9" grpId="0" animBg="1"/>
      <p:bldP spid="11" grpId="0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4221338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注解开发</a:t>
            </a:r>
            <a:r>
              <a:rPr kumimoji="1" lang="en-US" altLang="zh-CN" dirty="0"/>
              <a:t>【</a:t>
            </a:r>
            <a:r>
              <a:rPr kumimoji="1" lang="zh-CN" altLang="en-US" dirty="0"/>
              <a:t>掌握</a:t>
            </a:r>
            <a:r>
              <a:rPr kumimoji="1" lang="en-US" altLang="zh-CN" dirty="0"/>
              <a:t>】</a:t>
            </a:r>
            <a:endParaRPr kumimoji="1"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10881" y="761379"/>
            <a:ext cx="18281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/>
              <a:t>1.5 </a:t>
            </a:r>
            <a:r>
              <a:rPr lang="zh-CN" altLang="en-US" b="1"/>
              <a:t>删除</a:t>
            </a:r>
            <a:r>
              <a:rPr lang="en-US" altLang="zh-CN" b="1"/>
              <a:t>@Delete</a:t>
            </a:r>
            <a:endParaRPr lang="zh-CN" altLang="en-US" b="1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9039" y="6281499"/>
            <a:ext cx="505689" cy="505689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935713" y="1130711"/>
            <a:ext cx="4601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练习：使用注解</a:t>
            </a:r>
            <a:r>
              <a:rPr lang="en-US" altLang="zh-CN" b="1"/>
              <a:t>@Delete</a:t>
            </a:r>
            <a:r>
              <a:rPr lang="zh-CN" altLang="en-US"/>
              <a:t>删除</a:t>
            </a:r>
            <a:r>
              <a:rPr lang="en-US" altLang="zh-CN"/>
              <a:t>id</a:t>
            </a:r>
            <a:r>
              <a:rPr lang="zh-CN" altLang="en-US"/>
              <a:t>值为</a:t>
            </a:r>
            <a:r>
              <a:rPr lang="en-US" altLang="zh-CN"/>
              <a:t>6</a:t>
            </a:r>
            <a:r>
              <a:rPr lang="zh-CN" altLang="en-US"/>
              <a:t>的数据</a:t>
            </a:r>
            <a:r>
              <a:rPr lang="en-US" altLang="zh-CN"/>
              <a:t>;</a:t>
            </a:r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935713" y="1500043"/>
            <a:ext cx="833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3)</a:t>
            </a:r>
            <a:r>
              <a:rPr lang="zh-CN" altLang="en-US"/>
              <a:t>效果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142" y="2014537"/>
            <a:ext cx="8515350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369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4221338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注解开发</a:t>
            </a:r>
            <a:r>
              <a:rPr kumimoji="1" lang="en-US" altLang="zh-CN" dirty="0"/>
              <a:t>【</a:t>
            </a:r>
            <a:r>
              <a:rPr kumimoji="1" lang="zh-CN" altLang="en-US" dirty="0"/>
              <a:t>掌握</a:t>
            </a:r>
            <a:r>
              <a:rPr kumimoji="1" lang="en-US" altLang="zh-CN" dirty="0"/>
              <a:t>】</a:t>
            </a:r>
            <a:endParaRPr kumimoji="1"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10881" y="761379"/>
            <a:ext cx="18532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/>
              <a:t>1.6</a:t>
            </a:r>
            <a:r>
              <a:rPr lang="zh-CN" altLang="en-US" b="1"/>
              <a:t>修改</a:t>
            </a:r>
            <a:r>
              <a:rPr lang="en-US" altLang="zh-CN" b="1"/>
              <a:t>@Update</a:t>
            </a:r>
            <a:endParaRPr lang="zh-CN" altLang="en-US" b="1"/>
          </a:p>
        </p:txBody>
      </p:sp>
      <p:sp>
        <p:nvSpPr>
          <p:cNvPr id="14" name="矩形 13"/>
          <p:cNvSpPr/>
          <p:nvPr/>
        </p:nvSpPr>
        <p:spPr>
          <a:xfrm>
            <a:off x="935713" y="1130711"/>
            <a:ext cx="3246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练习：修改</a:t>
            </a:r>
            <a:r>
              <a:rPr lang="en-US" altLang="zh-CN"/>
              <a:t>id</a:t>
            </a:r>
            <a:r>
              <a:rPr lang="zh-CN" altLang="en-US"/>
              <a:t>为</a:t>
            </a:r>
            <a:r>
              <a:rPr lang="en-US" altLang="zh-CN"/>
              <a:t>1</a:t>
            </a:r>
            <a:r>
              <a:rPr lang="zh-CN" altLang="en-US"/>
              <a:t>的用户的数据</a:t>
            </a:r>
          </a:p>
        </p:txBody>
      </p:sp>
      <p:sp>
        <p:nvSpPr>
          <p:cNvPr id="2" name="矩形 1"/>
          <p:cNvSpPr/>
          <p:nvPr/>
        </p:nvSpPr>
        <p:spPr>
          <a:xfrm>
            <a:off x="935713" y="1500043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步骤：</a:t>
            </a:r>
          </a:p>
        </p:txBody>
      </p:sp>
      <p:sp>
        <p:nvSpPr>
          <p:cNvPr id="5" name="矩形 4"/>
          <p:cNvSpPr/>
          <p:nvPr/>
        </p:nvSpPr>
        <p:spPr>
          <a:xfrm>
            <a:off x="935713" y="1869375"/>
            <a:ext cx="10328032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600"/>
              <a:t>第一步：在根据</a:t>
            </a:r>
            <a:r>
              <a:rPr lang="en-US" altLang="zh-CN" sz="1600"/>
              <a:t>id</a:t>
            </a:r>
            <a:r>
              <a:rPr lang="zh-CN" altLang="en-US" sz="1600"/>
              <a:t>修改用户数据方法上面添加注解</a:t>
            </a:r>
            <a:r>
              <a:rPr lang="en-US" altLang="zh-CN" sz="1600"/>
              <a:t>@Update</a:t>
            </a:r>
            <a:r>
              <a:rPr lang="zh-CN" altLang="en-US" sz="1600"/>
              <a:t>，然后在其</a:t>
            </a:r>
            <a:r>
              <a:rPr lang="en-US" altLang="zh-CN" sz="1600"/>
              <a:t>value</a:t>
            </a:r>
            <a:r>
              <a:rPr lang="zh-CN" altLang="en-US" sz="1600"/>
              <a:t>属性值中编写具体的</a:t>
            </a:r>
            <a:r>
              <a:rPr lang="en-US" altLang="zh-CN" sz="1600"/>
              <a:t>SQL</a:t>
            </a:r>
            <a:r>
              <a:rPr lang="zh-CN" altLang="en-US" sz="1600"/>
              <a:t>；</a:t>
            </a:r>
          </a:p>
          <a:p>
            <a:r>
              <a:rPr lang="zh-CN" altLang="en-US" sz="1600"/>
              <a:t>第二步：测试</a:t>
            </a:r>
          </a:p>
        </p:txBody>
      </p:sp>
      <p:sp>
        <p:nvSpPr>
          <p:cNvPr id="7" name="矩形 6"/>
          <p:cNvSpPr/>
          <p:nvPr/>
        </p:nvSpPr>
        <p:spPr>
          <a:xfrm>
            <a:off x="935712" y="245415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实现：</a:t>
            </a:r>
          </a:p>
        </p:txBody>
      </p:sp>
      <p:sp>
        <p:nvSpPr>
          <p:cNvPr id="8" name="矩形 7"/>
          <p:cNvSpPr/>
          <p:nvPr/>
        </p:nvSpPr>
        <p:spPr>
          <a:xfrm>
            <a:off x="978992" y="2792705"/>
            <a:ext cx="1757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1)</a:t>
            </a:r>
            <a:r>
              <a:rPr lang="zh-CN" altLang="en-US"/>
              <a:t>定义接口方法</a:t>
            </a: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145246" y="3162037"/>
            <a:ext cx="8104909" cy="83099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@Update(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"update tb_user set user_name=#{userName},password=#{password},"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+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   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"name=#{name},age=#{age},sex=#{sex} where id=#{id}"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Integer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Arial Unicode MS" charset="0"/>
                <a:ea typeface="JetBrains Mono"/>
              </a:rPr>
              <a:t>updateUser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user);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78992" y="3993034"/>
            <a:ext cx="833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2)</a:t>
            </a:r>
            <a:r>
              <a:rPr lang="zh-CN" altLang="en-US"/>
              <a:t>测试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167510" y="4423164"/>
            <a:ext cx="4932219" cy="229293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Arial Unicode MS" charset="0"/>
                <a:ea typeface="JetBrains Mono"/>
              </a:rPr>
              <a:t>@Test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public void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Arial Unicode MS" charset="0"/>
                <a:ea typeface="JetBrains Mono"/>
              </a:rPr>
              <a:t>test3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(){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UserMapper mapper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MybatisUtil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getMapper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UserMapper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class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 user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new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User();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.setPassword(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"888"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.setUserName(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"nezha"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.setSex(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 charset="0"/>
                <a:ea typeface="JetBrains Mono"/>
              </a:rPr>
              <a:t>1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.setName(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哪吒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.setAge(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 charset="0"/>
                <a:ea typeface="JetBrains Mono"/>
              </a:rPr>
              <a:t>8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.setId(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 charset="0"/>
                <a:ea typeface="JetBrains Mono"/>
              </a:rPr>
              <a:t>11L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Integer count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=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mapper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.updateUser(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MybatisUtil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commit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();</a:t>
            </a:r>
            <a:b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MybatisUtil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1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close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();}</a:t>
            </a:r>
            <a:endParaRPr kumimoji="0" lang="zh-CN" altLang="zh-CN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9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" grpId="0"/>
      <p:bldP spid="5" grpId="0" animBg="1"/>
      <p:bldP spid="7" grpId="0"/>
      <p:bldP spid="8" grpId="0"/>
      <p:bldP spid="9" grpId="0" animBg="1"/>
      <p:bldP spid="10" grpId="0"/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4221338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注解开发</a:t>
            </a:r>
            <a:r>
              <a:rPr kumimoji="1" lang="en-US" altLang="zh-CN" dirty="0"/>
              <a:t>【</a:t>
            </a:r>
            <a:r>
              <a:rPr kumimoji="1" lang="zh-CN" altLang="en-US" dirty="0"/>
              <a:t>掌握</a:t>
            </a:r>
            <a:r>
              <a:rPr kumimoji="1" lang="en-US" altLang="zh-CN" dirty="0"/>
              <a:t>】</a:t>
            </a:r>
            <a:endParaRPr kumimoji="1"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10881" y="761379"/>
            <a:ext cx="18532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/>
              <a:t>1.6</a:t>
            </a:r>
            <a:r>
              <a:rPr lang="zh-CN" altLang="en-US" b="1"/>
              <a:t>修改</a:t>
            </a:r>
            <a:r>
              <a:rPr lang="en-US" altLang="zh-CN" b="1"/>
              <a:t>@Update</a:t>
            </a:r>
            <a:endParaRPr lang="zh-CN" altLang="en-US" b="1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9039" y="6281499"/>
            <a:ext cx="505689" cy="505689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935713" y="1130711"/>
            <a:ext cx="3246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练习：修改</a:t>
            </a:r>
            <a:r>
              <a:rPr lang="en-US" altLang="zh-CN"/>
              <a:t>id</a:t>
            </a:r>
            <a:r>
              <a:rPr lang="zh-CN" altLang="en-US"/>
              <a:t>为</a:t>
            </a:r>
            <a:r>
              <a:rPr lang="en-US" altLang="zh-CN"/>
              <a:t>1</a:t>
            </a:r>
            <a:r>
              <a:rPr lang="zh-CN" altLang="en-US"/>
              <a:t>的用户的数据</a:t>
            </a:r>
          </a:p>
        </p:txBody>
      </p:sp>
      <p:sp>
        <p:nvSpPr>
          <p:cNvPr id="10" name="矩形 9"/>
          <p:cNvSpPr/>
          <p:nvPr/>
        </p:nvSpPr>
        <p:spPr>
          <a:xfrm>
            <a:off x="935713" y="1500043"/>
            <a:ext cx="833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3)</a:t>
            </a:r>
            <a:r>
              <a:rPr lang="zh-CN" altLang="en-US"/>
              <a:t>效果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51" y="1869375"/>
            <a:ext cx="10350878" cy="227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974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4221338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注解开发</a:t>
            </a:r>
            <a:r>
              <a:rPr kumimoji="1" lang="en-US" altLang="zh-CN" dirty="0"/>
              <a:t>【</a:t>
            </a:r>
            <a:r>
              <a:rPr kumimoji="1" lang="zh-CN" altLang="en-US" dirty="0"/>
              <a:t>掌握</a:t>
            </a:r>
            <a:r>
              <a:rPr kumimoji="1" lang="en-US" altLang="zh-CN" dirty="0"/>
              <a:t>】</a:t>
            </a:r>
            <a:endParaRPr kumimoji="1"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10881" y="761379"/>
            <a:ext cx="17764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/>
              <a:t>1.7 </a:t>
            </a:r>
            <a:r>
              <a:rPr lang="zh-CN" altLang="en-US" b="1"/>
              <a:t>查询</a:t>
            </a:r>
            <a:r>
              <a:rPr lang="en-US" altLang="zh-CN" b="1"/>
              <a:t>@Select</a:t>
            </a:r>
            <a:endParaRPr lang="zh-CN" altLang="en-US" b="1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9039" y="6281499"/>
            <a:ext cx="505689" cy="505689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935713" y="1130711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目标：使用注解查询所有的用户数据</a:t>
            </a:r>
          </a:p>
        </p:txBody>
      </p:sp>
      <p:sp>
        <p:nvSpPr>
          <p:cNvPr id="10" name="矩形 9"/>
          <p:cNvSpPr/>
          <p:nvPr/>
        </p:nvSpPr>
        <p:spPr>
          <a:xfrm>
            <a:off x="935713" y="1500043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步骤：</a:t>
            </a:r>
          </a:p>
        </p:txBody>
      </p:sp>
      <p:sp>
        <p:nvSpPr>
          <p:cNvPr id="2" name="矩形 1"/>
          <p:cNvSpPr/>
          <p:nvPr/>
        </p:nvSpPr>
        <p:spPr>
          <a:xfrm>
            <a:off x="935713" y="1869375"/>
            <a:ext cx="10653326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600"/>
              <a:t>第一步：在接口中查询所有的用户数据的方法上面添加注解：</a:t>
            </a:r>
            <a:r>
              <a:rPr lang="en-US" altLang="zh-CN" sz="1600"/>
              <a:t>@Select</a:t>
            </a:r>
            <a:r>
              <a:rPr lang="zh-CN" altLang="en-US" sz="1600"/>
              <a:t>，然后设置其</a:t>
            </a:r>
            <a:r>
              <a:rPr lang="en-US" altLang="zh-CN" sz="1600"/>
              <a:t>value</a:t>
            </a:r>
            <a:r>
              <a:rPr lang="zh-CN" altLang="en-US" sz="1600"/>
              <a:t>属性值为具体的</a:t>
            </a:r>
            <a:r>
              <a:rPr lang="en-US" altLang="zh-CN" sz="1600"/>
              <a:t>SQL</a:t>
            </a:r>
            <a:r>
              <a:rPr lang="zh-CN" altLang="en-US" sz="1600"/>
              <a:t>查询语句；</a:t>
            </a:r>
          </a:p>
          <a:p>
            <a:r>
              <a:rPr lang="zh-CN" altLang="en-US" sz="1600"/>
              <a:t>第二步：测试</a:t>
            </a:r>
          </a:p>
        </p:txBody>
      </p:sp>
      <p:sp>
        <p:nvSpPr>
          <p:cNvPr id="5" name="矩形 4"/>
          <p:cNvSpPr/>
          <p:nvPr/>
        </p:nvSpPr>
        <p:spPr>
          <a:xfrm>
            <a:off x="935713" y="2423373"/>
            <a:ext cx="708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实现</a:t>
            </a:r>
            <a:r>
              <a:rPr lang="en-US" altLang="zh-CN"/>
              <a:t>: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57352" y="2792705"/>
            <a:ext cx="833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1)</a:t>
            </a:r>
            <a:r>
              <a:rPr lang="zh-CN" altLang="en-US"/>
              <a:t>接口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094509" y="3115871"/>
            <a:ext cx="3408218" cy="58477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@Select(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"select * from tb_user"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List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&lt;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&gt;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Arial Unicode MS" charset="0"/>
                <a:ea typeface="JetBrains Mono"/>
              </a:rPr>
              <a:t>findAll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();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57351" y="3761608"/>
            <a:ext cx="833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2)</a:t>
            </a:r>
            <a:r>
              <a:rPr lang="zh-CN" altLang="en-US"/>
              <a:t>测试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94509" y="4191902"/>
            <a:ext cx="7107382" cy="181588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Arial Unicode MS" charset="0"/>
                <a:ea typeface="JetBrains Mono"/>
              </a:rPr>
              <a:t>@Test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public void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Arial Unicode MS" charset="0"/>
                <a:ea typeface="JetBrains Mono"/>
              </a:rPr>
              <a:t>test4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(){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UserMapper userMapper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=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MybatisUtil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getMapper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UserMapper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class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List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&lt;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&gt;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users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=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userMapper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.findAll();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System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6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 charset="0"/>
                <a:ea typeface="JetBrains Mono"/>
              </a:rPr>
              <a:t>out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.println(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users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MybatisUtil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close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();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}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61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0" grpId="0"/>
      <p:bldP spid="2" grpId="0" animBg="1"/>
      <p:bldP spid="7" grpId="0"/>
      <p:bldP spid="8" grpId="0" animBg="1"/>
      <p:bldP spid="9" grpId="0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4221338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注解开发</a:t>
            </a:r>
            <a:r>
              <a:rPr kumimoji="1" lang="en-US" altLang="zh-CN" dirty="0"/>
              <a:t>【</a:t>
            </a:r>
            <a:r>
              <a:rPr kumimoji="1" lang="zh-CN" altLang="en-US" dirty="0"/>
              <a:t>掌握</a:t>
            </a:r>
            <a:r>
              <a:rPr kumimoji="1" lang="en-US" altLang="zh-CN" dirty="0"/>
              <a:t>】</a:t>
            </a:r>
            <a:endParaRPr kumimoji="1"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10881" y="761379"/>
            <a:ext cx="45954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/>
              <a:t>1.8 </a:t>
            </a:r>
            <a:r>
              <a:rPr lang="zh-CN" altLang="en-US" b="1"/>
              <a:t>返回新增数据的</a:t>
            </a:r>
            <a:r>
              <a:rPr lang="en-US" altLang="zh-CN" b="1"/>
              <a:t>id(</a:t>
            </a:r>
            <a:r>
              <a:rPr lang="zh-CN" altLang="en-US" b="1"/>
              <a:t>自增主键回填</a:t>
            </a:r>
            <a:r>
              <a:rPr lang="en-US" altLang="zh-CN" b="1"/>
              <a:t>)[</a:t>
            </a:r>
            <a:r>
              <a:rPr lang="zh-CN" altLang="en-US" b="1"/>
              <a:t>了解</a:t>
            </a:r>
            <a:r>
              <a:rPr lang="en-US" altLang="zh-CN" b="1"/>
              <a:t>]</a:t>
            </a:r>
            <a:endParaRPr lang="zh-CN" altLang="en-US" b="1"/>
          </a:p>
        </p:txBody>
      </p:sp>
      <p:sp>
        <p:nvSpPr>
          <p:cNvPr id="14" name="矩形 13"/>
          <p:cNvSpPr/>
          <p:nvPr/>
        </p:nvSpPr>
        <p:spPr>
          <a:xfrm>
            <a:off x="935713" y="1130711"/>
            <a:ext cx="78806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问题：上面注解实现</a:t>
            </a:r>
            <a:r>
              <a:rPr lang="en-US" altLang="zh-CN"/>
              <a:t>CRUD</a:t>
            </a:r>
            <a:r>
              <a:rPr lang="zh-CN" altLang="en-US"/>
              <a:t>的测试中，数据新增成功，但是</a:t>
            </a:r>
            <a:r>
              <a:rPr lang="en-US" altLang="zh-CN"/>
              <a:t>id</a:t>
            </a:r>
            <a:r>
              <a:rPr lang="zh-CN" altLang="en-US"/>
              <a:t>值没有正常返回</a:t>
            </a:r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35713" y="1500043"/>
            <a:ext cx="6591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目标：使用注解完成数据新增，新增成功后返回数据的主键</a:t>
            </a:r>
            <a:r>
              <a:rPr lang="en-US" altLang="zh-CN"/>
              <a:t>id</a:t>
            </a:r>
            <a:r>
              <a:rPr lang="zh-CN" altLang="en-US"/>
              <a:t>值</a:t>
            </a:r>
          </a:p>
        </p:txBody>
      </p:sp>
      <p:sp>
        <p:nvSpPr>
          <p:cNvPr id="4" name="矩形 3"/>
          <p:cNvSpPr/>
          <p:nvPr/>
        </p:nvSpPr>
        <p:spPr>
          <a:xfrm>
            <a:off x="935713" y="1869375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步骤：</a:t>
            </a:r>
          </a:p>
        </p:txBody>
      </p:sp>
      <p:sp>
        <p:nvSpPr>
          <p:cNvPr id="11" name="矩形 10"/>
          <p:cNvSpPr/>
          <p:nvPr/>
        </p:nvSpPr>
        <p:spPr>
          <a:xfrm>
            <a:off x="978993" y="2238707"/>
            <a:ext cx="833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1)</a:t>
            </a:r>
            <a:r>
              <a:rPr lang="zh-CN" altLang="en-US"/>
              <a:t>接口</a:t>
            </a: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978993" y="2616701"/>
            <a:ext cx="6871855" cy="89255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@Insert(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"insert into tb_user values(null,#{userName},#{password},#{name},"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+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"#{age},#{sex})"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@Options(useGeneratedKeys =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true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,keyColumn =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"id"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,keyProperty =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"id"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Integer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Arial Unicode MS" charset="0"/>
                <a:ea typeface="JetBrains Mono"/>
              </a:rPr>
              <a:t>addUserAndGetFk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user);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35713" y="3540031"/>
            <a:ext cx="833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2)</a:t>
            </a:r>
            <a:r>
              <a:rPr lang="zh-CN" altLang="en-US"/>
              <a:t>测试</a:t>
            </a: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1117539" y="3909363"/>
            <a:ext cx="5306291" cy="28931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Arial Unicode MS" charset="0"/>
                <a:ea typeface="JetBrains Mono"/>
              </a:rPr>
              <a:t>@Test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public void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Arial Unicode MS" charset="0"/>
                <a:ea typeface="JetBrains Mono"/>
              </a:rPr>
              <a:t>test6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(){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UserMapper mapper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MybatisUtil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getMapper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UserMapper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class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 user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new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User();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.setAge(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 charset="0"/>
                <a:ea typeface="JetBrains Mono"/>
              </a:rPr>
              <a:t>18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.setName(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"liuyan2"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.setSex(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 charset="0"/>
                <a:ea typeface="JetBrains Mono"/>
              </a:rPr>
              <a:t>0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.setUserName(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柳岩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2"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.setPassword(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"666"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mapper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.addUserAndGetFk(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System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 charset="0"/>
                <a:ea typeface="JetBrains Mono"/>
              </a:rPr>
              <a:t>out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.println(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.getId());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MybatisUtil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commit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MybatisUtil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close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}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70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0" grpId="0"/>
      <p:bldP spid="4" grpId="0"/>
      <p:bldP spid="11" grpId="0"/>
      <p:bldP spid="15" grpId="0" animBg="1"/>
      <p:bldP spid="16" grpId="0"/>
      <p:bldP spid="1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4221338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注解开发</a:t>
            </a:r>
            <a:r>
              <a:rPr kumimoji="1" lang="en-US" altLang="zh-CN" dirty="0"/>
              <a:t>【</a:t>
            </a:r>
            <a:r>
              <a:rPr kumimoji="1" lang="zh-CN" altLang="en-US" dirty="0"/>
              <a:t>掌握</a:t>
            </a:r>
            <a:r>
              <a:rPr kumimoji="1" lang="en-US" altLang="zh-CN" dirty="0"/>
              <a:t>】</a:t>
            </a:r>
            <a:endParaRPr kumimoji="1"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10881" y="761379"/>
            <a:ext cx="45954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/>
              <a:t>1.8 </a:t>
            </a:r>
            <a:r>
              <a:rPr lang="zh-CN" altLang="en-US" b="1"/>
              <a:t>返回新增数据的</a:t>
            </a:r>
            <a:r>
              <a:rPr lang="en-US" altLang="zh-CN" b="1"/>
              <a:t>id(</a:t>
            </a:r>
            <a:r>
              <a:rPr lang="zh-CN" altLang="en-US" b="1"/>
              <a:t>自增主键回填</a:t>
            </a:r>
            <a:r>
              <a:rPr lang="en-US" altLang="zh-CN" b="1"/>
              <a:t>)[</a:t>
            </a:r>
            <a:r>
              <a:rPr lang="zh-CN" altLang="en-US" b="1"/>
              <a:t>了解</a:t>
            </a:r>
            <a:r>
              <a:rPr lang="en-US" altLang="zh-CN" b="1"/>
              <a:t>]</a:t>
            </a:r>
            <a:endParaRPr lang="zh-CN" altLang="en-US" b="1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9039" y="6281499"/>
            <a:ext cx="505689" cy="505689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935713" y="1130711"/>
            <a:ext cx="78806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问题：上面注解实现</a:t>
            </a:r>
            <a:r>
              <a:rPr lang="en-US" altLang="zh-CN"/>
              <a:t>CRUD</a:t>
            </a:r>
            <a:r>
              <a:rPr lang="zh-CN" altLang="en-US"/>
              <a:t>的测试中，数据新增成功，但是</a:t>
            </a:r>
            <a:r>
              <a:rPr lang="en-US" altLang="zh-CN"/>
              <a:t>id</a:t>
            </a:r>
            <a:r>
              <a:rPr lang="zh-CN" altLang="en-US"/>
              <a:t>值没有正常返回</a:t>
            </a:r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35713" y="1500043"/>
            <a:ext cx="6591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目标：使用注解完成数据新增，新增成功后返回数据的主键</a:t>
            </a:r>
            <a:r>
              <a:rPr lang="en-US" altLang="zh-CN"/>
              <a:t>id</a:t>
            </a:r>
            <a:r>
              <a:rPr lang="zh-CN" altLang="en-US"/>
              <a:t>值</a:t>
            </a:r>
          </a:p>
        </p:txBody>
      </p:sp>
      <p:sp>
        <p:nvSpPr>
          <p:cNvPr id="4" name="矩形 3"/>
          <p:cNvSpPr/>
          <p:nvPr/>
        </p:nvSpPr>
        <p:spPr>
          <a:xfrm>
            <a:off x="935713" y="1869375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步骤：</a:t>
            </a:r>
          </a:p>
        </p:txBody>
      </p:sp>
      <p:sp>
        <p:nvSpPr>
          <p:cNvPr id="2" name="矩形 1"/>
          <p:cNvSpPr/>
          <p:nvPr/>
        </p:nvSpPr>
        <p:spPr>
          <a:xfrm>
            <a:off x="978993" y="2238707"/>
            <a:ext cx="833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3)</a:t>
            </a:r>
            <a:r>
              <a:rPr lang="zh-CN" altLang="en-US"/>
              <a:t>效果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36" y="2732730"/>
            <a:ext cx="9376054" cy="250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786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4221338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注解开发</a:t>
            </a:r>
            <a:r>
              <a:rPr kumimoji="1" lang="en-US" altLang="zh-CN" dirty="0"/>
              <a:t>【</a:t>
            </a:r>
            <a:r>
              <a:rPr kumimoji="1" lang="zh-CN" altLang="en-US" dirty="0"/>
              <a:t>掌握</a:t>
            </a:r>
            <a:r>
              <a:rPr kumimoji="1" lang="en-US" altLang="zh-CN" dirty="0"/>
              <a:t>】</a:t>
            </a:r>
            <a:endParaRPr kumimoji="1"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10881" y="761379"/>
            <a:ext cx="45954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/>
              <a:t>1.9 </a:t>
            </a:r>
            <a:r>
              <a:rPr lang="zh-CN" altLang="en-US" b="1"/>
              <a:t>注解实现别名映射</a:t>
            </a:r>
          </a:p>
        </p:txBody>
      </p:sp>
      <p:sp>
        <p:nvSpPr>
          <p:cNvPr id="14" name="矩形 13"/>
          <p:cNvSpPr/>
          <p:nvPr/>
        </p:nvSpPr>
        <p:spPr>
          <a:xfrm>
            <a:off x="964741" y="1130711"/>
            <a:ext cx="107773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根据之前的学习，如果数据表的列名和</a:t>
            </a:r>
            <a:r>
              <a:rPr lang="en-US" altLang="zh-CN"/>
              <a:t>pojo</a:t>
            </a:r>
            <a:r>
              <a:rPr lang="zh-CN" altLang="en-US"/>
              <a:t>实体类的属性名不一致，会导致数据表的数据无法封装到实体类属性值中，对此我们有如下解决方案：</a:t>
            </a:r>
          </a:p>
        </p:txBody>
      </p:sp>
      <p:sp>
        <p:nvSpPr>
          <p:cNvPr id="7" name="矩形 6"/>
          <p:cNvSpPr/>
          <p:nvPr/>
        </p:nvSpPr>
        <p:spPr>
          <a:xfrm>
            <a:off x="964741" y="1777042"/>
            <a:ext cx="7472880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/>
              <a:t>使用注解：</a:t>
            </a:r>
            <a:r>
              <a:rPr lang="en-US" altLang="zh-CN"/>
              <a:t>@Results</a:t>
            </a:r>
            <a:r>
              <a:rPr lang="zh-CN" altLang="en-US"/>
              <a:t>实现映射</a:t>
            </a:r>
            <a:r>
              <a:rPr lang="en-US" altLang="zh-CN"/>
              <a:t>(</a:t>
            </a:r>
            <a:r>
              <a:rPr lang="zh-CN" altLang="en-US"/>
              <a:t>等价于</a:t>
            </a:r>
            <a:r>
              <a:rPr lang="en-US" altLang="zh-CN"/>
              <a:t>&lt;resultMap&gt;</a:t>
            </a:r>
            <a:r>
              <a:rPr lang="zh-CN" altLang="en-US"/>
              <a:t>标签</a:t>
            </a:r>
            <a:r>
              <a:rPr lang="en-US" altLang="zh-CN"/>
              <a:t>)</a:t>
            </a:r>
            <a:r>
              <a:rPr lang="zh-CN" altLang="en-US"/>
              <a:t>，注解源码如下：</a:t>
            </a:r>
          </a:p>
        </p:txBody>
      </p:sp>
      <p:sp>
        <p:nvSpPr>
          <p:cNvPr id="8" name="矩形 7"/>
          <p:cNvSpPr/>
          <p:nvPr/>
        </p:nvSpPr>
        <p:spPr>
          <a:xfrm>
            <a:off x="964741" y="2202691"/>
            <a:ext cx="2925088" cy="92333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public @interface Results {</a:t>
            </a: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    Result[] value() default {};</a:t>
            </a: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}</a:t>
            </a:r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964741" y="3145985"/>
            <a:ext cx="80050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我们发现</a:t>
            </a:r>
            <a:r>
              <a:rPr lang="en-US" altLang="zh-CN"/>
              <a:t>value</a:t>
            </a:r>
            <a:r>
              <a:rPr lang="zh-CN" altLang="en-US"/>
              <a:t>属于</a:t>
            </a:r>
            <a:r>
              <a:rPr lang="en-US" altLang="zh-CN"/>
              <a:t>Result</a:t>
            </a:r>
            <a:r>
              <a:rPr lang="zh-CN" altLang="en-US"/>
              <a:t>数组类型，而</a:t>
            </a:r>
            <a:r>
              <a:rPr lang="en-US" altLang="zh-CN"/>
              <a:t>Result</a:t>
            </a:r>
            <a:r>
              <a:rPr lang="zh-CN" altLang="en-US"/>
              <a:t>属于一个注解，注解的属性如下：</a:t>
            </a:r>
          </a:p>
        </p:txBody>
      </p:sp>
      <p:sp>
        <p:nvSpPr>
          <p:cNvPr id="11" name="矩形 10"/>
          <p:cNvSpPr/>
          <p:nvPr/>
        </p:nvSpPr>
        <p:spPr>
          <a:xfrm>
            <a:off x="964741" y="3535281"/>
            <a:ext cx="5769888" cy="304698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>
                <a:solidFill>
                  <a:schemeClr val="accent1">
                    <a:lumMod val="75000"/>
                  </a:schemeClr>
                </a:solidFill>
              </a:rPr>
              <a:t>public @interface Result {</a:t>
            </a:r>
          </a:p>
          <a:p>
            <a:r>
              <a:rPr lang="en-US" altLang="zh-CN" sz="1600">
                <a:solidFill>
                  <a:schemeClr val="accent1">
                    <a:lumMod val="75000"/>
                  </a:schemeClr>
                </a:solidFill>
              </a:rPr>
              <a:t>    //</a:t>
            </a:r>
            <a:r>
              <a:rPr lang="zh-CN" altLang="en-US" sz="1600">
                <a:solidFill>
                  <a:schemeClr val="accent1">
                    <a:lumMod val="75000"/>
                  </a:schemeClr>
                </a:solidFill>
              </a:rPr>
              <a:t>对应数据表的列</a:t>
            </a:r>
          </a:p>
          <a:p>
            <a:r>
              <a:rPr lang="zh-CN" altLang="en-US" sz="1600">
                <a:solidFill>
                  <a:schemeClr val="accent1">
                    <a:lumMod val="75000"/>
                  </a:schemeClr>
                </a:solidFill>
              </a:rPr>
              <a:t>    </a:t>
            </a:r>
            <a:r>
              <a:rPr lang="en-US" altLang="zh-CN" sz="1600">
                <a:solidFill>
                  <a:schemeClr val="accent1">
                    <a:lumMod val="75000"/>
                  </a:schemeClr>
                </a:solidFill>
              </a:rPr>
              <a:t>String column() default "";</a:t>
            </a:r>
          </a:p>
          <a:p>
            <a:r>
              <a:rPr lang="en-US" altLang="zh-CN" sz="1600">
                <a:solidFill>
                  <a:schemeClr val="accent1">
                    <a:lumMod val="75000"/>
                  </a:schemeClr>
                </a:solidFill>
              </a:rPr>
              <a:t>    //</a:t>
            </a:r>
            <a:r>
              <a:rPr lang="zh-CN" altLang="en-US" sz="1600">
                <a:solidFill>
                  <a:schemeClr val="accent1">
                    <a:lumMod val="75000"/>
                  </a:schemeClr>
                </a:solidFill>
              </a:rPr>
              <a:t>对应</a:t>
            </a:r>
            <a:r>
              <a:rPr lang="en-US" altLang="zh-CN" sz="1600">
                <a:solidFill>
                  <a:schemeClr val="accent1">
                    <a:lumMod val="75000"/>
                  </a:schemeClr>
                </a:solidFill>
              </a:rPr>
              <a:t>pojo</a:t>
            </a:r>
            <a:r>
              <a:rPr lang="zh-CN" altLang="en-US" sz="1600">
                <a:solidFill>
                  <a:schemeClr val="accent1">
                    <a:lumMod val="75000"/>
                  </a:schemeClr>
                </a:solidFill>
              </a:rPr>
              <a:t>类的属性</a:t>
            </a:r>
          </a:p>
          <a:p>
            <a:r>
              <a:rPr lang="zh-CN" altLang="en-US" sz="1600">
                <a:solidFill>
                  <a:schemeClr val="accent1">
                    <a:lumMod val="75000"/>
                  </a:schemeClr>
                </a:solidFill>
              </a:rPr>
              <a:t>    </a:t>
            </a:r>
            <a:r>
              <a:rPr lang="en-US" altLang="zh-CN" sz="1600">
                <a:solidFill>
                  <a:schemeClr val="accent1">
                    <a:lumMod val="75000"/>
                  </a:schemeClr>
                </a:solidFill>
              </a:rPr>
              <a:t>String property() default "";</a:t>
            </a:r>
          </a:p>
          <a:p>
            <a:r>
              <a:rPr lang="en-US" altLang="zh-CN" sz="1600">
                <a:solidFill>
                  <a:schemeClr val="accent1">
                    <a:lumMod val="75000"/>
                  </a:schemeClr>
                </a:solidFill>
              </a:rPr>
              <a:t>    //javaType</a:t>
            </a:r>
            <a:r>
              <a:rPr lang="zh-CN" altLang="en-US" sz="1600">
                <a:solidFill>
                  <a:schemeClr val="accent1">
                    <a:lumMod val="75000"/>
                  </a:schemeClr>
                </a:solidFill>
              </a:rPr>
              <a:t>：返回的对象类型</a:t>
            </a:r>
          </a:p>
          <a:p>
            <a:r>
              <a:rPr lang="zh-CN" altLang="en-US" sz="1600">
                <a:solidFill>
                  <a:schemeClr val="accent1">
                    <a:lumMod val="75000"/>
                  </a:schemeClr>
                </a:solidFill>
              </a:rPr>
              <a:t>    </a:t>
            </a:r>
            <a:r>
              <a:rPr lang="en-US" altLang="zh-CN" sz="1600">
                <a:solidFill>
                  <a:schemeClr val="accent1">
                    <a:lumMod val="75000"/>
                  </a:schemeClr>
                </a:solidFill>
              </a:rPr>
              <a:t>Class&lt;?&gt; javaType() default void.class;</a:t>
            </a:r>
          </a:p>
          <a:p>
            <a:r>
              <a:rPr lang="en-US" altLang="zh-CN" sz="1600">
                <a:solidFill>
                  <a:schemeClr val="accent1">
                    <a:lumMod val="75000"/>
                  </a:schemeClr>
                </a:solidFill>
              </a:rPr>
              <a:t>    //one</a:t>
            </a:r>
            <a:r>
              <a:rPr lang="zh-CN" altLang="en-US" sz="1600">
                <a:solidFill>
                  <a:schemeClr val="accent1">
                    <a:lumMod val="75000"/>
                  </a:schemeClr>
                </a:solidFill>
              </a:rPr>
              <a:t>： 一对一配置 相当于</a:t>
            </a:r>
            <a:r>
              <a:rPr lang="en-US" altLang="zh-CN" sz="1600">
                <a:solidFill>
                  <a:schemeClr val="accent1">
                    <a:lumMod val="75000"/>
                  </a:schemeClr>
                </a:solidFill>
              </a:rPr>
              <a:t>xml</a:t>
            </a:r>
            <a:r>
              <a:rPr lang="zh-CN" altLang="en-US" sz="1600">
                <a:solidFill>
                  <a:schemeClr val="accent1">
                    <a:lumMod val="75000"/>
                  </a:schemeClr>
                </a:solidFill>
              </a:rPr>
              <a:t>中</a:t>
            </a:r>
            <a:r>
              <a:rPr lang="en-US" altLang="zh-CN" sz="1600">
                <a:solidFill>
                  <a:schemeClr val="accent1">
                    <a:lumMod val="75000"/>
                  </a:schemeClr>
                </a:solidFill>
              </a:rPr>
              <a:t>association</a:t>
            </a:r>
            <a:r>
              <a:rPr lang="zh-CN" altLang="en-US" sz="1600">
                <a:solidFill>
                  <a:schemeClr val="accent1">
                    <a:lumMod val="75000"/>
                  </a:schemeClr>
                </a:solidFill>
              </a:rPr>
              <a:t>标签</a:t>
            </a:r>
          </a:p>
          <a:p>
            <a:r>
              <a:rPr lang="zh-CN" altLang="en-US" sz="1600">
                <a:solidFill>
                  <a:schemeClr val="accent1">
                    <a:lumMod val="75000"/>
                  </a:schemeClr>
                </a:solidFill>
              </a:rPr>
              <a:t>    </a:t>
            </a:r>
            <a:r>
              <a:rPr lang="en-US" altLang="zh-CN" sz="1600">
                <a:solidFill>
                  <a:schemeClr val="accent1">
                    <a:lumMod val="75000"/>
                  </a:schemeClr>
                </a:solidFill>
              </a:rPr>
              <a:t>One one() default @One;</a:t>
            </a:r>
          </a:p>
          <a:p>
            <a:r>
              <a:rPr lang="en-US" altLang="zh-CN" sz="1600">
                <a:solidFill>
                  <a:schemeClr val="accent1">
                    <a:lumMod val="75000"/>
                  </a:schemeClr>
                </a:solidFill>
              </a:rPr>
              <a:t>    //many</a:t>
            </a:r>
            <a:r>
              <a:rPr lang="zh-CN" altLang="en-US" sz="1600">
                <a:solidFill>
                  <a:schemeClr val="accent1">
                    <a:lumMod val="75000"/>
                  </a:schemeClr>
                </a:solidFill>
              </a:rPr>
              <a:t>： 一对多配置 相当于</a:t>
            </a:r>
            <a:r>
              <a:rPr lang="en-US" altLang="zh-CN" sz="1600">
                <a:solidFill>
                  <a:schemeClr val="accent1">
                    <a:lumMod val="75000"/>
                  </a:schemeClr>
                </a:solidFill>
              </a:rPr>
              <a:t>xml</a:t>
            </a:r>
            <a:r>
              <a:rPr lang="zh-CN" altLang="en-US" sz="1600">
                <a:solidFill>
                  <a:schemeClr val="accent1">
                    <a:lumMod val="75000"/>
                  </a:schemeClr>
                </a:solidFill>
              </a:rPr>
              <a:t>中</a:t>
            </a:r>
            <a:r>
              <a:rPr lang="en-US" altLang="zh-CN" sz="1600">
                <a:solidFill>
                  <a:schemeClr val="accent1">
                    <a:lumMod val="75000"/>
                  </a:schemeClr>
                </a:solidFill>
              </a:rPr>
              <a:t>collection</a:t>
            </a:r>
            <a:r>
              <a:rPr lang="zh-CN" altLang="en-US" sz="1600">
                <a:solidFill>
                  <a:schemeClr val="accent1">
                    <a:lumMod val="75000"/>
                  </a:schemeClr>
                </a:solidFill>
              </a:rPr>
              <a:t>标签</a:t>
            </a:r>
          </a:p>
          <a:p>
            <a:r>
              <a:rPr lang="zh-CN" altLang="en-US" sz="1600">
                <a:solidFill>
                  <a:schemeClr val="accent1">
                    <a:lumMod val="75000"/>
                  </a:schemeClr>
                </a:solidFill>
              </a:rPr>
              <a:t>    </a:t>
            </a:r>
            <a:r>
              <a:rPr lang="en-US" altLang="zh-CN" sz="1600">
                <a:solidFill>
                  <a:schemeClr val="accent1">
                    <a:lumMod val="75000"/>
                  </a:schemeClr>
                </a:solidFill>
              </a:rPr>
              <a:t>Many many() default @Many;</a:t>
            </a:r>
          </a:p>
          <a:p>
            <a:r>
              <a:rPr lang="en-US" altLang="zh-CN" sz="1600">
                <a:solidFill>
                  <a:schemeClr val="accent1">
                    <a:lumMod val="75000"/>
                  </a:schemeClr>
                </a:solidFill>
              </a:rPr>
              <a:t>}</a:t>
            </a:r>
            <a:endParaRPr lang="zh-CN" altLang="en-US" sz="160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5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4221338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注解开发</a:t>
            </a:r>
            <a:r>
              <a:rPr kumimoji="1" lang="en-US" altLang="zh-CN" dirty="0"/>
              <a:t>【</a:t>
            </a:r>
            <a:r>
              <a:rPr kumimoji="1" lang="zh-CN" altLang="en-US" dirty="0"/>
              <a:t>掌握</a:t>
            </a:r>
            <a:r>
              <a:rPr kumimoji="1" lang="en-US" altLang="zh-CN" dirty="0"/>
              <a:t>】</a:t>
            </a:r>
            <a:endParaRPr kumimoji="1"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10881" y="761379"/>
            <a:ext cx="45954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/>
              <a:t>1.9 </a:t>
            </a:r>
            <a:r>
              <a:rPr lang="zh-CN" altLang="en-US" b="1"/>
              <a:t>注解实现别名映射</a:t>
            </a:r>
          </a:p>
        </p:txBody>
      </p:sp>
      <p:sp>
        <p:nvSpPr>
          <p:cNvPr id="2" name="矩形 1"/>
          <p:cNvSpPr/>
          <p:nvPr/>
        </p:nvSpPr>
        <p:spPr>
          <a:xfrm>
            <a:off x="710880" y="1130711"/>
            <a:ext cx="86963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目标：使用注解的方式给取别名后的字段，映射到实体类中</a:t>
            </a:r>
            <a:r>
              <a:rPr lang="en-US" altLang="zh-CN"/>
              <a:t>,</a:t>
            </a:r>
            <a:r>
              <a:rPr lang="zh-CN" altLang="en-US"/>
              <a:t>并查询所有用户信息；</a:t>
            </a:r>
          </a:p>
          <a:p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​注意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: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为方便演示效果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,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可将之前核心配置文件中的开启驼峰自动映射设置为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false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。</a:t>
            </a:r>
          </a:p>
        </p:txBody>
      </p:sp>
      <p:sp>
        <p:nvSpPr>
          <p:cNvPr id="4" name="矩形 3"/>
          <p:cNvSpPr/>
          <p:nvPr/>
        </p:nvSpPr>
        <p:spPr>
          <a:xfrm>
            <a:off x="710879" y="1777042"/>
            <a:ext cx="708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实现</a:t>
            </a:r>
            <a:r>
              <a:rPr lang="en-US" altLang="zh-CN"/>
              <a:t>: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10878" y="2146374"/>
            <a:ext cx="833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1)</a:t>
            </a:r>
            <a:r>
              <a:rPr lang="zh-CN" altLang="en-US"/>
              <a:t>接口</a:t>
            </a: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914400" y="2515706"/>
            <a:ext cx="5458691" cy="14927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@Select(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"select * from tb_user where id=#{id}"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@Results(id=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"userMap"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,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    value = 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            @Result(column =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"id"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,property =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"id"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,id=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true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),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            @Result(column =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"user_name"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,property =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"userName"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    })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Arial Unicode MS" charset="0"/>
                <a:ea typeface="JetBrains Mono"/>
              </a:rPr>
              <a:t>findById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Long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id);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878" y="4008422"/>
            <a:ext cx="833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2)</a:t>
            </a:r>
            <a:r>
              <a:rPr lang="zh-CN" altLang="en-US"/>
              <a:t>测试</a:t>
            </a: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914400" y="4377754"/>
            <a:ext cx="6206836" cy="160043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Arial Unicode MS" charset="0"/>
                <a:ea typeface="JetBrains Mono"/>
              </a:rPr>
              <a:t>@Test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public void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Arial Unicode MS" charset="0"/>
                <a:ea typeface="JetBrains Mono"/>
              </a:rPr>
              <a:t>test5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(){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UserMapper userMapper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MybatisUtil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getMapper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UserMapper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class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 user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userMapper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.findById(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 charset="0"/>
                <a:ea typeface="JetBrains Mono"/>
              </a:rPr>
              <a:t>1L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MybatisUtil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close</a:t>
            </a: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();</a:t>
            </a:r>
            <a:b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}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099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 animBg="1"/>
      <p:bldP spid="13" grpId="0"/>
      <p:bldP spid="1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4221338" cy="517190"/>
          </a:xfrm>
        </p:spPr>
        <p:txBody>
          <a:bodyPr/>
          <a:lstStyle/>
          <a:p>
            <a:r>
              <a:rPr kumimoji="1" lang="en-US" altLang="zh-CN" dirty="0" err="1"/>
              <a:t>mybatis</a:t>
            </a:r>
            <a:r>
              <a:rPr kumimoji="1" lang="zh-CN" altLang="en-US" dirty="0"/>
              <a:t>注解开发</a:t>
            </a:r>
            <a:r>
              <a:rPr kumimoji="1" lang="en-US" altLang="zh-CN" dirty="0"/>
              <a:t>【</a:t>
            </a:r>
            <a:r>
              <a:rPr kumimoji="1" lang="zh-CN" altLang="en-US" dirty="0"/>
              <a:t>掌握</a:t>
            </a:r>
            <a:r>
              <a:rPr kumimoji="1" lang="en-US" altLang="zh-CN" dirty="0"/>
              <a:t>】</a:t>
            </a:r>
            <a:endParaRPr kumimoji="1"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10881" y="761379"/>
            <a:ext cx="45954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/>
              <a:t>1.9 </a:t>
            </a:r>
            <a:r>
              <a:rPr lang="zh-CN" altLang="en-US" b="1"/>
              <a:t>注解实现别名映射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9039" y="6281499"/>
            <a:ext cx="505689" cy="50568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710880" y="1130711"/>
            <a:ext cx="86963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目标：使用注解的方式给取别名后的字段，映射到实体类中</a:t>
            </a:r>
            <a:r>
              <a:rPr lang="en-US" altLang="zh-CN"/>
              <a:t>,</a:t>
            </a:r>
            <a:r>
              <a:rPr lang="zh-CN" altLang="en-US"/>
              <a:t>并查询所有用户信息；</a:t>
            </a:r>
          </a:p>
          <a:p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​注意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: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为方便演示效果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,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可将之前核心配置文件中的开启驼峰自动映射设置为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false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。</a:t>
            </a:r>
          </a:p>
        </p:txBody>
      </p:sp>
      <p:sp>
        <p:nvSpPr>
          <p:cNvPr id="4" name="矩形 3"/>
          <p:cNvSpPr/>
          <p:nvPr/>
        </p:nvSpPr>
        <p:spPr>
          <a:xfrm>
            <a:off x="710879" y="1777042"/>
            <a:ext cx="708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实现</a:t>
            </a:r>
            <a:r>
              <a:rPr lang="en-US" altLang="zh-CN"/>
              <a:t>: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10879" y="2146374"/>
            <a:ext cx="833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2)</a:t>
            </a:r>
            <a:r>
              <a:rPr lang="zh-CN" altLang="en-US"/>
              <a:t>效果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16" y="2677220"/>
            <a:ext cx="10798339" cy="299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104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45393" y="833755"/>
            <a:ext cx="5973761" cy="4256405"/>
          </a:xfrm>
        </p:spPr>
        <p:txBody>
          <a:bodyPr/>
          <a:lstStyle/>
          <a:p>
            <a:r>
              <a:rPr kumimoji="1" lang="en-US" altLang="zh-CN" dirty="0" err="1">
                <a:solidFill>
                  <a:schemeClr val="tx1"/>
                </a:solidFill>
              </a:rPr>
              <a:t>mybatis</a:t>
            </a:r>
            <a:r>
              <a:rPr kumimoji="1" lang="zh-CN" altLang="en-US" dirty="0">
                <a:solidFill>
                  <a:schemeClr val="tx1"/>
                </a:solidFill>
              </a:rPr>
              <a:t>高级查询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zh-CN" dirty="0" err="1">
                <a:solidFill>
                  <a:schemeClr val="tx1"/>
                </a:solidFill>
              </a:rPr>
              <a:t>mybatis</a:t>
            </a:r>
            <a:r>
              <a:rPr lang="zh-CN" altLang="en-US" dirty="0">
                <a:solidFill>
                  <a:schemeClr val="tx1"/>
                </a:solidFill>
              </a:rPr>
              <a:t>注解开发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zh-CN" dirty="0" err="1">
                <a:solidFill>
                  <a:srgbClr val="C00000"/>
                </a:solidFill>
              </a:rPr>
              <a:t>mybatis</a:t>
            </a:r>
            <a:r>
              <a:rPr lang="zh-CN" altLang="en-US" dirty="0">
                <a:solidFill>
                  <a:srgbClr val="C00000"/>
                </a:solidFill>
              </a:rPr>
              <a:t>基于注解实现动态</a:t>
            </a:r>
            <a:r>
              <a:rPr lang="en-US" altLang="zh-CN" dirty="0">
                <a:solidFill>
                  <a:srgbClr val="C00000"/>
                </a:solidFill>
              </a:rPr>
              <a:t>SQL</a:t>
            </a:r>
            <a:r>
              <a:rPr lang="zh-CN" altLang="en-US" dirty="0">
                <a:solidFill>
                  <a:srgbClr val="C00000"/>
                </a:solidFill>
              </a:rPr>
              <a:t>（理解）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91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2683484" cy="517190"/>
          </a:xfrm>
        </p:spPr>
        <p:txBody>
          <a:bodyPr/>
          <a:lstStyle/>
          <a:p>
            <a:r>
              <a:rPr kumimoji="1" lang="zh-CN" altLang="en-US" dirty="0"/>
              <a:t> 动态</a:t>
            </a:r>
            <a:r>
              <a:rPr kumimoji="1" lang="en-US" altLang="zh-CN" dirty="0" err="1"/>
              <a:t>sql</a:t>
            </a:r>
            <a:r>
              <a:rPr kumimoji="1" lang="en-US" altLang="zh-CN" dirty="0"/>
              <a:t>(</a:t>
            </a:r>
            <a:r>
              <a:rPr kumimoji="1" lang="zh-CN" altLang="en-US" dirty="0"/>
              <a:t>了解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10881" y="1157799"/>
            <a:ext cx="1040046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【需求】：查询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男性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用户，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如果输入了用户名，按用户名模糊查询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,如果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没有输入用户名，就查询所有男性用户</a:t>
            </a: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；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矩形 3"/>
          <p:cNvSpPr/>
          <p:nvPr/>
        </p:nvSpPr>
        <p:spPr>
          <a:xfrm>
            <a:off x="778001" y="1523441"/>
            <a:ext cx="23872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方式</a:t>
            </a:r>
            <a:r>
              <a:rPr lang="en-US" altLang="zh-CN" dirty="0"/>
              <a:t>1:@</a:t>
            </a:r>
            <a:r>
              <a:rPr lang="en-US" altLang="zh-CN" dirty="0" err="1"/>
              <a:t>SelectProvider</a:t>
            </a:r>
            <a:endParaRPr lang="zh-CN" alt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153150" y="1892773"/>
            <a:ext cx="9515926" cy="58477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使用 @SelectProvider 注解，注解中的type 参数是提供构建 SQL 的类，method 是构建 SQL 的方法。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构建 SQL 的方法的参数要和接口的参数一致，并且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多个参数要使用@Param命名参数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。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78001" y="2477548"/>
            <a:ext cx="833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1)</a:t>
            </a:r>
            <a:r>
              <a:rPr lang="zh-CN" altLang="en-US"/>
              <a:t>接口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153150" y="2946907"/>
            <a:ext cx="5985164" cy="49244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@SelectProvider(type = SqlProvider.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class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,method 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"findUserByName"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List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&lt;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&gt;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 charset="0"/>
                <a:ea typeface="JetBrains Mono"/>
              </a:rPr>
              <a:t>findUserByName2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(@Param(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"uName"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String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name);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10937" y="3545960"/>
            <a:ext cx="2483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2)</a:t>
            </a:r>
            <a:r>
              <a:rPr lang="zh-CN" altLang="en-US"/>
              <a:t>创建提供</a:t>
            </a:r>
            <a:r>
              <a:rPr lang="en-US" altLang="zh-CN"/>
              <a:t>sql</a:t>
            </a:r>
            <a:r>
              <a:rPr lang="zh-CN" altLang="en-US"/>
              <a:t>的工具类</a:t>
            </a: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1059392" y="4030564"/>
            <a:ext cx="5424536" cy="209288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public class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SqlProvider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/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public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String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Arial Unicode MS" charset="0"/>
                <a:ea typeface="JetBrains Mono"/>
              </a:rPr>
              <a:t>findUserByName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(@Param(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"uName"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String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name){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String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sql=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"select * from tb_user where sex=1"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if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(name!=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null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        sql+=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 and user_name like concat('%',#{uName},'%')"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    }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return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sql;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}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}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1553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2683484" cy="517190"/>
          </a:xfrm>
        </p:spPr>
        <p:txBody>
          <a:bodyPr/>
          <a:lstStyle/>
          <a:p>
            <a:r>
              <a:rPr kumimoji="1" lang="zh-CN" altLang="en-US" dirty="0"/>
              <a:t> 动态</a:t>
            </a:r>
            <a:r>
              <a:rPr kumimoji="1" lang="en-US" altLang="zh-CN" dirty="0" err="1"/>
              <a:t>sql</a:t>
            </a:r>
            <a:r>
              <a:rPr kumimoji="1" lang="en-US" altLang="zh-CN" dirty="0"/>
              <a:t>(</a:t>
            </a:r>
            <a:r>
              <a:rPr kumimoji="1" lang="zh-CN" altLang="en-US" dirty="0"/>
              <a:t>了解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10881" y="1157799"/>
            <a:ext cx="1040046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【需求】：查询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男性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用户，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如果输入了用户名，按用户名模糊查询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,如果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没有输入用户名，就查询所有男性用户</a:t>
            </a: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；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矩形 3"/>
          <p:cNvSpPr/>
          <p:nvPr/>
        </p:nvSpPr>
        <p:spPr>
          <a:xfrm>
            <a:off x="778001" y="1523441"/>
            <a:ext cx="23872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方式</a:t>
            </a:r>
            <a:r>
              <a:rPr lang="en-US" altLang="zh-CN"/>
              <a:t>2:@SelectProvider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78001" y="1865685"/>
            <a:ext cx="833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3)</a:t>
            </a:r>
            <a:r>
              <a:rPr lang="zh-CN" altLang="en-US"/>
              <a:t>测试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194942" y="2235017"/>
            <a:ext cx="6010726" cy="209288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Arial Unicode MS" charset="0"/>
                <a:ea typeface="JetBrains Mono"/>
              </a:rPr>
              <a:t>@Test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public void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Arial Unicode MS" charset="0"/>
                <a:ea typeface="JetBrains Mono"/>
              </a:rPr>
              <a:t>test9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(){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UserMapper mapper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= MybatisUtils.getMapper(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UserMapper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class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  <a:t>//select * from tb_user where sex=1;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  <a:t>    //List&lt;User&gt; users = mapper.findUserByName2(null);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  <a:t>    //select * from tb_user where sex=1 and user_name like concat('%',?,'%')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List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&lt;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&gt;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users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mapper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.findUserByName2(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"zhang"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System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 charset="0"/>
                <a:ea typeface="JetBrains Mono"/>
              </a:rPr>
              <a:t>out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.println(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users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MybatisUtils.close();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}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78001" y="4327898"/>
            <a:ext cx="833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4)</a:t>
            </a:r>
            <a:r>
              <a:rPr lang="zh-CN" altLang="en-US"/>
              <a:t>效果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942" y="4670142"/>
            <a:ext cx="6923382" cy="207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869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2683484" cy="517190"/>
          </a:xfrm>
        </p:spPr>
        <p:txBody>
          <a:bodyPr/>
          <a:lstStyle/>
          <a:p>
            <a:r>
              <a:rPr kumimoji="1" lang="zh-CN" altLang="en-US" dirty="0"/>
              <a:t> 动态</a:t>
            </a:r>
            <a:r>
              <a:rPr kumimoji="1" lang="en-US" altLang="zh-CN" dirty="0" err="1"/>
              <a:t>sql</a:t>
            </a:r>
            <a:r>
              <a:rPr kumimoji="1" lang="en-US" altLang="zh-CN" dirty="0"/>
              <a:t>(</a:t>
            </a:r>
            <a:r>
              <a:rPr kumimoji="1" lang="zh-CN" altLang="en-US" dirty="0"/>
              <a:t>了解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10881" y="1157799"/>
            <a:ext cx="1040046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【需求】：查询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男性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用户，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如果输入了用户名，按用户名模糊查询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,如果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没有输入用户名，就查询所有男性用户</a:t>
            </a: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；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矩形 3"/>
          <p:cNvSpPr/>
          <p:nvPr/>
        </p:nvSpPr>
        <p:spPr>
          <a:xfrm>
            <a:off x="778001" y="1523441"/>
            <a:ext cx="30925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方式</a:t>
            </a:r>
            <a:r>
              <a:rPr lang="en-US" altLang="zh-CN" dirty="0"/>
              <a:t>2:@</a:t>
            </a:r>
            <a:r>
              <a:rPr lang="en-US" altLang="zh-CN" dirty="0" err="1"/>
              <a:t>SelectProvider+SQL</a:t>
            </a:r>
            <a:r>
              <a:rPr lang="zh-CN" altLang="en-US" dirty="0"/>
              <a:t>类</a:t>
            </a:r>
          </a:p>
        </p:txBody>
      </p:sp>
      <p:sp>
        <p:nvSpPr>
          <p:cNvPr id="7" name="矩形 6"/>
          <p:cNvSpPr/>
          <p:nvPr/>
        </p:nvSpPr>
        <p:spPr>
          <a:xfrm>
            <a:off x="968093" y="1865685"/>
            <a:ext cx="8804718" cy="107721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1600"/>
              <a:t>上述实现过程中，</a:t>
            </a:r>
            <a:r>
              <a:rPr lang="en-US" altLang="zh-CN" sz="1600"/>
              <a:t>sql</a:t>
            </a:r>
            <a:r>
              <a:rPr lang="zh-CN" altLang="en-US" sz="1600"/>
              <a:t>拼接容易出错，我们可借助</a:t>
            </a:r>
            <a:r>
              <a:rPr lang="en-US" altLang="zh-CN" sz="1600"/>
              <a:t>mybatis</a:t>
            </a:r>
            <a:r>
              <a:rPr lang="zh-CN" altLang="en-US" sz="1600"/>
              <a:t>提供的一个对象：</a:t>
            </a:r>
            <a:r>
              <a:rPr lang="en-US" altLang="zh-CN" sz="1600"/>
              <a:t>SQL</a:t>
            </a:r>
            <a:r>
              <a:rPr lang="zh-CN" altLang="en-US" sz="1600"/>
              <a:t>完成</a:t>
            </a:r>
            <a:r>
              <a:rPr lang="en-US" altLang="zh-CN" sz="1600"/>
              <a:t>sql</a:t>
            </a:r>
            <a:r>
              <a:rPr lang="zh-CN" altLang="en-US" sz="1600"/>
              <a:t>语句拼接。</a:t>
            </a:r>
          </a:p>
          <a:p>
            <a:r>
              <a:rPr lang="zh-CN" altLang="en-US" sz="1600"/>
              <a:t>创建</a:t>
            </a:r>
            <a:r>
              <a:rPr lang="en-US" altLang="zh-CN" sz="1600"/>
              <a:t>SQL</a:t>
            </a:r>
            <a:r>
              <a:rPr lang="zh-CN" altLang="en-US" sz="1600"/>
              <a:t>对象</a:t>
            </a:r>
          </a:p>
          <a:p>
            <a:r>
              <a:rPr lang="en-US" altLang="zh-CN" sz="1600"/>
              <a:t>  SQL sql = new SQL();</a:t>
            </a:r>
          </a:p>
          <a:p>
            <a:r>
              <a:rPr lang="zh-CN" altLang="en-US" sz="1600"/>
              <a:t>链式编程，每个方法返回值都是</a:t>
            </a:r>
            <a:r>
              <a:rPr lang="en-US" altLang="zh-CN" sz="1600"/>
              <a:t>SQL</a:t>
            </a:r>
            <a:r>
              <a:rPr lang="zh-CN" altLang="en-US" sz="1600"/>
              <a:t>类对象；</a:t>
            </a:r>
          </a:p>
        </p:txBody>
      </p:sp>
      <p:sp>
        <p:nvSpPr>
          <p:cNvPr id="6" name="矩形 5"/>
          <p:cNvSpPr/>
          <p:nvPr/>
        </p:nvSpPr>
        <p:spPr>
          <a:xfrm>
            <a:off x="757076" y="2942903"/>
            <a:ext cx="1295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1)</a:t>
            </a:r>
            <a:r>
              <a:rPr lang="zh-CN" altLang="en-US"/>
              <a:t>定义接口</a:t>
            </a: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968093" y="3448012"/>
            <a:ext cx="5820634" cy="49244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@SelectProvider(type = SqlProvider.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class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,method 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"findUserByName3"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List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&lt;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&gt;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 charset="0"/>
                <a:ea typeface="JetBrains Mono"/>
              </a:rPr>
              <a:t>findUserByName3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(@Param(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"uName"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String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name);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57076" y="4076232"/>
            <a:ext cx="20217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2)</a:t>
            </a:r>
            <a:r>
              <a:rPr lang="zh-CN" altLang="en-US"/>
              <a:t>定义提供</a:t>
            </a:r>
            <a:r>
              <a:rPr lang="en-US" altLang="zh-CN"/>
              <a:t>sql</a:t>
            </a:r>
            <a:r>
              <a:rPr lang="zh-CN" altLang="en-US"/>
              <a:t>的类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968094" y="4481314"/>
            <a:ext cx="5820634" cy="169277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public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String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Arial Unicode MS" charset="0"/>
                <a:ea typeface="JetBrains Mono"/>
              </a:rPr>
              <a:t>findUserByName3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(@Param(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"uName"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String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name){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SQL sql =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new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SQL();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sql = sql.SELECT(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"*"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).FROM(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"tb_user"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).WHERE(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"sex=1"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if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(name!=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null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    sql = sql.AND().WHERE(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"user_name like concat('%',#{uName},'%')"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}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return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sql.toString();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}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5470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81" y="244189"/>
            <a:ext cx="2683484" cy="517190"/>
          </a:xfrm>
        </p:spPr>
        <p:txBody>
          <a:bodyPr/>
          <a:lstStyle/>
          <a:p>
            <a:r>
              <a:rPr kumimoji="1" lang="zh-CN" altLang="en-US" dirty="0"/>
              <a:t> 动态</a:t>
            </a:r>
            <a:r>
              <a:rPr kumimoji="1" lang="en-US" altLang="zh-CN" dirty="0" err="1"/>
              <a:t>sql</a:t>
            </a:r>
            <a:r>
              <a:rPr kumimoji="1" lang="en-US" altLang="zh-CN" dirty="0"/>
              <a:t>(</a:t>
            </a:r>
            <a:r>
              <a:rPr kumimoji="1" lang="zh-CN" altLang="en-US" dirty="0"/>
              <a:t>了解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10881" y="1157799"/>
            <a:ext cx="1040046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【需求】：查询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男性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用户，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如果输入了用户名，按用户名模糊查询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,如果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没有输入用户名，就查询所有男性用户</a:t>
            </a: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；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矩形 3"/>
          <p:cNvSpPr/>
          <p:nvPr/>
        </p:nvSpPr>
        <p:spPr>
          <a:xfrm>
            <a:off x="778001" y="1523441"/>
            <a:ext cx="30925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方式</a:t>
            </a:r>
            <a:r>
              <a:rPr lang="en-US" altLang="zh-CN" dirty="0"/>
              <a:t>2:@</a:t>
            </a:r>
            <a:r>
              <a:rPr lang="en-US" altLang="zh-CN" dirty="0" err="1"/>
              <a:t>SelectProvider+SQL</a:t>
            </a:r>
            <a:r>
              <a:rPr lang="zh-CN" altLang="en-US" dirty="0"/>
              <a:t>类</a:t>
            </a:r>
          </a:p>
        </p:txBody>
      </p:sp>
      <p:sp>
        <p:nvSpPr>
          <p:cNvPr id="6" name="矩形 5"/>
          <p:cNvSpPr/>
          <p:nvPr/>
        </p:nvSpPr>
        <p:spPr>
          <a:xfrm>
            <a:off x="710881" y="1865685"/>
            <a:ext cx="833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3)</a:t>
            </a:r>
            <a:r>
              <a:rPr lang="zh-CN" altLang="en-US"/>
              <a:t>测试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78001" y="2252065"/>
            <a:ext cx="7121236" cy="209288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Arial Unicode MS" charset="0"/>
                <a:ea typeface="JetBrains Mono"/>
              </a:rPr>
              <a:t>@Test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public void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Arial Unicode MS" charset="0"/>
                <a:ea typeface="JetBrains Mono"/>
              </a:rPr>
              <a:t>test10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(){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UserMapper mapper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= MybatisUtils.getMapper(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UserMapper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 charset="0"/>
                <a:ea typeface="JetBrains Mono"/>
              </a:rPr>
              <a:t>class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  <a:t>//select * from tb_user where (sex=1);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  <a:t>    //List&lt;User&gt; users = mapper.findUserByName3(null);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  <a:t>    //select * from tb_user where (sex=1) and (user_name like concat('%',?,'%'))</a:t>
            </a:r>
            <a:b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C5C17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List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&lt;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&gt;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users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mapper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.findUserByName3(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Arial Unicode MS" charset="0"/>
                <a:ea typeface="JetBrains Mono"/>
              </a:rPr>
              <a:t>"zhang"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System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 charset="0"/>
                <a:ea typeface="JetBrains Mono"/>
              </a:rPr>
              <a:t>out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.println(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charset="0"/>
                <a:ea typeface="JetBrains Mono"/>
              </a:rPr>
              <a:t>users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    MybatisUtils.close();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 charset="0"/>
                <a:ea typeface="JetBrains Mono"/>
              </a:rPr>
              <a:t>}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001" y="4799026"/>
            <a:ext cx="7970379" cy="1892719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710881" y="4387320"/>
            <a:ext cx="833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4)</a:t>
            </a:r>
            <a:r>
              <a:rPr lang="zh-CN" altLang="en-US"/>
              <a:t>效果</a:t>
            </a:r>
          </a:p>
        </p:txBody>
      </p:sp>
    </p:spTree>
    <p:extLst>
      <p:ext uri="{BB962C8B-B14F-4D97-AF65-F5344CB8AC3E}">
        <p14:creationId xmlns:p14="http://schemas.microsoft.com/office/powerpoint/2010/main" val="42736918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812055"/>
      </p:ext>
    </p:extLst>
  </p:cSld>
  <p:clrMapOvr>
    <a:masterClrMapping/>
  </p:clrMapOvr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3248</TotalTime>
  <Words>3973</Words>
  <Application>Microsoft Office PowerPoint</Application>
  <PresentationFormat>宽屏</PresentationFormat>
  <Paragraphs>325</Paragraphs>
  <Slides>39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39</vt:i4>
      </vt:variant>
    </vt:vector>
  </HeadingPairs>
  <TitlesOfParts>
    <vt:vector size="62" baseType="lpstr">
      <vt:lpstr>Alibaba PuHuiTi B</vt:lpstr>
      <vt:lpstr>Alibaba PuHuiTi M</vt:lpstr>
      <vt:lpstr>Alibaba PuHuiTi R</vt:lpstr>
      <vt:lpstr>Arial Unicode MS</vt:lpstr>
      <vt:lpstr>JetBrains Mono</vt:lpstr>
      <vt:lpstr>阿里巴巴普惠体</vt:lpstr>
      <vt:lpstr>等线</vt:lpstr>
      <vt:lpstr>黑体</vt:lpstr>
      <vt:lpstr>宋体</vt:lpstr>
      <vt:lpstr>微软雅黑</vt:lpstr>
      <vt:lpstr>Arial</vt:lpstr>
      <vt:lpstr>Calibri</vt:lpstr>
      <vt:lpstr>Open Sans</vt:lpstr>
      <vt:lpstr>Segoe UI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Mybatis</vt:lpstr>
      <vt:lpstr>PowerPoint 演示文稿</vt:lpstr>
      <vt:lpstr>mybatis高级查询</vt:lpstr>
      <vt:lpstr>mybatis高级查询</vt:lpstr>
      <vt:lpstr>mybatis高级查询</vt:lpstr>
      <vt:lpstr>mybatis高级查询</vt:lpstr>
      <vt:lpstr>mybatis高级查询</vt:lpstr>
      <vt:lpstr>mybatis高级查询</vt:lpstr>
      <vt:lpstr>mybatis高级查询</vt:lpstr>
      <vt:lpstr>mybatis高级查询</vt:lpstr>
      <vt:lpstr>mybatis高级查询</vt:lpstr>
      <vt:lpstr>mybatis高级查询</vt:lpstr>
      <vt:lpstr>mybatis高级查询</vt:lpstr>
      <vt:lpstr>mybatis高级查询</vt:lpstr>
      <vt:lpstr>mybatis高级查询</vt:lpstr>
      <vt:lpstr>mybatis高级查询</vt:lpstr>
      <vt:lpstr>mybatis高级查询</vt:lpstr>
      <vt:lpstr>mybatis高级查询</vt:lpstr>
      <vt:lpstr>PowerPoint 演示文稿</vt:lpstr>
      <vt:lpstr>mybatis注解开发【掌握】</vt:lpstr>
      <vt:lpstr>mybatis注解开发【掌握】</vt:lpstr>
      <vt:lpstr>mybatis注解开发【掌握】</vt:lpstr>
      <vt:lpstr>mybatis注解开发【掌握】</vt:lpstr>
      <vt:lpstr>mybatis注解开发【掌握】</vt:lpstr>
      <vt:lpstr>mybatis注解开发【掌握】</vt:lpstr>
      <vt:lpstr>mybatis注解开发【掌握】</vt:lpstr>
      <vt:lpstr>mybatis注解开发【掌握】</vt:lpstr>
      <vt:lpstr>mybatis注解开发【掌握】</vt:lpstr>
      <vt:lpstr>mybatis注解开发【掌握】</vt:lpstr>
      <vt:lpstr>mybatis注解开发【掌握】</vt:lpstr>
      <vt:lpstr>mybatis注解开发【掌握】</vt:lpstr>
      <vt:lpstr>mybatis注解开发【掌握】</vt:lpstr>
      <vt:lpstr>mybatis注解开发【掌握】</vt:lpstr>
      <vt:lpstr>PowerPoint 演示文稿</vt:lpstr>
      <vt:lpstr> 动态sql(了解)</vt:lpstr>
      <vt:lpstr> 动态sql(了解)</vt:lpstr>
      <vt:lpstr> 动态sql(了解)</vt:lpstr>
      <vt:lpstr> 动态sql(了解)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win7w</cp:lastModifiedBy>
  <cp:revision>923</cp:revision>
  <dcterms:created xsi:type="dcterms:W3CDTF">2020-03-31T02:23:00Z</dcterms:created>
  <dcterms:modified xsi:type="dcterms:W3CDTF">2022-09-02T14:57:51Z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